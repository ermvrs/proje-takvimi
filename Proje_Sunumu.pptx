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af42ededdd4d8d" /><Relationship Type="http://schemas.openxmlformats.org/officeDocument/2006/relationships/extended-properties" Target="/docProps/app.xml" Id="R4367a10a94fe4584" /><Relationship Type="http://schemas.openxmlformats.org/officeDocument/2006/relationships/officeDocument" Target="/ppt/presentation.xml" Id="R8aaab5fe24724ece" /></Relationships>
</file>

<file path=ppt/presentation.xml><?xml version="1.0" encoding="utf-8"?>
<p:presentation xmlns:p="http://schemas.openxmlformats.org/presentationml/2006/main">
  <p:sldMasterIdLst>
    <p:sldMasterId xmlns:r="http://schemas.openxmlformats.org/officeDocument/2006/relationships" id="2147483648" r:id="Rf6c8b66130844547"/>
  </p:sldMasterIdLst>
  <p:notesMasterIdLst>
    <p:notesMasterId xmlns:r="http://schemas.openxmlformats.org/officeDocument/2006/relationships" r:id="R2ca494e31cbe4ad1"/>
  </p:notesMasterIdLst>
  <p:sldIdLst>
    <p:sldId xmlns:r="http://schemas.openxmlformats.org/officeDocument/2006/relationships" id="256" r:id="Rb190d78f6bc340fc"/>
    <p:sldId xmlns:r="http://schemas.openxmlformats.org/officeDocument/2006/relationships" id="257" r:id="R9d1ac26d03674c2c"/>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b1f9dc539f43d0" /><Relationship Type="http://schemas.openxmlformats.org/officeDocument/2006/relationships/slideMaster" Target="/ppt/slideMasters/slideMaster1.xml" Id="Rf6c8b66130844547" /><Relationship Type="http://schemas.openxmlformats.org/officeDocument/2006/relationships/notesMaster" Target="/ppt/notesMasters/notesMaster1.xml" Id="R2ca494e31cbe4ad1" /><Relationship Type="http://schemas.openxmlformats.org/officeDocument/2006/relationships/presProps" Target="/ppt/presProps.xml" Id="Rafe7ab36f8e64813" /><Relationship Type="http://schemas.openxmlformats.org/officeDocument/2006/relationships/tableStyles" Target="/ppt/tableStyles.xml" Id="R5571d639dd7b4f0f" /><Relationship Type="http://schemas.openxmlformats.org/officeDocument/2006/relationships/slide" Target="/ppt/slides/slide1.xml" Id="Rb190d78f6bc340fc" /><Relationship Type="http://schemas.openxmlformats.org/officeDocument/2006/relationships/slide" Target="/ppt/slides/slide2.xml" Id="R9d1ac26d03674c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b6de2875134b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9caae4944745b5" /><Relationship Type="http://schemas.openxmlformats.org/officeDocument/2006/relationships/notesMaster" Target="/ppt/notesMasters/notesMaster1.xml" Id="Rd89183551e3449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b0b67ff0074335" /><Relationship Type="http://schemas.openxmlformats.org/officeDocument/2006/relationships/notesMaster" Target="/ppt/notesMasters/notesMaster1.xml" Id="Re0c0888e458943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Kurgusal örnekler, önceki proje takvimi çalışma kitabındaki sayısal özetlerden alınmıştır. Üç projenin proje yöneticisi bu sade örnekte Ayşe Yılmaz olarak birleştirilmiştir. Finans satırlarında tahmini toplam gerçek efor, gerçek alım, kalan efor ve kalan alım toplamıdır. Bütçe farkı bütçe eksi tahmini toplamdır. Birim bazındaki saatler önceki Efor kayıtlarından toplanmıştır. Kişi sayıları projelere özeldir ve projeler arasında toplanarak benzersiz kişi sayısı elde edilemez.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Yapılanlar, sıradaki işler ve üst yönetimden BEKLENTİ alanları örnek olarak yazılmıştır. Müşteri Portalı için 121 bin TL ek bütçe talebi, 120.550 TL tahmini bütçe aşımının yukarı yuvarlanmış örnek talebidir. Yönetici toplantıdan önce metinleri, karar mercilerini, tarihleri ve etkileri kendi projelerine göre düzenlemelidir. PowerPoint ve Excel arasında otomatik veri bağlantısı yoktur. Tablolar PowerPoint içinde ayrı ayrı düzenlenebilir.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2bc1b20b3743a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41fc8d38d294d9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7ba1b7189584b0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3ecb49f7176483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5cfef02b9cd498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ceb19ec63ab46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390723-6C47-4F39-A06C-3F6124FFB696}"/>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30B5272-A8AB-45BD-9B91-F8DC938A075F}"/>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BD40EC9-5815-4C8B-AE2C-571FFC6EEAF1}"/>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313941-D774-48A3-B668-938560963106}"/>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C22A7D8-9474-477B-AC40-4301870BEEA6}"/>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C87543B-A8A1-4E93-BC22-2839080E8832}"/>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472253-1B59-4991-BF66-BEDB447E3ACD}"/>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2E4E49A-88CE-435C-BFB7-C5AA91E948CB}"/>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7285FD-9236-4E9B-8FDC-FA5963FBA3FA}"/>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A8A78CC-A918-4403-8FD1-B1C21A67E9E4}"/>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3d94046bea40f0" /><Relationship Type="http://schemas.openxmlformats.org/officeDocument/2006/relationships/slideLayout" Target="/ppt/slideLayouts/slideLayout1.xml" Id="Re2f9757d460d4266" /><Relationship Type="http://schemas.openxmlformats.org/officeDocument/2006/relationships/slideLayout" Target="/ppt/slideLayouts/slideLayout2.xml" Id="Rb79e3066efe2428a" /><Relationship Type="http://schemas.openxmlformats.org/officeDocument/2006/relationships/slideLayout" Target="/ppt/slideLayouts/slideLayout3.xml" Id="Rd537f752220447c9" /><Relationship Type="http://schemas.openxmlformats.org/officeDocument/2006/relationships/slideLayout" Target="/ppt/slideLayouts/slideLayout4.xml" Id="R03e09f06215246f8" /><Relationship Type="http://schemas.openxmlformats.org/officeDocument/2006/relationships/slideLayout" Target="/ppt/slideLayouts/slideLayout5.xml" Id="Ree156eb9ab814b22" /><Relationship Type="http://schemas.openxmlformats.org/officeDocument/2006/relationships/slideLayout" Target="/ppt/slideLayouts/slideLayout6.xml" Id="Re39328faf7b64a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f9757d460d4266"/>
    <p:sldLayoutId xmlns:r="http://schemas.openxmlformats.org/officeDocument/2006/relationships" id="2147483650" r:id="Rb79e3066efe2428a"/>
    <p:sldLayoutId xmlns:r="http://schemas.openxmlformats.org/officeDocument/2006/relationships" id="2147483651" r:id="Rd537f752220447c9"/>
    <p:sldLayoutId xmlns:r="http://schemas.openxmlformats.org/officeDocument/2006/relationships" id="2147483652" r:id="R03e09f06215246f8"/>
    <p:sldLayoutId xmlns:r="http://schemas.openxmlformats.org/officeDocument/2006/relationships" id="2147483653" r:id="Ree156eb9ab814b22"/>
    <p:sldLayoutId xmlns:r="http://schemas.openxmlformats.org/officeDocument/2006/relationships" id="2147483654" r:id="Re39328faf7b64a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79fe46016064465" /><Relationship Type="http://schemas.openxmlformats.org/officeDocument/2006/relationships/notesSlide" Target="/ppt/notesSlides/notesSlide1.xml" Id="R224fd29a2b6549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72195d0fe62427c" /><Relationship Type="http://schemas.openxmlformats.org/officeDocument/2006/relationships/notesSlide" Target="/ppt/notesSlides/notesSlide2.xml" Id="R97dd50552f804c2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B6EC8DF7-083D-4AF0-A283-ED69F45C11B0}"/>
              </a:ext>
            </a:extLst>
          </p:cNvPr>
          <p:cNvSpPr>
            <a:spLocks xmlns:a="http://schemas.openxmlformats.org/drawingml/2006/main" noGrp="1"/>
          </p:cNvSpPr>
          <p:nvPr/>
        </p:nvSpPr>
        <p:spPr>
          <a:xfrm xmlns:a="http://schemas.openxmlformats.org/drawingml/2006/main">
            <a:off x="457200" y="323850"/>
            <a:ext cx="14325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225" b="1">
                <a:solidFill>
                  <a:srgbClr val="18324F"/>
                </a:solidFill>
                <a:latin typeface="Liberation Sans"/>
                <a:ea typeface="Liberation Sans"/>
                <a:cs typeface="Liberation Sans"/>
              </a:defRPr>
            </a:defPPr>
          </a:lstStyle>
          <a:p xmlns:a="http://schemas.openxmlformats.org/drawingml/2006/main">
            <a:pPr algn="l">
              <a:defRPr sz="3225" b="1">
                <a:solidFill>
                  <a:srgbClr val="18324F"/>
                </a:solidFill>
                <a:latin typeface="Liberation Sans"/>
                <a:ea typeface="Liberation Sans"/>
                <a:cs typeface="Liberation Sans"/>
              </a:defRPr>
            </a:pPr>
            <a:r>
              <a:rPr sz="3225" b="1">
                <a:solidFill>
                  <a:srgbClr val="18324F"/>
                </a:solidFill>
                <a:latin typeface="Liberation Sans"/>
                <a:ea typeface="Liberation Sans"/>
                <a:cs typeface="Liberation Sans"/>
              </a:rPr>
              <a:t>Projelerimin haftalık özeti</a:t>
            </a:r>
          </a:p>
        </p:txBody>
      </p:sp>
      <p:sp>
        <p:nvSpPr>
          <p:cNvPr id="2" name="manager-report">
            <a:extLst xmlns:a="http://schemas.openxmlformats.org/drawingml/2006/main">
              <a:ext uri="{FF2B5EF4-FFF2-40B4-BE49-F238E27FC236}">
                <a16:creationId xmlns:a16="http://schemas.microsoft.com/office/drawing/2014/main" id="{8ECC98E4-042F-4B60-ACA0-75CDF95A4D03}"/>
              </a:ext>
            </a:extLst>
          </p:cNvPr>
          <p:cNvSpPr>
            <a:spLocks xmlns:a="http://schemas.openxmlformats.org/drawingml/2006/main" noGrp="1"/>
          </p:cNvSpPr>
          <p:nvPr/>
        </p:nvSpPr>
        <p:spPr>
          <a:xfrm xmlns:a="http://schemas.openxmlformats.org/drawingml/2006/main">
            <a:off x="457200" y="952500"/>
            <a:ext cx="11430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0">
                <a:solidFill>
                  <a:srgbClr val="61758A"/>
                </a:solidFill>
                <a:latin typeface="Liberation Sans"/>
                <a:ea typeface="Liberation Sans"/>
                <a:cs typeface="Liberation Sans"/>
              </a:defRPr>
            </a:defPPr>
          </a:lstStyle>
          <a:p xmlns:a="http://schemas.openxmlformats.org/drawingml/2006/main">
            <a:pPr algn="l">
              <a:defRPr sz="1875" b="0">
                <a:solidFill>
                  <a:srgbClr val="61758A"/>
                </a:solidFill>
                <a:latin typeface="Liberation Sans"/>
                <a:ea typeface="Liberation Sans"/>
                <a:cs typeface="Liberation Sans"/>
              </a:defRPr>
            </a:pPr>
            <a:r>
              <a:rPr sz="1875" b="0">
                <a:solidFill>
                  <a:srgbClr val="61758A"/>
                </a:solidFill>
                <a:latin typeface="Liberation Sans"/>
                <a:ea typeface="Liberation Sans"/>
                <a:cs typeface="Liberation Sans"/>
              </a:rPr>
              <a:t>Ayşe Yılmaz   /   15 Ekim 2026   /   Örnek portföy</a:t>
            </a:r>
          </a:p>
        </p:txBody>
      </p:sp>
      <p:sp>
        <p:nvSpPr>
          <p:cNvPr id="3" name="page">
            <a:extLst xmlns:a="http://schemas.openxmlformats.org/drawingml/2006/main">
              <a:ext uri="{FF2B5EF4-FFF2-40B4-BE49-F238E27FC236}">
                <a16:creationId xmlns:a16="http://schemas.microsoft.com/office/drawing/2014/main" id="{4DF1B1E1-9F01-4470-AE81-2AAC9200FD64}"/>
              </a:ext>
            </a:extLst>
          </p:cNvPr>
          <p:cNvSpPr>
            <a:spLocks xmlns:a="http://schemas.openxmlformats.org/drawingml/2006/main" noGrp="1"/>
          </p:cNvSpPr>
          <p:nvPr/>
        </p:nvSpPr>
        <p:spPr>
          <a:xfrm xmlns:a="http://schemas.openxmlformats.org/drawingml/2006/main">
            <a:off x="13811250" y="952500"/>
            <a:ext cx="9715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61758A"/>
                </a:solidFill>
                <a:latin typeface="Liberation Sans"/>
                <a:ea typeface="Liberation Sans"/>
                <a:cs typeface="Liberation Sans"/>
              </a:defRPr>
            </a:defPPr>
          </a:lstStyle>
          <a:p xmlns:a="http://schemas.openxmlformats.org/drawingml/2006/main">
            <a:pPr algn="l">
              <a:defRPr sz="1725" b="0">
                <a:solidFill>
                  <a:srgbClr val="61758A"/>
                </a:solidFill>
                <a:latin typeface="Liberation Sans"/>
                <a:ea typeface="Liberation Sans"/>
                <a:cs typeface="Liberation Sans"/>
              </a:defRPr>
            </a:pPr>
            <a:r>
              <a:rPr sz="1725" b="0">
                <a:solidFill>
                  <a:srgbClr val="61758A"/>
                </a:solidFill>
                <a:latin typeface="Liberation Sans"/>
                <a:ea typeface="Liberation Sans"/>
                <a:cs typeface="Liberation Sans"/>
              </a:rPr>
              <a:t>1 / 2</a:t>
            </a:r>
          </a:p>
        </p:txBody>
      </p:sp>
      <p:sp>
        <p:nvSpPr>
          <p:cNvPr id="4" name="portfolio-summary">
            <a:extLst xmlns:a="http://schemas.openxmlformats.org/drawingml/2006/main">
              <a:ext uri="{FF2B5EF4-FFF2-40B4-BE49-F238E27FC236}">
                <a16:creationId xmlns:a16="http://schemas.microsoft.com/office/drawing/2014/main" id="{EB57EBBB-44C7-4A10-9121-25C786733D0E}"/>
              </a:ext>
            </a:extLst>
          </p:cNvPr>
          <p:cNvSpPr>
            <a:spLocks xmlns:a="http://schemas.openxmlformats.org/drawingml/2006/main" noGrp="1"/>
          </p:cNvSpPr>
          <p:nvPr/>
        </p:nvSpPr>
        <p:spPr>
          <a:xfrm xmlns:a="http://schemas.openxmlformats.org/drawingml/2006/main">
            <a:off x="457200" y="1428750"/>
            <a:ext cx="14325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2563EB"/>
                </a:solidFill>
                <a:latin typeface="Liberation Sans"/>
                <a:ea typeface="Liberation Sans"/>
                <a:cs typeface="Liberation Sans"/>
              </a:defRPr>
            </a:defPPr>
          </a:lstStyle>
          <a:p xmlns:a="http://schemas.openxmlformats.org/drawingml/2006/main">
            <a:pPr algn="l">
              <a:defRPr sz="2025" b="1">
                <a:solidFill>
                  <a:srgbClr val="2563EB"/>
                </a:solidFill>
                <a:latin typeface="Liberation Sans"/>
                <a:ea typeface="Liberation Sans"/>
                <a:cs typeface="Liberation Sans"/>
              </a:defRPr>
            </a:pPr>
            <a:r>
              <a:rPr sz="2025" b="1">
                <a:solidFill>
                  <a:srgbClr val="2563EB"/>
                </a:solidFill>
                <a:latin typeface="Liberation Sans"/>
                <a:ea typeface="Liberation Sans"/>
                <a:cs typeface="Liberation Sans"/>
              </a:rPr>
              <a:t>3 proje     2 projede takvim gecikmesi     1 projede bütçe aşımı</a:t>
            </a:r>
          </a:p>
        </p:txBody>
      </p:sp>
      <p:graphicFrame>
        <p:nvGraphicFramePr>
          <p:cNvPr id="5" name="">
            <a:extLst xmlns:a="http://schemas.openxmlformats.org/drawingml/2006/main">
              <a:ext uri="{FF2B5EF4-FFF2-40B4-BE49-F238E27FC236}">
                <a16:creationId xmlns:a16="http://schemas.microsoft.com/office/drawing/2014/main" id="{C1C52A30-9603-4391-868C-B76E8FAFBC61}"/>
              </a:ext>
            </a:extLst>
          </p:cNvPr>
          <p:cNvGraphicFramePr/>
          <p:nvPr/>
        </p:nvGraphicFramePr>
        <p:xfrm>
          <a:off xmlns:a="http://schemas.openxmlformats.org/drawingml/2006/main" x="457200" y="1866900"/>
          <a:ext xmlns:a="http://schemas.openxmlformats.org/drawingml/2006/main" cx="14325600" cy="3924300"/>
        </p:xfrm>
        <a:graphic xmlns:a="http://schemas.openxmlformats.org/drawingml/2006/main">
          <a:graphicData uri="http://schemas.openxmlformats.org/drawingml/2006/table">
            <a:tbl>
              <a:tblPr firstRow="0" bandRow="0"/>
              <a:tblGrid>
                <a:gridCol w="2667000"/>
                <a:gridCol w="1809750"/>
                <a:gridCol w="2190750"/>
                <a:gridCol w="1714500"/>
                <a:gridCol w="3714750"/>
                <a:gridCol w="2228850"/>
              </a:tblGrid>
              <a:tr h="609600">
                <a:tc>
                  <a:txBody>
                    <a:bodyPr wrap="square" anchor="ctr">
                      <a:noAutofit/>
                    </a:bodyPr>
                    <a:lstStyle/>
                    <a:p>
                      <a:pPr algn="l"/>
                      <a:r>
                        <a:rPr sz="1650" b="1">
                          <a:solidFill>
                            <a:srgbClr val="FFFFFF"/>
                          </a:solidFill>
                          <a:latin typeface="Liberation Sans"/>
                          <a:ea typeface="Liberation Sans"/>
                          <a:cs typeface="Liberation Sans"/>
                        </a:rPr>
                        <a:t>Proje / aşama</a:t>
                      </a:r>
                    </a:p>
                  </a:txBody>
                  <a:tcPr marL="133350" marR="114300" marT="57150" marB="57150" anchor="ctr">
                    <a:solidFill>
                      <a:srgbClr val="18324F"/>
                    </a:solidFill>
                  </a:tcPr>
                </a:tc>
                <a:tc>
                  <a:txBody>
                    <a:bodyPr wrap="square" anchor="ctr">
                      <a:noAutofit/>
                    </a:bodyPr>
                    <a:lstStyle/>
                    <a:p>
                      <a:pPr algn="l"/>
                      <a:r>
                        <a:rPr sz="1650" b="1">
                          <a:solidFill>
                            <a:srgbClr val="FFFFFF"/>
                          </a:solidFill>
                          <a:latin typeface="Liberation Sans"/>
                          <a:ea typeface="Liberation Sans"/>
                          <a:cs typeface="Liberation Sans"/>
                        </a:rPr>
                        <a:t>İlerleme</a:t>
                      </a:r>
                    </a:p>
                    <a:p>
                      <a:pPr algn="l"/>
                      <a:r>
                        <a:rPr sz="1650" b="1">
                          <a:solidFill>
                            <a:srgbClr val="FFFFFF"/>
                          </a:solidFill>
                          <a:latin typeface="Liberation Sans"/>
                          <a:ea typeface="Liberation Sans"/>
                          <a:cs typeface="Liberation Sans"/>
                        </a:rPr>
                        <a:t>gerçek / plan</a:t>
                      </a:r>
                    </a:p>
                  </a:txBody>
                  <a:tcPr marL="133350" marR="114300" marT="57150" marB="57150" anchor="ctr">
                    <a:solidFill>
                      <a:srgbClr val="18324F"/>
                    </a:solidFill>
                  </a:tcPr>
                </a:tc>
                <a:tc>
                  <a:txBody>
                    <a:bodyPr wrap="square" anchor="ctr">
                      <a:noAutofit/>
                    </a:bodyPr>
                    <a:lstStyle/>
                    <a:p>
                      <a:pPr algn="l"/>
                      <a:r>
                        <a:rPr sz="1650" b="1">
                          <a:solidFill>
                            <a:srgbClr val="FFFFFF"/>
                          </a:solidFill>
                          <a:latin typeface="Liberation Sans"/>
                          <a:ea typeface="Liberation Sans"/>
                          <a:cs typeface="Liberation Sans"/>
                        </a:rPr>
                        <a:t>Takvim</a:t>
                      </a:r>
                    </a:p>
                    <a:p>
                      <a:pPr algn="l"/>
                      <a:r>
                        <a:rPr sz="1650" b="1">
                          <a:solidFill>
                            <a:srgbClr val="FFFFFF"/>
                          </a:solidFill>
                          <a:latin typeface="Liberation Sans"/>
                          <a:ea typeface="Liberation Sans"/>
                          <a:cs typeface="Liberation Sans"/>
                        </a:rPr>
                        <a:t>plan / güncel</a:t>
                      </a:r>
                    </a:p>
                  </a:txBody>
                  <a:tcPr marL="133350" marR="114300" marT="57150" marB="57150" anchor="ctr">
                    <a:solidFill>
                      <a:srgbClr val="18324F"/>
                    </a:solidFill>
                  </a:tcPr>
                </a:tc>
                <a:tc>
                  <a:txBody>
                    <a:bodyPr wrap="square" anchor="ctr">
                      <a:noAutofit/>
                    </a:bodyPr>
                    <a:lstStyle/>
                    <a:p>
                      <a:pPr algn="l"/>
                      <a:r>
                        <a:rPr sz="1650" b="1">
                          <a:solidFill>
                            <a:srgbClr val="FFFFFF"/>
                          </a:solidFill>
                          <a:latin typeface="Liberation Sans"/>
                          <a:ea typeface="Liberation Sans"/>
                          <a:cs typeface="Liberation Sans"/>
                        </a:rPr>
                        <a:t>Efor</a:t>
                      </a:r>
                    </a:p>
                    <a:p>
                      <a:pPr algn="l"/>
                      <a:r>
                        <a:rPr sz="1650" b="1">
                          <a:solidFill>
                            <a:srgbClr val="FFFFFF"/>
                          </a:solidFill>
                          <a:latin typeface="Liberation Sans"/>
                          <a:ea typeface="Liberation Sans"/>
                          <a:cs typeface="Liberation Sans"/>
                        </a:rPr>
                        <a:t>kişi / saat</a:t>
                      </a:r>
                    </a:p>
                  </a:txBody>
                  <a:tcPr marL="133350" marR="114300" marT="57150" marB="57150" anchor="ctr">
                    <a:solidFill>
                      <a:srgbClr val="18324F"/>
                    </a:solidFill>
                  </a:tcPr>
                </a:tc>
                <a:tc>
                  <a:txBody>
                    <a:bodyPr wrap="square" anchor="ctr">
                      <a:noAutofit/>
                    </a:bodyPr>
                    <a:lstStyle/>
                    <a:p>
                      <a:pPr algn="l"/>
                      <a:r>
                        <a:rPr sz="1650" b="1">
                          <a:solidFill>
                            <a:srgbClr val="FFFFFF"/>
                          </a:solidFill>
                          <a:latin typeface="Liberation Sans"/>
                          <a:ea typeface="Liberation Sans"/>
                          <a:cs typeface="Liberation Sans"/>
                        </a:rPr>
                        <a:t>Birimlere göre efor</a:t>
                      </a:r>
                    </a:p>
                    <a:p>
                      <a:pPr algn="l"/>
                      <a:r>
                        <a:rPr sz="1650" b="1">
                          <a:solidFill>
                            <a:srgbClr val="FFFFFF"/>
                          </a:solidFill>
                          <a:latin typeface="Liberation Sans"/>
                          <a:ea typeface="Liberation Sans"/>
                          <a:cs typeface="Liberation Sans"/>
                        </a:rPr>
                        <a:t>(saat)</a:t>
                      </a:r>
                    </a:p>
                  </a:txBody>
                  <a:tcPr marL="133350" marR="114300" marT="57150" marB="57150" anchor="ctr">
                    <a:solidFill>
                      <a:srgbClr val="18324F"/>
                    </a:solidFill>
                  </a:tcPr>
                </a:tc>
                <a:tc>
                  <a:txBody>
                    <a:bodyPr wrap="square" anchor="ctr">
                      <a:noAutofit/>
                    </a:bodyPr>
                    <a:lstStyle/>
                    <a:p>
                      <a:pPr algn="l"/>
                      <a:r>
                        <a:rPr sz="1650" b="1">
                          <a:solidFill>
                            <a:srgbClr val="FFFFFF"/>
                          </a:solidFill>
                          <a:latin typeface="Liberation Sans"/>
                          <a:ea typeface="Liberation Sans"/>
                          <a:cs typeface="Liberation Sans"/>
                        </a:rPr>
                        <a:t>Risk</a:t>
                      </a:r>
                    </a:p>
                  </a:txBody>
                  <a:tcPr marL="133350" marR="114300" marT="57150" marB="57150" anchor="ctr">
                    <a:solidFill>
                      <a:srgbClr val="18324F"/>
                    </a:solidFill>
                  </a:tcPr>
                </a:tc>
              </a:tr>
              <a:tr h="1104900">
                <a:tc>
                  <a:txBody>
                    <a:bodyPr wrap="square" anchor="ctr">
                      <a:noAutofit/>
                    </a:bodyPr>
                    <a:lstStyle/>
                    <a:p>
                      <a:pPr algn="l"/>
                      <a:r>
                        <a:rPr sz="1875" b="1">
                          <a:solidFill>
                            <a:srgbClr val="26394D"/>
                          </a:solidFill>
                          <a:latin typeface="Liberation Sans"/>
                          <a:ea typeface="Liberation Sans"/>
                          <a:cs typeface="Liberation Sans"/>
                        </a:rPr>
                        <a:t>Üretim Hattı</a:t>
                      </a:r>
                    </a:p>
                    <a:p>
                      <a:pPr algn="l"/>
                      <a:r>
                        <a:rPr sz="1875" b="1">
                          <a:solidFill>
                            <a:srgbClr val="26394D"/>
                          </a:solidFill>
                          <a:latin typeface="Liberation Sans"/>
                          <a:ea typeface="Liberation Sans"/>
                          <a:cs typeface="Liberation Sans"/>
                        </a:rPr>
                        <a:t>Tedarik / saha</a:t>
                      </a:r>
                    </a:p>
                  </a:txBody>
                  <a:tcPr marL="133350" marR="114300" marT="95250" marB="95250" anchor="ctr">
                    <a:solidFill>
                      <a:srgbClr val="FFFFFF"/>
                    </a:solidFill>
                  </a:tcPr>
                </a:tc>
                <a:tc>
                  <a:txBody>
                    <a:bodyPr wrap="square" anchor="ctr">
                      <a:noAutofit/>
                    </a:bodyPr>
                    <a:lstStyle/>
                    <a:p>
                      <a:pPr algn="l"/>
                      <a:r>
                        <a:rPr sz="1875" b="0">
                          <a:solidFill>
                            <a:srgbClr val="26394D"/>
                          </a:solidFill>
                          <a:latin typeface="Liberation Sans"/>
                          <a:ea typeface="Liberation Sans"/>
                          <a:cs typeface="Liberation Sans"/>
                        </a:rPr>
                        <a:t>50,5%</a:t>
                      </a:r>
                    </a:p>
                    <a:p>
                      <a:pPr algn="l"/>
                      <a:r>
                        <a:rPr sz="1875" b="0">
                          <a:solidFill>
                            <a:srgbClr val="26394D"/>
                          </a:solidFill>
                          <a:latin typeface="Liberation Sans"/>
                          <a:ea typeface="Liberation Sans"/>
                          <a:cs typeface="Liberation Sans"/>
                        </a:rPr>
                        <a:t>Plan 57,6%</a:t>
                      </a:r>
                    </a:p>
                  </a:txBody>
                  <a:tcPr marL="133350" marR="114300" marT="95250" marB="95250" anchor="ctr">
                    <a:solidFill>
                      <a:srgbClr val="FFFFFF"/>
                    </a:solidFill>
                  </a:tcPr>
                </a:tc>
                <a:tc>
                  <a:txBody>
                    <a:bodyPr wrap="square" anchor="ctr">
                      <a:noAutofit/>
                    </a:bodyPr>
                    <a:lstStyle/>
                    <a:p>
                      <a:pPr algn="l"/>
                      <a:r>
                        <a:rPr sz="1875" b="0">
                          <a:solidFill>
                            <a:srgbClr val="26394D"/>
                          </a:solidFill>
                          <a:latin typeface="Liberation Sans"/>
                          <a:ea typeface="Liberation Sans"/>
                          <a:cs typeface="Liberation Sans"/>
                        </a:rPr>
                        <a:t>Plan 04.12</a:t>
                      </a:r>
                    </a:p>
                    <a:p>
                      <a:pPr algn="l"/>
                      <a:r>
                        <a:rPr sz="1875" b="0">
                          <a:solidFill>
                            <a:srgbClr val="26394D"/>
                          </a:solidFill>
                          <a:latin typeface="Liberation Sans"/>
                          <a:ea typeface="Liberation Sans"/>
                          <a:cs typeface="Liberation Sans"/>
                        </a:rPr>
                        <a:t>Güncel 11.12</a:t>
                      </a:r>
                    </a:p>
                    <a:p>
                      <a:pPr algn="l"/>
                      <a:r>
                        <a:rPr sz="1875" b="0">
                          <a:solidFill>
                            <a:srgbClr val="26394D"/>
                          </a:solidFill>
                          <a:latin typeface="Liberation Sans"/>
                          <a:ea typeface="Liberation Sans"/>
                          <a:cs typeface="Liberation Sans"/>
                        </a:rPr>
                        <a:t>+7 gün</a:t>
                      </a:r>
                    </a:p>
                  </a:txBody>
                  <a:tcPr marL="133350" marR="114300" marT="95250" marB="95250" anchor="ctr">
                    <a:solidFill>
                      <a:srgbClr val="FFFFFF"/>
                    </a:solidFill>
                  </a:tcPr>
                </a:tc>
                <a:tc>
                  <a:txBody>
                    <a:bodyPr wrap="square" anchor="ctr">
                      <a:noAutofit/>
                    </a:bodyPr>
                    <a:lstStyle/>
                    <a:p>
                      <a:pPr algn="l"/>
                      <a:r>
                        <a:rPr sz="1875" b="0">
                          <a:solidFill>
                            <a:srgbClr val="26394D"/>
                          </a:solidFill>
                          <a:latin typeface="Liberation Sans"/>
                          <a:ea typeface="Liberation Sans"/>
                          <a:cs typeface="Liberation Sans"/>
                        </a:rPr>
                        <a:t>5 kişi</a:t>
                      </a:r>
                    </a:p>
                    <a:p>
                      <a:pPr algn="l"/>
                      <a:r>
                        <a:rPr sz="1875" b="0">
                          <a:solidFill>
                            <a:srgbClr val="26394D"/>
                          </a:solidFill>
                          <a:latin typeface="Liberation Sans"/>
                          <a:ea typeface="Liberation Sans"/>
                          <a:cs typeface="Liberation Sans"/>
                        </a:rPr>
                        <a:t>648 saat</a:t>
                      </a:r>
                    </a:p>
                  </a:txBody>
                  <a:tcPr marL="133350" marR="114300" marT="95250" marB="95250" anchor="ctr">
                    <a:solidFill>
                      <a:srgbClr val="FFFFFF"/>
                    </a:solidFill>
                  </a:tcPr>
                </a:tc>
                <a:tc>
                  <a:txBody>
                    <a:bodyPr wrap="square" anchor="ctr">
                      <a:noAutofit/>
                    </a:bodyPr>
                    <a:lstStyle/>
                    <a:p>
                      <a:pPr algn="l"/>
                      <a:r>
                        <a:rPr sz="1875" b="0">
                          <a:solidFill>
                            <a:srgbClr val="26394D"/>
                          </a:solidFill>
                          <a:latin typeface="Liberation Sans"/>
                          <a:ea typeface="Liberation Sans"/>
                          <a:cs typeface="Liberation Sans"/>
                        </a:rPr>
                        <a:t>Müh. 110 / Ürt. 127</a:t>
                      </a:r>
                    </a:p>
                    <a:p>
                      <a:pPr algn="l"/>
                      <a:r>
                        <a:rPr sz="1875" b="0">
                          <a:solidFill>
                            <a:srgbClr val="26394D"/>
                          </a:solidFill>
                          <a:latin typeface="Liberation Sans"/>
                          <a:ea typeface="Liberation Sans"/>
                          <a:cs typeface="Liberation Sans"/>
                        </a:rPr>
                        <a:t>SA 144 / Klt. 155</a:t>
                      </a:r>
                    </a:p>
                    <a:p>
                      <a:pPr algn="l"/>
                      <a:r>
                        <a:rPr sz="1875" b="0">
                          <a:solidFill>
                            <a:srgbClr val="26394D"/>
                          </a:solidFill>
                          <a:latin typeface="Liberation Sans"/>
                          <a:ea typeface="Liberation Sans"/>
                          <a:cs typeface="Liberation Sans"/>
                        </a:rPr>
                        <a:t>PY 112</a:t>
                      </a:r>
                    </a:p>
                  </a:txBody>
                  <a:tcPr marL="133350" marR="114300" marT="95250" marB="95250" anchor="ctr">
                    <a:solidFill>
                      <a:srgbClr val="FFFFFF"/>
                    </a:solidFill>
                  </a:tcPr>
                </a:tc>
                <a:tc>
                  <a:txBody>
                    <a:bodyPr wrap="square" anchor="ctr">
                      <a:noAutofit/>
                    </a:bodyPr>
                    <a:lstStyle/>
                    <a:p>
                      <a:pPr algn="l"/>
                      <a:r>
                        <a:rPr sz="1950" b="1">
                          <a:solidFill>
                            <a:srgbClr val="C23C4B"/>
                          </a:solidFill>
                          <a:latin typeface="Liberation Sans"/>
                          <a:ea typeface="Liberation Sans"/>
                          <a:cs typeface="Liberation Sans"/>
                        </a:rPr>
                        <a:t>Yüksek</a:t>
                      </a:r>
                    </a:p>
                  </a:txBody>
                  <a:tcPr marL="133350" marR="114300" marT="95250" marB="95250" anchor="ctr">
                    <a:solidFill>
                      <a:srgbClr val="FCE8EC"/>
                    </a:solidFill>
                  </a:tcPr>
                </a:tc>
              </a:tr>
              <a:tr h="1104900">
                <a:tc>
                  <a:txBody>
                    <a:bodyPr wrap="square" anchor="ctr">
                      <a:noAutofit/>
                    </a:bodyPr>
                    <a:lstStyle/>
                    <a:p>
                      <a:pPr algn="l"/>
                      <a:r>
                        <a:rPr sz="1875" b="1">
                          <a:solidFill>
                            <a:srgbClr val="26394D"/>
                          </a:solidFill>
                          <a:latin typeface="Liberation Sans"/>
                          <a:ea typeface="Liberation Sans"/>
                          <a:cs typeface="Liberation Sans"/>
                        </a:rPr>
                        <a:t>Müşteri Portalı</a:t>
                      </a:r>
                    </a:p>
                    <a:p>
                      <a:pPr algn="l"/>
                      <a:r>
                        <a:rPr sz="1875" b="1">
                          <a:solidFill>
                            <a:srgbClr val="26394D"/>
                          </a:solidFill>
                          <a:latin typeface="Liberation Sans"/>
                          <a:ea typeface="Liberation Sans"/>
                          <a:cs typeface="Liberation Sans"/>
                        </a:rPr>
                        <a:t>Geliştirme</a:t>
                      </a:r>
                    </a:p>
                  </a:txBody>
                  <a:tcPr marL="133350" marR="114300" marT="95250" marB="95250" anchor="ctr">
                    <a:solidFill>
                      <a:srgbClr val="F2F6FB"/>
                    </a:solidFill>
                  </a:tcPr>
                </a:tc>
                <a:tc>
                  <a:txBody>
                    <a:bodyPr wrap="square" anchor="ctr">
                      <a:noAutofit/>
                    </a:bodyPr>
                    <a:lstStyle/>
                    <a:p>
                      <a:pPr algn="l"/>
                      <a:r>
                        <a:rPr sz="1875" b="0">
                          <a:solidFill>
                            <a:srgbClr val="26394D"/>
                          </a:solidFill>
                          <a:latin typeface="Liberation Sans"/>
                          <a:ea typeface="Liberation Sans"/>
                          <a:cs typeface="Liberation Sans"/>
                        </a:rPr>
                        <a:t>47,5%</a:t>
                      </a:r>
                    </a:p>
                    <a:p>
                      <a:pPr algn="l"/>
                      <a:r>
                        <a:rPr sz="1875" b="0">
                          <a:solidFill>
                            <a:srgbClr val="26394D"/>
                          </a:solidFill>
                          <a:latin typeface="Liberation Sans"/>
                          <a:ea typeface="Liberation Sans"/>
                          <a:cs typeface="Liberation Sans"/>
                        </a:rPr>
                        <a:t>Plan 44,8%</a:t>
                      </a:r>
                    </a:p>
                  </a:txBody>
                  <a:tcPr marL="133350" marR="114300" marT="95250" marB="95250" anchor="ctr">
                    <a:solidFill>
                      <a:srgbClr val="F2F6FB"/>
                    </a:solidFill>
                  </a:tcPr>
                </a:tc>
                <a:tc>
                  <a:txBody>
                    <a:bodyPr wrap="square" anchor="ctr">
                      <a:noAutofit/>
                    </a:bodyPr>
                    <a:lstStyle/>
                    <a:p>
                      <a:pPr algn="l"/>
                      <a:r>
                        <a:rPr sz="1875" b="0">
                          <a:solidFill>
                            <a:srgbClr val="26394D"/>
                          </a:solidFill>
                          <a:latin typeface="Liberation Sans"/>
                          <a:ea typeface="Liberation Sans"/>
                          <a:cs typeface="Liberation Sans"/>
                        </a:rPr>
                        <a:t>Plan 27.11</a:t>
                      </a:r>
                    </a:p>
                    <a:p>
                      <a:pPr algn="l"/>
                      <a:r>
                        <a:rPr sz="1875" b="0">
                          <a:solidFill>
                            <a:srgbClr val="26394D"/>
                          </a:solidFill>
                          <a:latin typeface="Liberation Sans"/>
                          <a:ea typeface="Liberation Sans"/>
                          <a:cs typeface="Liberation Sans"/>
                        </a:rPr>
                        <a:t>Güncel 27.11</a:t>
                      </a:r>
                    </a:p>
                    <a:p>
                      <a:pPr algn="l"/>
                      <a:r>
                        <a:rPr sz="1875" b="0">
                          <a:solidFill>
                            <a:srgbClr val="26394D"/>
                          </a:solidFill>
                          <a:latin typeface="Liberation Sans"/>
                          <a:ea typeface="Liberation Sans"/>
                          <a:cs typeface="Liberation Sans"/>
                        </a:rPr>
                        <a:t>Planında</a:t>
                      </a:r>
                    </a:p>
                  </a:txBody>
                  <a:tcPr marL="133350" marR="114300" marT="95250" marB="95250" anchor="ctr">
                    <a:solidFill>
                      <a:srgbClr val="F2F6FB"/>
                    </a:solidFill>
                  </a:tcPr>
                </a:tc>
                <a:tc>
                  <a:txBody>
                    <a:bodyPr wrap="square" anchor="ctr">
                      <a:noAutofit/>
                    </a:bodyPr>
                    <a:lstStyle/>
                    <a:p>
                      <a:pPr algn="l"/>
                      <a:r>
                        <a:rPr sz="1875" b="0">
                          <a:solidFill>
                            <a:srgbClr val="26394D"/>
                          </a:solidFill>
                          <a:latin typeface="Liberation Sans"/>
                          <a:ea typeface="Liberation Sans"/>
                          <a:cs typeface="Liberation Sans"/>
                        </a:rPr>
                        <a:t>4 kişi</a:t>
                      </a:r>
                    </a:p>
                    <a:p>
                      <a:pPr algn="l"/>
                      <a:r>
                        <a:rPr sz="1875" b="0">
                          <a:solidFill>
                            <a:srgbClr val="26394D"/>
                          </a:solidFill>
                          <a:latin typeface="Liberation Sans"/>
                          <a:ea typeface="Liberation Sans"/>
                          <a:cs typeface="Liberation Sans"/>
                        </a:rPr>
                        <a:t>536 saat</a:t>
                      </a:r>
                    </a:p>
                  </a:txBody>
                  <a:tcPr marL="133350" marR="114300" marT="95250" marB="95250" anchor="ctr">
                    <a:solidFill>
                      <a:srgbClr val="F2F6FB"/>
                    </a:solidFill>
                  </a:tcPr>
                </a:tc>
                <a:tc>
                  <a:txBody>
                    <a:bodyPr wrap="square" anchor="ctr">
                      <a:noAutofit/>
                    </a:bodyPr>
                    <a:lstStyle/>
                    <a:p>
                      <a:pPr algn="l"/>
                      <a:r>
                        <a:rPr sz="1875" b="0">
                          <a:solidFill>
                            <a:srgbClr val="26394D"/>
                          </a:solidFill>
                          <a:latin typeface="Liberation Sans"/>
                          <a:ea typeface="Liberation Sans"/>
                          <a:cs typeface="Liberation Sans"/>
                        </a:rPr>
                        <a:t>BT 269 / Klt. 155</a:t>
                      </a:r>
                    </a:p>
                    <a:p>
                      <a:pPr algn="l"/>
                      <a:r>
                        <a:rPr sz="1875" b="0">
                          <a:solidFill>
                            <a:srgbClr val="26394D"/>
                          </a:solidFill>
                          <a:latin typeface="Liberation Sans"/>
                          <a:ea typeface="Liberation Sans"/>
                          <a:cs typeface="Liberation Sans"/>
                        </a:rPr>
                        <a:t>PY 112</a:t>
                      </a:r>
                    </a:p>
                  </a:txBody>
                  <a:tcPr marL="133350" marR="114300" marT="95250" marB="95250" anchor="ctr">
                    <a:solidFill>
                      <a:srgbClr val="F2F6FB"/>
                    </a:solidFill>
                  </a:tcPr>
                </a:tc>
                <a:tc>
                  <a:txBody>
                    <a:bodyPr wrap="square" anchor="ctr">
                      <a:noAutofit/>
                    </a:bodyPr>
                    <a:lstStyle/>
                    <a:p>
                      <a:pPr algn="l"/>
                      <a:r>
                        <a:rPr sz="1950" b="1">
                          <a:solidFill>
                            <a:srgbClr val="D97706"/>
                          </a:solidFill>
                          <a:latin typeface="Liberation Sans"/>
                          <a:ea typeface="Liberation Sans"/>
                          <a:cs typeface="Liberation Sans"/>
                        </a:rPr>
                        <a:t>Orta</a:t>
                      </a:r>
                    </a:p>
                  </a:txBody>
                  <a:tcPr marL="133350" marR="114300" marT="95250" marB="95250" anchor="ctr">
                    <a:solidFill>
                      <a:srgbClr val="FFF0CD"/>
                    </a:solidFill>
                  </a:tcPr>
                </a:tc>
              </a:tr>
              <a:tr h="1104900">
                <a:tc>
                  <a:txBody>
                    <a:bodyPr wrap="square" anchor="ctr">
                      <a:noAutofit/>
                    </a:bodyPr>
                    <a:lstStyle/>
                    <a:p>
                      <a:pPr algn="l"/>
                      <a:r>
                        <a:rPr sz="1875" b="1">
                          <a:solidFill>
                            <a:srgbClr val="26394D"/>
                          </a:solidFill>
                          <a:latin typeface="Liberation Sans"/>
                          <a:ea typeface="Liberation Sans"/>
                          <a:cs typeface="Liberation Sans"/>
                        </a:rPr>
                        <a:t>Depo Otomasyonu</a:t>
                      </a:r>
                    </a:p>
                    <a:p>
                      <a:pPr algn="l"/>
                      <a:r>
                        <a:rPr sz="1875" b="1">
                          <a:solidFill>
                            <a:srgbClr val="26394D"/>
                          </a:solidFill>
                          <a:latin typeface="Liberation Sans"/>
                          <a:ea typeface="Liberation Sans"/>
                          <a:cs typeface="Liberation Sans"/>
                        </a:rPr>
                        <a:t>Donanım / yazılım</a:t>
                      </a:r>
                    </a:p>
                  </a:txBody>
                  <a:tcPr marL="133350" marR="114300" marT="95250" marB="95250" anchor="ctr">
                    <a:solidFill>
                      <a:srgbClr val="FFFFFF"/>
                    </a:solidFill>
                  </a:tcPr>
                </a:tc>
                <a:tc>
                  <a:txBody>
                    <a:bodyPr wrap="square" anchor="ctr">
                      <a:noAutofit/>
                    </a:bodyPr>
                    <a:lstStyle/>
                    <a:p>
                      <a:pPr algn="l"/>
                      <a:r>
                        <a:rPr sz="1875" b="0">
                          <a:solidFill>
                            <a:srgbClr val="26394D"/>
                          </a:solidFill>
                          <a:latin typeface="Liberation Sans"/>
                          <a:ea typeface="Liberation Sans"/>
                          <a:cs typeface="Liberation Sans"/>
                        </a:rPr>
                        <a:t>52,0%</a:t>
                      </a:r>
                    </a:p>
                    <a:p>
                      <a:pPr algn="l"/>
                      <a:r>
                        <a:rPr sz="1875" b="0">
                          <a:solidFill>
                            <a:srgbClr val="26394D"/>
                          </a:solidFill>
                          <a:latin typeface="Liberation Sans"/>
                          <a:ea typeface="Liberation Sans"/>
                          <a:cs typeface="Liberation Sans"/>
                        </a:rPr>
                        <a:t>Plan 63,8%</a:t>
                      </a:r>
                    </a:p>
                  </a:txBody>
                  <a:tcPr marL="133350" marR="114300" marT="95250" marB="95250" anchor="ctr">
                    <a:solidFill>
                      <a:srgbClr val="FFFFFF"/>
                    </a:solidFill>
                  </a:tcPr>
                </a:tc>
                <a:tc>
                  <a:txBody>
                    <a:bodyPr wrap="square" anchor="ctr">
                      <a:noAutofit/>
                    </a:bodyPr>
                    <a:lstStyle/>
                    <a:p>
                      <a:pPr algn="l"/>
                      <a:r>
                        <a:rPr sz="1875" b="0">
                          <a:solidFill>
                            <a:srgbClr val="26394D"/>
                          </a:solidFill>
                          <a:latin typeface="Liberation Sans"/>
                          <a:ea typeface="Liberation Sans"/>
                          <a:cs typeface="Liberation Sans"/>
                        </a:rPr>
                        <a:t>Plan 20.11</a:t>
                      </a:r>
                    </a:p>
                    <a:p>
                      <a:pPr algn="l"/>
                      <a:r>
                        <a:rPr sz="1875" b="0">
                          <a:solidFill>
                            <a:srgbClr val="26394D"/>
                          </a:solidFill>
                          <a:latin typeface="Liberation Sans"/>
                          <a:ea typeface="Liberation Sans"/>
                          <a:cs typeface="Liberation Sans"/>
                        </a:rPr>
                        <a:t>Güncel 04.12</a:t>
                      </a:r>
                    </a:p>
                    <a:p>
                      <a:pPr algn="l"/>
                      <a:r>
                        <a:rPr sz="1875" b="0">
                          <a:solidFill>
                            <a:srgbClr val="26394D"/>
                          </a:solidFill>
                          <a:latin typeface="Liberation Sans"/>
                          <a:ea typeface="Liberation Sans"/>
                          <a:cs typeface="Liberation Sans"/>
                        </a:rPr>
                        <a:t>+14 gün</a:t>
                      </a:r>
                    </a:p>
                  </a:txBody>
                  <a:tcPr marL="133350" marR="114300" marT="95250" marB="95250" anchor="ctr">
                    <a:solidFill>
                      <a:srgbClr val="FFFFFF"/>
                    </a:solidFill>
                  </a:tcPr>
                </a:tc>
                <a:tc>
                  <a:txBody>
                    <a:bodyPr wrap="square" anchor="ctr">
                      <a:noAutofit/>
                    </a:bodyPr>
                    <a:lstStyle/>
                    <a:p>
                      <a:pPr algn="l"/>
                      <a:r>
                        <a:rPr sz="1875" b="0">
                          <a:solidFill>
                            <a:srgbClr val="26394D"/>
                          </a:solidFill>
                          <a:latin typeface="Liberation Sans"/>
                          <a:ea typeface="Liberation Sans"/>
                          <a:cs typeface="Liberation Sans"/>
                        </a:rPr>
                        <a:t>6 kişi</a:t>
                      </a:r>
                    </a:p>
                    <a:p>
                      <a:pPr algn="l"/>
                      <a:r>
                        <a:rPr sz="1875" b="0">
                          <a:solidFill>
                            <a:srgbClr val="26394D"/>
                          </a:solidFill>
                          <a:latin typeface="Liberation Sans"/>
                          <a:ea typeface="Liberation Sans"/>
                          <a:cs typeface="Liberation Sans"/>
                        </a:rPr>
                        <a:t>811 saat</a:t>
                      </a:r>
                    </a:p>
                  </a:txBody>
                  <a:tcPr marL="133350" marR="114300" marT="95250" marB="95250" anchor="ctr">
                    <a:solidFill>
                      <a:srgbClr val="FFFFFF"/>
                    </a:solidFill>
                  </a:tcPr>
                </a:tc>
                <a:tc>
                  <a:txBody>
                    <a:bodyPr wrap="square" anchor="ctr">
                      <a:noAutofit/>
                    </a:bodyPr>
                    <a:lstStyle/>
                    <a:p>
                      <a:pPr algn="l"/>
                      <a:r>
                        <a:rPr sz="1875" b="0">
                          <a:solidFill>
                            <a:srgbClr val="26394D"/>
                          </a:solidFill>
                          <a:latin typeface="Liberation Sans"/>
                          <a:ea typeface="Liberation Sans"/>
                          <a:cs typeface="Liberation Sans"/>
                        </a:rPr>
                        <a:t>Müh. 157 / Ürt. 114</a:t>
                      </a:r>
                    </a:p>
                    <a:p>
                      <a:pPr algn="l"/>
                      <a:r>
                        <a:rPr sz="1875" b="0">
                          <a:solidFill>
                            <a:srgbClr val="26394D"/>
                          </a:solidFill>
                          <a:latin typeface="Liberation Sans"/>
                          <a:ea typeface="Liberation Sans"/>
                          <a:cs typeface="Liberation Sans"/>
                        </a:rPr>
                        <a:t>SA 144 / Klt. 155</a:t>
                      </a:r>
                    </a:p>
                    <a:p>
                      <a:pPr algn="l"/>
                      <a:r>
                        <a:rPr sz="1875" b="0">
                          <a:solidFill>
                            <a:srgbClr val="26394D"/>
                          </a:solidFill>
                          <a:latin typeface="Liberation Sans"/>
                          <a:ea typeface="Liberation Sans"/>
                          <a:cs typeface="Liberation Sans"/>
                        </a:rPr>
                        <a:t>PY 112 / BT 129</a:t>
                      </a:r>
                    </a:p>
                  </a:txBody>
                  <a:tcPr marL="133350" marR="114300" marT="95250" marB="95250" anchor="ctr">
                    <a:solidFill>
                      <a:srgbClr val="FFFFFF"/>
                    </a:solidFill>
                  </a:tcPr>
                </a:tc>
                <a:tc>
                  <a:txBody>
                    <a:bodyPr wrap="square" anchor="ctr">
                      <a:noAutofit/>
                    </a:bodyPr>
                    <a:lstStyle/>
                    <a:p>
                      <a:pPr algn="l"/>
                      <a:r>
                        <a:rPr sz="1950" b="1">
                          <a:solidFill>
                            <a:srgbClr val="C23C4B"/>
                          </a:solidFill>
                          <a:latin typeface="Liberation Sans"/>
                          <a:ea typeface="Liberation Sans"/>
                          <a:cs typeface="Liberation Sans"/>
                        </a:rPr>
                        <a:t>Yüksek</a:t>
                      </a:r>
                    </a:p>
                  </a:txBody>
                  <a:tcPr marL="133350" marR="114300" marT="95250" marB="95250" anchor="ctr">
                    <a:solidFill>
                      <a:srgbClr val="FCE8EC"/>
                    </a:solidFill>
                  </a:tcPr>
                </a:tc>
              </a:tr>
            </a:tbl>
          </a:graphicData>
        </a:graphic>
      </p:graphicFrame>
      <p:sp>
        <p:nvSpPr>
          <p:cNvPr id="6" name="finance-heading">
            <a:extLst xmlns:a="http://schemas.openxmlformats.org/drawingml/2006/main">
              <a:ext uri="{FF2B5EF4-FFF2-40B4-BE49-F238E27FC236}">
                <a16:creationId xmlns:a16="http://schemas.microsoft.com/office/drawing/2014/main" id="{0DEFC2CB-DCBF-4924-897C-121E83990E34}"/>
              </a:ext>
            </a:extLst>
          </p:cNvPr>
          <p:cNvSpPr>
            <a:spLocks xmlns:a="http://schemas.openxmlformats.org/drawingml/2006/main" noGrp="1"/>
          </p:cNvSpPr>
          <p:nvPr/>
        </p:nvSpPr>
        <p:spPr>
          <a:xfrm xmlns:a="http://schemas.openxmlformats.org/drawingml/2006/main">
            <a:off x="457200" y="5905500"/>
            <a:ext cx="14325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0D9488"/>
                </a:solidFill>
                <a:latin typeface="Liberation Sans"/>
                <a:ea typeface="Liberation Sans"/>
                <a:cs typeface="Liberation Sans"/>
              </a:defRPr>
            </a:defPPr>
          </a:lstStyle>
          <a:p xmlns:a="http://schemas.openxmlformats.org/drawingml/2006/main">
            <a:pPr algn="l">
              <a:defRPr sz="2025" b="1">
                <a:solidFill>
                  <a:srgbClr val="0D9488"/>
                </a:solidFill>
                <a:latin typeface="Liberation Sans"/>
                <a:ea typeface="Liberation Sans"/>
                <a:cs typeface="Liberation Sans"/>
              </a:defRPr>
            </a:pPr>
            <a:r>
              <a:rPr sz="2025" b="1">
                <a:solidFill>
                  <a:srgbClr val="0D9488"/>
                </a:solidFill>
                <a:latin typeface="Liberation Sans"/>
                <a:ea typeface="Liberation Sans"/>
                <a:cs typeface="Liberation Sans"/>
              </a:rPr>
              <a:t>Maliyet ve bütçe (bin TL, KDV hariç)</a:t>
            </a:r>
          </a:p>
        </p:txBody>
      </p:sp>
      <p:graphicFrame>
        <p:nvGraphicFramePr>
          <p:cNvPr id="7" name="">
            <a:extLst xmlns:a="http://schemas.openxmlformats.org/drawingml/2006/main">
              <a:ext uri="{FF2B5EF4-FFF2-40B4-BE49-F238E27FC236}">
                <a16:creationId xmlns:a16="http://schemas.microsoft.com/office/drawing/2014/main" id="{C7E45800-2E51-4854-8841-35B5905443E4}"/>
              </a:ext>
            </a:extLst>
          </p:cNvPr>
          <p:cNvGraphicFramePr/>
          <p:nvPr/>
        </p:nvGraphicFramePr>
        <p:xfrm>
          <a:off xmlns:a="http://schemas.openxmlformats.org/drawingml/2006/main" x="457200" y="6267450"/>
          <a:ext xmlns:a="http://schemas.openxmlformats.org/drawingml/2006/main" cx="14325600" cy="1781175"/>
        </p:xfrm>
        <a:graphic xmlns:a="http://schemas.openxmlformats.org/drawingml/2006/main">
          <a:graphicData uri="http://schemas.openxmlformats.org/drawingml/2006/table">
            <a:tbl>
              <a:tblPr firstRow="0" bandRow="0"/>
              <a:tblGrid>
                <a:gridCol w="2667000"/>
                <a:gridCol w="1619250"/>
                <a:gridCol w="1619250"/>
                <a:gridCol w="1619250"/>
                <a:gridCol w="1619250"/>
                <a:gridCol w="1714500"/>
                <a:gridCol w="1524000"/>
                <a:gridCol w="1943100"/>
              </a:tblGrid>
              <a:tr h="552450">
                <a:tc>
                  <a:txBody>
                    <a:bodyPr wrap="square" anchor="ctr">
                      <a:noAutofit/>
                    </a:bodyPr>
                    <a:lstStyle/>
                    <a:p>
                      <a:pPr algn="l"/>
                      <a:r>
                        <a:rPr sz="1650" b="1">
                          <a:solidFill>
                            <a:srgbClr val="FFFFFF"/>
                          </a:solidFill>
                          <a:latin typeface="Liberation Sans"/>
                          <a:ea typeface="Liberation Sans"/>
                          <a:cs typeface="Liberation Sans"/>
                        </a:rPr>
                        <a:t>Proje</a:t>
                      </a:r>
                    </a:p>
                  </a:txBody>
                  <a:tcPr marL="133350" marR="114300" marT="57150" marB="57150" anchor="ctr">
                    <a:solidFill>
                      <a:srgbClr val="0D9488"/>
                    </a:solidFill>
                  </a:tcPr>
                </a:tc>
                <a:tc>
                  <a:txBody>
                    <a:bodyPr wrap="square" anchor="ctr">
                      <a:noAutofit/>
                    </a:bodyPr>
                    <a:lstStyle/>
                    <a:p>
                      <a:pPr algn="l"/>
                      <a:r>
                        <a:rPr sz="1650" b="1">
                          <a:solidFill>
                            <a:srgbClr val="FFFFFF"/>
                          </a:solidFill>
                          <a:latin typeface="Liberation Sans"/>
                          <a:ea typeface="Liberation Sans"/>
                          <a:cs typeface="Liberation Sans"/>
                        </a:rPr>
                        <a:t>Gerçek</a:t>
                      </a:r>
                    </a:p>
                    <a:p>
                      <a:pPr algn="l"/>
                      <a:r>
                        <a:rPr sz="1650" b="1">
                          <a:solidFill>
                            <a:srgbClr val="FFFFFF"/>
                          </a:solidFill>
                          <a:latin typeface="Liberation Sans"/>
                          <a:ea typeface="Liberation Sans"/>
                          <a:cs typeface="Liberation Sans"/>
                        </a:rPr>
                        <a:t>efor</a:t>
                      </a:r>
                    </a:p>
                  </a:txBody>
                  <a:tcPr marL="133350" marR="114300" marT="57150" marB="57150" anchor="ctr">
                    <a:solidFill>
                      <a:srgbClr val="0D9488"/>
                    </a:solidFill>
                  </a:tcPr>
                </a:tc>
                <a:tc>
                  <a:txBody>
                    <a:bodyPr wrap="square" anchor="ctr">
                      <a:noAutofit/>
                    </a:bodyPr>
                    <a:lstStyle/>
                    <a:p>
                      <a:pPr algn="l"/>
                      <a:r>
                        <a:rPr sz="1650" b="1">
                          <a:solidFill>
                            <a:srgbClr val="FFFFFF"/>
                          </a:solidFill>
                          <a:latin typeface="Liberation Sans"/>
                          <a:ea typeface="Liberation Sans"/>
                          <a:cs typeface="Liberation Sans"/>
                        </a:rPr>
                        <a:t>Gerçek</a:t>
                      </a:r>
                    </a:p>
                    <a:p>
                      <a:pPr algn="l"/>
                      <a:r>
                        <a:rPr sz="1650" b="1">
                          <a:solidFill>
                            <a:srgbClr val="FFFFFF"/>
                          </a:solidFill>
                          <a:latin typeface="Liberation Sans"/>
                          <a:ea typeface="Liberation Sans"/>
                          <a:cs typeface="Liberation Sans"/>
                        </a:rPr>
                        <a:t>alım</a:t>
                      </a:r>
                    </a:p>
                  </a:txBody>
                  <a:tcPr marL="133350" marR="114300" marT="57150" marB="57150" anchor="ctr">
                    <a:solidFill>
                      <a:srgbClr val="0D9488"/>
                    </a:solidFill>
                  </a:tcPr>
                </a:tc>
                <a:tc>
                  <a:txBody>
                    <a:bodyPr wrap="square" anchor="ctr">
                      <a:noAutofit/>
                    </a:bodyPr>
                    <a:lstStyle/>
                    <a:p>
                      <a:pPr algn="l"/>
                      <a:r>
                        <a:rPr sz="1650" b="1">
                          <a:solidFill>
                            <a:srgbClr val="FFFFFF"/>
                          </a:solidFill>
                          <a:latin typeface="Liberation Sans"/>
                          <a:ea typeface="Liberation Sans"/>
                          <a:cs typeface="Liberation Sans"/>
                        </a:rPr>
                        <a:t>Kalan</a:t>
                      </a:r>
                    </a:p>
                    <a:p>
                      <a:pPr algn="l"/>
                      <a:r>
                        <a:rPr sz="1650" b="1">
                          <a:solidFill>
                            <a:srgbClr val="FFFFFF"/>
                          </a:solidFill>
                          <a:latin typeface="Liberation Sans"/>
                          <a:ea typeface="Liberation Sans"/>
                          <a:cs typeface="Liberation Sans"/>
                        </a:rPr>
                        <a:t>efor</a:t>
                      </a:r>
                    </a:p>
                  </a:txBody>
                  <a:tcPr marL="133350" marR="114300" marT="57150" marB="57150" anchor="ctr">
                    <a:solidFill>
                      <a:srgbClr val="0D9488"/>
                    </a:solidFill>
                  </a:tcPr>
                </a:tc>
                <a:tc>
                  <a:txBody>
                    <a:bodyPr wrap="square" anchor="ctr">
                      <a:noAutofit/>
                    </a:bodyPr>
                    <a:lstStyle/>
                    <a:p>
                      <a:pPr algn="l"/>
                      <a:r>
                        <a:rPr sz="1650" b="1">
                          <a:solidFill>
                            <a:srgbClr val="FFFFFF"/>
                          </a:solidFill>
                          <a:latin typeface="Liberation Sans"/>
                          <a:ea typeface="Liberation Sans"/>
                          <a:cs typeface="Liberation Sans"/>
                        </a:rPr>
                        <a:t>Kalan</a:t>
                      </a:r>
                    </a:p>
                    <a:p>
                      <a:pPr algn="l"/>
                      <a:r>
                        <a:rPr sz="1650" b="1">
                          <a:solidFill>
                            <a:srgbClr val="FFFFFF"/>
                          </a:solidFill>
                          <a:latin typeface="Liberation Sans"/>
                          <a:ea typeface="Liberation Sans"/>
                          <a:cs typeface="Liberation Sans"/>
                        </a:rPr>
                        <a:t>alım</a:t>
                      </a:r>
                    </a:p>
                  </a:txBody>
                  <a:tcPr marL="133350" marR="114300" marT="57150" marB="57150" anchor="ctr">
                    <a:solidFill>
                      <a:srgbClr val="0D9488"/>
                    </a:solidFill>
                  </a:tcPr>
                </a:tc>
                <a:tc>
                  <a:txBody>
                    <a:bodyPr wrap="square" anchor="ctr">
                      <a:noAutofit/>
                    </a:bodyPr>
                    <a:lstStyle/>
                    <a:p>
                      <a:pPr algn="l"/>
                      <a:r>
                        <a:rPr sz="1650" b="1">
                          <a:solidFill>
                            <a:srgbClr val="FFFFFF"/>
                          </a:solidFill>
                          <a:latin typeface="Liberation Sans"/>
                          <a:ea typeface="Liberation Sans"/>
                          <a:cs typeface="Liberation Sans"/>
                        </a:rPr>
                        <a:t>Tahmini</a:t>
                      </a:r>
                    </a:p>
                    <a:p>
                      <a:pPr algn="l"/>
                      <a:r>
                        <a:rPr sz="1650" b="1">
                          <a:solidFill>
                            <a:srgbClr val="FFFFFF"/>
                          </a:solidFill>
                          <a:latin typeface="Liberation Sans"/>
                          <a:ea typeface="Liberation Sans"/>
                          <a:cs typeface="Liberation Sans"/>
                        </a:rPr>
                        <a:t>toplam</a:t>
                      </a:r>
                    </a:p>
                  </a:txBody>
                  <a:tcPr marL="133350" marR="114300" marT="57150" marB="57150" anchor="ctr">
                    <a:solidFill>
                      <a:srgbClr val="0D9488"/>
                    </a:solidFill>
                  </a:tcPr>
                </a:tc>
                <a:tc>
                  <a:txBody>
                    <a:bodyPr wrap="square" anchor="ctr">
                      <a:noAutofit/>
                    </a:bodyPr>
                    <a:lstStyle/>
                    <a:p>
                      <a:pPr algn="l"/>
                      <a:r>
                        <a:rPr sz="1650" b="1">
                          <a:solidFill>
                            <a:srgbClr val="FFFFFF"/>
                          </a:solidFill>
                          <a:latin typeface="Liberation Sans"/>
                          <a:ea typeface="Liberation Sans"/>
                          <a:cs typeface="Liberation Sans"/>
                        </a:rPr>
                        <a:t>Bütçe</a:t>
                      </a:r>
                    </a:p>
                  </a:txBody>
                  <a:tcPr marL="133350" marR="114300" marT="57150" marB="57150" anchor="ctr">
                    <a:solidFill>
                      <a:srgbClr val="0D9488"/>
                    </a:solidFill>
                  </a:tcPr>
                </a:tc>
                <a:tc>
                  <a:txBody>
                    <a:bodyPr wrap="square" anchor="ctr">
                      <a:noAutofit/>
                    </a:bodyPr>
                    <a:lstStyle/>
                    <a:p>
                      <a:pPr algn="l"/>
                      <a:r>
                        <a:rPr sz="1650" b="1">
                          <a:solidFill>
                            <a:srgbClr val="FFFFFF"/>
                          </a:solidFill>
                          <a:latin typeface="Liberation Sans"/>
                          <a:ea typeface="Liberation Sans"/>
                          <a:cs typeface="Liberation Sans"/>
                        </a:rPr>
                        <a:t>Bütçe</a:t>
                      </a:r>
                    </a:p>
                    <a:p>
                      <a:pPr algn="l"/>
                      <a:r>
                        <a:rPr sz="1650" b="1">
                          <a:solidFill>
                            <a:srgbClr val="FFFFFF"/>
                          </a:solidFill>
                          <a:latin typeface="Liberation Sans"/>
                          <a:ea typeface="Liberation Sans"/>
                          <a:cs typeface="Liberation Sans"/>
                        </a:rPr>
                        <a:t>farkı</a:t>
                      </a:r>
                    </a:p>
                  </a:txBody>
                  <a:tcPr marL="133350" marR="114300" marT="57150" marB="57150" anchor="ctr">
                    <a:solidFill>
                      <a:srgbClr val="0D9488"/>
                    </a:solidFill>
                  </a:tcPr>
                </a:tc>
              </a:tr>
              <a:tr h="409575">
                <a:tc>
                  <a:txBody>
                    <a:bodyPr wrap="square" anchor="ctr">
                      <a:noAutofit/>
                    </a:bodyPr>
                    <a:lstStyle/>
                    <a:p>
                      <a:pPr algn="l"/>
                      <a:r>
                        <a:rPr sz="1725" b="1">
                          <a:solidFill>
                            <a:srgbClr val="26394D"/>
                          </a:solidFill>
                          <a:latin typeface="Liberation Sans"/>
                          <a:ea typeface="Liberation Sans"/>
                          <a:cs typeface="Liberation Sans"/>
                        </a:rPr>
                        <a:t>Üretim Hattı</a:t>
                      </a:r>
                    </a:p>
                  </a:txBody>
                  <a:tcPr marL="133350" marR="114300" marT="95250" marB="95250" anchor="ctr">
                    <a:solidFill>
                      <a:srgbClr val="FFFFFF"/>
                    </a:solidFill>
                  </a:tcPr>
                </a:tc>
                <a:tc>
                  <a:txBody>
                    <a:bodyPr wrap="square" anchor="ctr">
                      <a:noAutofit/>
                    </a:bodyPr>
                    <a:lstStyle/>
                    <a:p>
                      <a:pPr algn="l"/>
                      <a:r>
                        <a:rPr sz="1725" b="0">
                          <a:solidFill>
                            <a:srgbClr val="26394D"/>
                          </a:solidFill>
                          <a:latin typeface="Liberation Sans"/>
                          <a:ea typeface="Liberation Sans"/>
                          <a:cs typeface="Liberation Sans"/>
                        </a:rPr>
                        <a:t>526,4</a:t>
                      </a:r>
                    </a:p>
                  </a:txBody>
                  <a:tcPr marL="133350" marR="114300" marT="95250" marB="95250" anchor="ctr">
                    <a:solidFill>
                      <a:srgbClr val="FFFFFF"/>
                    </a:solidFill>
                  </a:tcPr>
                </a:tc>
                <a:tc>
                  <a:txBody>
                    <a:bodyPr wrap="square" anchor="ctr">
                      <a:noAutofit/>
                    </a:bodyPr>
                    <a:lstStyle/>
                    <a:p>
                      <a:pPr algn="l"/>
                      <a:r>
                        <a:rPr sz="1725" b="0">
                          <a:solidFill>
                            <a:srgbClr val="26394D"/>
                          </a:solidFill>
                          <a:latin typeface="Liberation Sans"/>
                          <a:ea typeface="Liberation Sans"/>
                          <a:cs typeface="Liberation Sans"/>
                        </a:rPr>
                        <a:t>400,0</a:t>
                      </a:r>
                    </a:p>
                  </a:txBody>
                  <a:tcPr marL="133350" marR="114300" marT="95250" marB="95250" anchor="ctr">
                    <a:solidFill>
                      <a:srgbClr val="FFFFFF"/>
                    </a:solidFill>
                  </a:tcPr>
                </a:tc>
                <a:tc>
                  <a:txBody>
                    <a:bodyPr wrap="square" anchor="ctr">
                      <a:noAutofit/>
                    </a:bodyPr>
                    <a:lstStyle/>
                    <a:p>
                      <a:pPr algn="l"/>
                      <a:r>
                        <a:rPr sz="1725" b="0">
                          <a:solidFill>
                            <a:srgbClr val="26394D"/>
                          </a:solidFill>
                          <a:latin typeface="Liberation Sans"/>
                          <a:ea typeface="Liberation Sans"/>
                          <a:cs typeface="Liberation Sans"/>
                        </a:rPr>
                        <a:t>527,0</a:t>
                      </a:r>
                    </a:p>
                  </a:txBody>
                  <a:tcPr marL="133350" marR="114300" marT="95250" marB="95250" anchor="ctr">
                    <a:solidFill>
                      <a:srgbClr val="FFFFFF"/>
                    </a:solidFill>
                  </a:tcPr>
                </a:tc>
                <a:tc>
                  <a:txBody>
                    <a:bodyPr wrap="square" anchor="ctr">
                      <a:noAutofit/>
                    </a:bodyPr>
                    <a:lstStyle/>
                    <a:p>
                      <a:pPr algn="l"/>
                      <a:r>
                        <a:rPr sz="1725" b="0">
                          <a:solidFill>
                            <a:srgbClr val="26394D"/>
                          </a:solidFill>
                          <a:latin typeface="Liberation Sans"/>
                          <a:ea typeface="Liberation Sans"/>
                          <a:cs typeface="Liberation Sans"/>
                        </a:rPr>
                        <a:t>540,0</a:t>
                      </a:r>
                    </a:p>
                  </a:txBody>
                  <a:tcPr marL="133350" marR="114300" marT="95250" marB="95250" anchor="ctr">
                    <a:solidFill>
                      <a:srgbClr val="FFFFFF"/>
                    </a:solidFill>
                  </a:tcPr>
                </a:tc>
                <a:tc>
                  <a:txBody>
                    <a:bodyPr wrap="square" anchor="ctr">
                      <a:noAutofit/>
                    </a:bodyPr>
                    <a:lstStyle/>
                    <a:p>
                      <a:pPr algn="l"/>
                      <a:r>
                        <a:rPr sz="1725" b="0">
                          <a:solidFill>
                            <a:srgbClr val="26394D"/>
                          </a:solidFill>
                          <a:latin typeface="Liberation Sans"/>
                          <a:ea typeface="Liberation Sans"/>
                          <a:cs typeface="Liberation Sans"/>
                        </a:rPr>
                        <a:t>1.993,4</a:t>
                      </a:r>
                    </a:p>
                  </a:txBody>
                  <a:tcPr marL="133350" marR="114300" marT="95250" marB="95250" anchor="ctr">
                    <a:solidFill>
                      <a:srgbClr val="FFFFFF"/>
                    </a:solidFill>
                  </a:tcPr>
                </a:tc>
                <a:tc>
                  <a:txBody>
                    <a:bodyPr wrap="square" anchor="ctr">
                      <a:noAutofit/>
                    </a:bodyPr>
                    <a:lstStyle/>
                    <a:p>
                      <a:pPr algn="l"/>
                      <a:r>
                        <a:rPr sz="1725" b="0">
                          <a:solidFill>
                            <a:srgbClr val="26394D"/>
                          </a:solidFill>
                          <a:latin typeface="Liberation Sans"/>
                          <a:ea typeface="Liberation Sans"/>
                          <a:cs typeface="Liberation Sans"/>
                        </a:rPr>
                        <a:t>2.200,0</a:t>
                      </a:r>
                    </a:p>
                  </a:txBody>
                  <a:tcPr marL="133350" marR="114300" marT="95250" marB="95250" anchor="ctr">
                    <a:solidFill>
                      <a:srgbClr val="FFFFFF"/>
                    </a:solidFill>
                  </a:tcPr>
                </a:tc>
                <a:tc>
                  <a:txBody>
                    <a:bodyPr wrap="square" anchor="ctr">
                      <a:noAutofit/>
                    </a:bodyPr>
                    <a:lstStyle/>
                    <a:p>
                      <a:pPr algn="l"/>
                      <a:r>
                        <a:rPr sz="1725" b="0">
                          <a:solidFill>
                            <a:srgbClr val="26394D"/>
                          </a:solidFill>
                          <a:latin typeface="Liberation Sans"/>
                          <a:ea typeface="Liberation Sans"/>
                          <a:cs typeface="Liberation Sans"/>
                        </a:rPr>
                        <a:t>206,6</a:t>
                      </a:r>
                    </a:p>
                  </a:txBody>
                  <a:tcPr marL="133350" marR="114300" marT="95250" marB="95250" anchor="ctr">
                    <a:solidFill>
                      <a:srgbClr val="FFFFFF"/>
                    </a:solidFill>
                  </a:tcPr>
                </a:tc>
              </a:tr>
              <a:tr h="409575">
                <a:tc>
                  <a:txBody>
                    <a:bodyPr wrap="square" anchor="ctr">
                      <a:noAutofit/>
                    </a:bodyPr>
                    <a:lstStyle/>
                    <a:p>
                      <a:pPr algn="l"/>
                      <a:r>
                        <a:rPr sz="1725" b="1">
                          <a:solidFill>
                            <a:srgbClr val="26394D"/>
                          </a:solidFill>
                          <a:latin typeface="Liberation Sans"/>
                          <a:ea typeface="Liberation Sans"/>
                          <a:cs typeface="Liberation Sans"/>
                        </a:rPr>
                        <a:t>Müşteri Portalı</a:t>
                      </a:r>
                    </a:p>
                  </a:txBody>
                  <a:tcPr marL="133350" marR="114300" marT="95250" marB="95250" anchor="ctr">
                    <a:solidFill>
                      <a:srgbClr val="F2F6FB"/>
                    </a:solidFill>
                  </a:tcPr>
                </a:tc>
                <a:tc>
                  <a:txBody>
                    <a:bodyPr wrap="square" anchor="ctr">
                      <a:noAutofit/>
                    </a:bodyPr>
                    <a:lstStyle/>
                    <a:p>
                      <a:pPr algn="l"/>
                      <a:r>
                        <a:rPr sz="1725" b="0">
                          <a:solidFill>
                            <a:srgbClr val="26394D"/>
                          </a:solidFill>
                          <a:latin typeface="Liberation Sans"/>
                          <a:ea typeface="Liberation Sans"/>
                          <a:cs typeface="Liberation Sans"/>
                        </a:rPr>
                        <a:t>484,6</a:t>
                      </a:r>
                    </a:p>
                  </a:txBody>
                  <a:tcPr marL="133350" marR="114300" marT="95250" marB="95250" anchor="ctr">
                    <a:solidFill>
                      <a:srgbClr val="F2F6FB"/>
                    </a:solidFill>
                  </a:tcPr>
                </a:tc>
                <a:tc>
                  <a:txBody>
                    <a:bodyPr wrap="square" anchor="ctr">
                      <a:noAutofit/>
                    </a:bodyPr>
                    <a:lstStyle/>
                    <a:p>
                      <a:pPr algn="l"/>
                      <a:r>
                        <a:rPr sz="1725" b="0">
                          <a:solidFill>
                            <a:srgbClr val="26394D"/>
                          </a:solidFill>
                          <a:latin typeface="Liberation Sans"/>
                          <a:ea typeface="Liberation Sans"/>
                          <a:cs typeface="Liberation Sans"/>
                        </a:rPr>
                        <a:t>125,0</a:t>
                      </a:r>
                    </a:p>
                  </a:txBody>
                  <a:tcPr marL="133350" marR="114300" marT="95250" marB="95250" anchor="ctr">
                    <a:solidFill>
                      <a:srgbClr val="F2F6FB"/>
                    </a:solidFill>
                  </a:tcPr>
                </a:tc>
                <a:tc>
                  <a:txBody>
                    <a:bodyPr wrap="square" anchor="ctr">
                      <a:noAutofit/>
                    </a:bodyPr>
                    <a:lstStyle/>
                    <a:p>
                      <a:pPr algn="l"/>
                      <a:r>
                        <a:rPr sz="1725" b="0">
                          <a:solidFill>
                            <a:srgbClr val="26394D"/>
                          </a:solidFill>
                          <a:latin typeface="Liberation Sans"/>
                          <a:ea typeface="Liberation Sans"/>
                          <a:cs typeface="Liberation Sans"/>
                        </a:rPr>
                        <a:t>396,0</a:t>
                      </a:r>
                    </a:p>
                  </a:txBody>
                  <a:tcPr marL="133350" marR="114300" marT="95250" marB="95250" anchor="ctr">
                    <a:solidFill>
                      <a:srgbClr val="F2F6FB"/>
                    </a:solidFill>
                  </a:tcPr>
                </a:tc>
                <a:tc>
                  <a:txBody>
                    <a:bodyPr wrap="square" anchor="ctr">
                      <a:noAutofit/>
                    </a:bodyPr>
                    <a:lstStyle/>
                    <a:p>
                      <a:pPr algn="l"/>
                      <a:r>
                        <a:rPr sz="1725" b="0">
                          <a:solidFill>
                            <a:srgbClr val="26394D"/>
                          </a:solidFill>
                          <a:latin typeface="Liberation Sans"/>
                          <a:ea typeface="Liberation Sans"/>
                          <a:cs typeface="Liberation Sans"/>
                        </a:rPr>
                        <a:t>65,0</a:t>
                      </a:r>
                    </a:p>
                  </a:txBody>
                  <a:tcPr marL="133350" marR="114300" marT="95250" marB="95250" anchor="ctr">
                    <a:solidFill>
                      <a:srgbClr val="F2F6FB"/>
                    </a:solidFill>
                  </a:tcPr>
                </a:tc>
                <a:tc>
                  <a:txBody>
                    <a:bodyPr wrap="square" anchor="ctr">
                      <a:noAutofit/>
                    </a:bodyPr>
                    <a:lstStyle/>
                    <a:p>
                      <a:pPr algn="l"/>
                      <a:r>
                        <a:rPr sz="1725" b="0">
                          <a:solidFill>
                            <a:srgbClr val="26394D"/>
                          </a:solidFill>
                          <a:latin typeface="Liberation Sans"/>
                          <a:ea typeface="Liberation Sans"/>
                          <a:cs typeface="Liberation Sans"/>
                        </a:rPr>
                        <a:t>1.070,6</a:t>
                      </a:r>
                    </a:p>
                  </a:txBody>
                  <a:tcPr marL="133350" marR="114300" marT="95250" marB="95250" anchor="ctr">
                    <a:solidFill>
                      <a:srgbClr val="F2F6FB"/>
                    </a:solidFill>
                  </a:tcPr>
                </a:tc>
                <a:tc>
                  <a:txBody>
                    <a:bodyPr wrap="square" anchor="ctr">
                      <a:noAutofit/>
                    </a:bodyPr>
                    <a:lstStyle/>
                    <a:p>
                      <a:pPr algn="l"/>
                      <a:r>
                        <a:rPr sz="1725" b="0">
                          <a:solidFill>
                            <a:srgbClr val="26394D"/>
                          </a:solidFill>
                          <a:latin typeface="Liberation Sans"/>
                          <a:ea typeface="Liberation Sans"/>
                          <a:cs typeface="Liberation Sans"/>
                        </a:rPr>
                        <a:t>950,0</a:t>
                      </a:r>
                    </a:p>
                  </a:txBody>
                  <a:tcPr marL="133350" marR="114300" marT="95250" marB="95250" anchor="ctr">
                    <a:solidFill>
                      <a:srgbClr val="F2F6FB"/>
                    </a:solidFill>
                  </a:tcPr>
                </a:tc>
                <a:tc>
                  <a:txBody>
                    <a:bodyPr wrap="square" anchor="ctr">
                      <a:noAutofit/>
                    </a:bodyPr>
                    <a:lstStyle/>
                    <a:p>
                      <a:pPr algn="l"/>
                      <a:r>
                        <a:rPr sz="1725" b="0">
                          <a:solidFill>
                            <a:srgbClr val="26394D"/>
                          </a:solidFill>
                          <a:latin typeface="Liberation Sans"/>
                          <a:ea typeface="Liberation Sans"/>
                          <a:cs typeface="Liberation Sans"/>
                        </a:rPr>
                        <a:t>-120,6</a:t>
                      </a:r>
                    </a:p>
                  </a:txBody>
                  <a:tcPr marL="133350" marR="114300" marT="95250" marB="95250" anchor="ctr">
                    <a:solidFill>
                      <a:srgbClr val="FCE8EC"/>
                    </a:solidFill>
                  </a:tcPr>
                </a:tc>
              </a:tr>
              <a:tr h="409575">
                <a:tc>
                  <a:txBody>
                    <a:bodyPr wrap="square" anchor="ctr">
                      <a:noAutofit/>
                    </a:bodyPr>
                    <a:lstStyle/>
                    <a:p>
                      <a:pPr algn="l"/>
                      <a:r>
                        <a:rPr sz="1725" b="1">
                          <a:solidFill>
                            <a:srgbClr val="26394D"/>
                          </a:solidFill>
                          <a:latin typeface="Liberation Sans"/>
                          <a:ea typeface="Liberation Sans"/>
                          <a:cs typeface="Liberation Sans"/>
                        </a:rPr>
                        <a:t>Depo Otomasyonu</a:t>
                      </a:r>
                    </a:p>
                  </a:txBody>
                  <a:tcPr marL="133350" marR="114300" marT="95250" marB="95250" anchor="ctr">
                    <a:solidFill>
                      <a:srgbClr val="FFFFFF"/>
                    </a:solidFill>
                  </a:tcPr>
                </a:tc>
                <a:tc>
                  <a:txBody>
                    <a:bodyPr wrap="square" anchor="ctr">
                      <a:noAutofit/>
                    </a:bodyPr>
                    <a:lstStyle/>
                    <a:p>
                      <a:pPr algn="l"/>
                      <a:r>
                        <a:rPr sz="1725" b="0">
                          <a:solidFill>
                            <a:srgbClr val="26394D"/>
                          </a:solidFill>
                          <a:latin typeface="Liberation Sans"/>
                          <a:ea typeface="Liberation Sans"/>
                          <a:cs typeface="Liberation Sans"/>
                        </a:rPr>
                        <a:t>679,8</a:t>
                      </a:r>
                    </a:p>
                  </a:txBody>
                  <a:tcPr marL="133350" marR="114300" marT="95250" marB="95250" anchor="ctr">
                    <a:solidFill>
                      <a:srgbClr val="FFFFFF"/>
                    </a:solidFill>
                  </a:tcPr>
                </a:tc>
                <a:tc>
                  <a:txBody>
                    <a:bodyPr wrap="square" anchor="ctr">
                      <a:noAutofit/>
                    </a:bodyPr>
                    <a:lstStyle/>
                    <a:p>
                      <a:pPr algn="l"/>
                      <a:r>
                        <a:rPr sz="1725" b="0">
                          <a:solidFill>
                            <a:srgbClr val="26394D"/>
                          </a:solidFill>
                          <a:latin typeface="Liberation Sans"/>
                          <a:ea typeface="Liberation Sans"/>
                          <a:cs typeface="Liberation Sans"/>
                        </a:rPr>
                        <a:t>260,0</a:t>
                      </a:r>
                    </a:p>
                  </a:txBody>
                  <a:tcPr marL="133350" marR="114300" marT="95250" marB="95250" anchor="ctr">
                    <a:solidFill>
                      <a:srgbClr val="FFFFFF"/>
                    </a:solidFill>
                  </a:tcPr>
                </a:tc>
                <a:tc>
                  <a:txBody>
                    <a:bodyPr wrap="square" anchor="ctr">
                      <a:noAutofit/>
                    </a:bodyPr>
                    <a:lstStyle/>
                    <a:p>
                      <a:pPr algn="l"/>
                      <a:r>
                        <a:rPr sz="1725" b="0">
                          <a:solidFill>
                            <a:srgbClr val="26394D"/>
                          </a:solidFill>
                          <a:latin typeface="Liberation Sans"/>
                          <a:ea typeface="Liberation Sans"/>
                          <a:cs typeface="Liberation Sans"/>
                        </a:rPr>
                        <a:t>288,0</a:t>
                      </a:r>
                    </a:p>
                  </a:txBody>
                  <a:tcPr marL="133350" marR="114300" marT="95250" marB="95250" anchor="ctr">
                    <a:solidFill>
                      <a:srgbClr val="FFFFFF"/>
                    </a:solidFill>
                  </a:tcPr>
                </a:tc>
                <a:tc>
                  <a:txBody>
                    <a:bodyPr wrap="square" anchor="ctr">
                      <a:noAutofit/>
                    </a:bodyPr>
                    <a:lstStyle/>
                    <a:p>
                      <a:pPr algn="l"/>
                      <a:r>
                        <a:rPr sz="1725" b="0">
                          <a:solidFill>
                            <a:srgbClr val="26394D"/>
                          </a:solidFill>
                          <a:latin typeface="Liberation Sans"/>
                          <a:ea typeface="Liberation Sans"/>
                          <a:cs typeface="Liberation Sans"/>
                        </a:rPr>
                        <a:t>185,0</a:t>
                      </a:r>
                    </a:p>
                  </a:txBody>
                  <a:tcPr marL="133350" marR="114300" marT="95250" marB="95250" anchor="ctr">
                    <a:solidFill>
                      <a:srgbClr val="FFFFFF"/>
                    </a:solidFill>
                  </a:tcPr>
                </a:tc>
                <a:tc>
                  <a:txBody>
                    <a:bodyPr wrap="square" anchor="ctr">
                      <a:noAutofit/>
                    </a:bodyPr>
                    <a:lstStyle/>
                    <a:p>
                      <a:pPr algn="l"/>
                      <a:r>
                        <a:rPr sz="1725" b="0">
                          <a:solidFill>
                            <a:srgbClr val="26394D"/>
                          </a:solidFill>
                          <a:latin typeface="Liberation Sans"/>
                          <a:ea typeface="Liberation Sans"/>
                          <a:cs typeface="Liberation Sans"/>
                        </a:rPr>
                        <a:t>1.412,8</a:t>
                      </a:r>
                    </a:p>
                  </a:txBody>
                  <a:tcPr marL="133350" marR="114300" marT="95250" marB="95250" anchor="ctr">
                    <a:solidFill>
                      <a:srgbClr val="FFFFFF"/>
                    </a:solidFill>
                  </a:tcPr>
                </a:tc>
                <a:tc>
                  <a:txBody>
                    <a:bodyPr wrap="square" anchor="ctr">
                      <a:noAutofit/>
                    </a:bodyPr>
                    <a:lstStyle/>
                    <a:p>
                      <a:pPr algn="l"/>
                      <a:r>
                        <a:rPr sz="1725" b="0">
                          <a:solidFill>
                            <a:srgbClr val="26394D"/>
                          </a:solidFill>
                          <a:latin typeface="Liberation Sans"/>
                          <a:ea typeface="Liberation Sans"/>
                          <a:cs typeface="Liberation Sans"/>
                        </a:rPr>
                        <a:t>1.450,0</a:t>
                      </a:r>
                    </a:p>
                  </a:txBody>
                  <a:tcPr marL="133350" marR="114300" marT="95250" marB="95250" anchor="ctr">
                    <a:solidFill>
                      <a:srgbClr val="FFFFFF"/>
                    </a:solidFill>
                  </a:tcPr>
                </a:tc>
                <a:tc>
                  <a:txBody>
                    <a:bodyPr wrap="square" anchor="ctr">
                      <a:noAutofit/>
                    </a:bodyPr>
                    <a:lstStyle/>
                    <a:p>
                      <a:pPr algn="l"/>
                      <a:r>
                        <a:rPr sz="1725" b="0">
                          <a:solidFill>
                            <a:srgbClr val="26394D"/>
                          </a:solidFill>
                          <a:latin typeface="Liberation Sans"/>
                          <a:ea typeface="Liberation Sans"/>
                          <a:cs typeface="Liberation Sans"/>
                        </a:rPr>
                        <a:t>37,2</a:t>
                      </a:r>
                    </a:p>
                  </a:txBody>
                  <a:tcPr marL="133350" marR="114300" marT="95250" marB="95250" anchor="ctr">
                    <a:solidFill>
                      <a:srgbClr val="FFFFFF"/>
                    </a:solidFill>
                  </a:tcPr>
                </a:tc>
              </a:tr>
            </a:tbl>
          </a:graphicData>
        </a:graphic>
      </p:graphicFrame>
    </p:spTree>
    <p:extLst>
      <p:ext uri="{BB962C8B-B14F-4D97-AF65-F5344CB8AC3E}">
        <p14:creationId xmlns:p14="http://schemas.microsoft.com/office/powerpoint/2010/main" val="6767011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08F82437-7439-46CF-BBC4-92DD0203EF3D}"/>
              </a:ext>
            </a:extLst>
          </p:cNvPr>
          <p:cNvSpPr>
            <a:spLocks xmlns:a="http://schemas.openxmlformats.org/drawingml/2006/main" noGrp="1"/>
          </p:cNvSpPr>
          <p:nvPr/>
        </p:nvSpPr>
        <p:spPr>
          <a:xfrm xmlns:a="http://schemas.openxmlformats.org/drawingml/2006/main">
            <a:off x="457200" y="323850"/>
            <a:ext cx="14325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225" b="1">
                <a:solidFill>
                  <a:srgbClr val="18324F"/>
                </a:solidFill>
                <a:latin typeface="Liberation Sans"/>
                <a:ea typeface="Liberation Sans"/>
                <a:cs typeface="Liberation Sans"/>
              </a:defRPr>
            </a:defPPr>
          </a:lstStyle>
          <a:p xmlns:a="http://schemas.openxmlformats.org/drawingml/2006/main">
            <a:pPr algn="l">
              <a:defRPr sz="3225" b="1">
                <a:solidFill>
                  <a:srgbClr val="18324F"/>
                </a:solidFill>
                <a:latin typeface="Liberation Sans"/>
                <a:ea typeface="Liberation Sans"/>
                <a:cs typeface="Liberation Sans"/>
              </a:defRPr>
            </a:pPr>
            <a:r>
              <a:rPr sz="3225" b="1">
                <a:solidFill>
                  <a:srgbClr val="18324F"/>
                </a:solidFill>
                <a:latin typeface="Liberation Sans"/>
                <a:ea typeface="Liberation Sans"/>
                <a:cs typeface="Liberation Sans"/>
              </a:rPr>
              <a:t>Haftalık işler ve yönetimden beklenti</a:t>
            </a:r>
          </a:p>
        </p:txBody>
      </p:sp>
      <p:sp>
        <p:nvSpPr>
          <p:cNvPr id="2" name="manager-report">
            <a:extLst xmlns:a="http://schemas.openxmlformats.org/drawingml/2006/main">
              <a:ext uri="{FF2B5EF4-FFF2-40B4-BE49-F238E27FC236}">
                <a16:creationId xmlns:a16="http://schemas.microsoft.com/office/drawing/2014/main" id="{6F2F01CA-8BB5-4597-B209-17C92409B157}"/>
              </a:ext>
            </a:extLst>
          </p:cNvPr>
          <p:cNvSpPr>
            <a:spLocks xmlns:a="http://schemas.openxmlformats.org/drawingml/2006/main" noGrp="1"/>
          </p:cNvSpPr>
          <p:nvPr/>
        </p:nvSpPr>
        <p:spPr>
          <a:xfrm xmlns:a="http://schemas.openxmlformats.org/drawingml/2006/main">
            <a:off x="457200" y="952500"/>
            <a:ext cx="11430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0">
                <a:solidFill>
                  <a:srgbClr val="61758A"/>
                </a:solidFill>
                <a:latin typeface="Liberation Sans"/>
                <a:ea typeface="Liberation Sans"/>
                <a:cs typeface="Liberation Sans"/>
              </a:defRPr>
            </a:defPPr>
          </a:lstStyle>
          <a:p xmlns:a="http://schemas.openxmlformats.org/drawingml/2006/main">
            <a:pPr algn="l">
              <a:defRPr sz="1875" b="0">
                <a:solidFill>
                  <a:srgbClr val="61758A"/>
                </a:solidFill>
                <a:latin typeface="Liberation Sans"/>
                <a:ea typeface="Liberation Sans"/>
                <a:cs typeface="Liberation Sans"/>
              </a:defRPr>
            </a:pPr>
            <a:r>
              <a:rPr sz="1875" b="0">
                <a:solidFill>
                  <a:srgbClr val="61758A"/>
                </a:solidFill>
                <a:latin typeface="Liberation Sans"/>
                <a:ea typeface="Liberation Sans"/>
                <a:cs typeface="Liberation Sans"/>
              </a:rPr>
              <a:t>Ayşe Yılmaz   /   15 Ekim 2026   /   Örnek portföy</a:t>
            </a:r>
          </a:p>
        </p:txBody>
      </p:sp>
      <p:sp>
        <p:nvSpPr>
          <p:cNvPr id="3" name="page">
            <a:extLst xmlns:a="http://schemas.openxmlformats.org/drawingml/2006/main">
              <a:ext uri="{FF2B5EF4-FFF2-40B4-BE49-F238E27FC236}">
                <a16:creationId xmlns:a16="http://schemas.microsoft.com/office/drawing/2014/main" id="{F52BBD1A-AFB7-42D5-8A0C-CAF4AEFF1EDF}"/>
              </a:ext>
            </a:extLst>
          </p:cNvPr>
          <p:cNvSpPr>
            <a:spLocks xmlns:a="http://schemas.openxmlformats.org/drawingml/2006/main" noGrp="1"/>
          </p:cNvSpPr>
          <p:nvPr/>
        </p:nvSpPr>
        <p:spPr>
          <a:xfrm xmlns:a="http://schemas.openxmlformats.org/drawingml/2006/main">
            <a:off x="13811250" y="952500"/>
            <a:ext cx="9715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61758A"/>
                </a:solidFill>
                <a:latin typeface="Liberation Sans"/>
                <a:ea typeface="Liberation Sans"/>
                <a:cs typeface="Liberation Sans"/>
              </a:defRPr>
            </a:defPPr>
          </a:lstStyle>
          <a:p xmlns:a="http://schemas.openxmlformats.org/drawingml/2006/main">
            <a:pPr algn="l">
              <a:defRPr sz="1725" b="0">
                <a:solidFill>
                  <a:srgbClr val="61758A"/>
                </a:solidFill>
                <a:latin typeface="Liberation Sans"/>
                <a:ea typeface="Liberation Sans"/>
                <a:cs typeface="Liberation Sans"/>
              </a:defRPr>
            </a:pPr>
            <a:r>
              <a:rPr sz="1725" b="0">
                <a:solidFill>
                  <a:srgbClr val="61758A"/>
                </a:solidFill>
                <a:latin typeface="Liberation Sans"/>
                <a:ea typeface="Liberation Sans"/>
                <a:cs typeface="Liberation Sans"/>
              </a:rPr>
              <a:t>2 / 2</a:t>
            </a:r>
          </a:p>
        </p:txBody>
      </p:sp>
      <p:sp>
        <p:nvSpPr>
          <p:cNvPr id="4" name="work-heading">
            <a:extLst xmlns:a="http://schemas.openxmlformats.org/drawingml/2006/main">
              <a:ext uri="{FF2B5EF4-FFF2-40B4-BE49-F238E27FC236}">
                <a16:creationId xmlns:a16="http://schemas.microsoft.com/office/drawing/2014/main" id="{2CA2312E-3423-46A9-92BD-D6279B4A5C1E}"/>
              </a:ext>
            </a:extLst>
          </p:cNvPr>
          <p:cNvSpPr>
            <a:spLocks xmlns:a="http://schemas.openxmlformats.org/drawingml/2006/main" noGrp="1"/>
          </p:cNvSpPr>
          <p:nvPr/>
        </p:nvSpPr>
        <p:spPr>
          <a:xfrm xmlns:a="http://schemas.openxmlformats.org/drawingml/2006/main">
            <a:off x="457200" y="1428750"/>
            <a:ext cx="14325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1">
                <a:solidFill>
                  <a:srgbClr val="2563EB"/>
                </a:solidFill>
                <a:latin typeface="Liberation Sans"/>
                <a:ea typeface="Liberation Sans"/>
                <a:cs typeface="Liberation Sans"/>
              </a:defRPr>
            </a:defPPr>
          </a:lstStyle>
          <a:p xmlns:a="http://schemas.openxmlformats.org/drawingml/2006/main">
            <a:pPr algn="l">
              <a:defRPr sz="2100" b="1">
                <a:solidFill>
                  <a:srgbClr val="2563EB"/>
                </a:solidFill>
                <a:latin typeface="Liberation Sans"/>
                <a:ea typeface="Liberation Sans"/>
                <a:cs typeface="Liberation Sans"/>
              </a:defRPr>
            </a:pPr>
            <a:r>
              <a:rPr sz="2100" b="1">
                <a:solidFill>
                  <a:srgbClr val="2563EB"/>
                </a:solidFill>
                <a:latin typeface="Liberation Sans"/>
                <a:ea typeface="Liberation Sans"/>
                <a:cs typeface="Liberation Sans"/>
              </a:rPr>
              <a:t>Bu hafta yapılanlar ve sıradaki işler</a:t>
            </a:r>
          </a:p>
        </p:txBody>
      </p:sp>
      <p:graphicFrame>
        <p:nvGraphicFramePr>
          <p:cNvPr id="5" name="">
            <a:extLst xmlns:a="http://schemas.openxmlformats.org/drawingml/2006/main">
              <a:ext uri="{FF2B5EF4-FFF2-40B4-BE49-F238E27FC236}">
                <a16:creationId xmlns:a16="http://schemas.microsoft.com/office/drawing/2014/main" id="{1E9ADF62-F57D-4FCA-BB2A-C06BADB256B1}"/>
              </a:ext>
            </a:extLst>
          </p:cNvPr>
          <p:cNvGraphicFramePr/>
          <p:nvPr/>
        </p:nvGraphicFramePr>
        <p:xfrm>
          <a:off xmlns:a="http://schemas.openxmlformats.org/drawingml/2006/main" x="457200" y="1943100"/>
          <a:ext xmlns:a="http://schemas.openxmlformats.org/drawingml/2006/main" cx="14325600" cy="2724150"/>
        </p:xfrm>
        <a:graphic xmlns:a="http://schemas.openxmlformats.org/drawingml/2006/main">
          <a:graphicData uri="http://schemas.openxmlformats.org/drawingml/2006/table">
            <a:tbl>
              <a:tblPr firstRow="0" bandRow="0"/>
              <a:tblGrid>
                <a:gridCol w="2667000"/>
                <a:gridCol w="5829300"/>
                <a:gridCol w="5829300"/>
              </a:tblGrid>
              <a:tr h="495300">
                <a:tc>
                  <a:txBody>
                    <a:bodyPr wrap="square" anchor="ctr">
                      <a:noAutofit/>
                    </a:bodyPr>
                    <a:lstStyle/>
                    <a:p>
                      <a:pPr algn="l"/>
                      <a:r>
                        <a:rPr sz="1650" b="1">
                          <a:solidFill>
                            <a:srgbClr val="FFFFFF"/>
                          </a:solidFill>
                          <a:latin typeface="Liberation Sans"/>
                          <a:ea typeface="Liberation Sans"/>
                          <a:cs typeface="Liberation Sans"/>
                        </a:rPr>
                        <a:t>Proje</a:t>
                      </a:r>
                    </a:p>
                  </a:txBody>
                  <a:tcPr marL="133350" marR="114300" marT="57150" marB="57150" anchor="ctr">
                    <a:solidFill>
                      <a:srgbClr val="18324F"/>
                    </a:solidFill>
                  </a:tcPr>
                </a:tc>
                <a:tc>
                  <a:txBody>
                    <a:bodyPr wrap="square" anchor="ctr">
                      <a:noAutofit/>
                    </a:bodyPr>
                    <a:lstStyle/>
                    <a:p>
                      <a:pPr algn="l"/>
                      <a:r>
                        <a:rPr sz="1650" b="1">
                          <a:solidFill>
                            <a:srgbClr val="FFFFFF"/>
                          </a:solidFill>
                          <a:latin typeface="Liberation Sans"/>
                          <a:ea typeface="Liberation Sans"/>
                          <a:cs typeface="Liberation Sans"/>
                        </a:rPr>
                        <a:t>Yapılanlar</a:t>
                      </a:r>
                    </a:p>
                  </a:txBody>
                  <a:tcPr marL="133350" marR="114300" marT="57150" marB="57150" anchor="ctr">
                    <a:solidFill>
                      <a:srgbClr val="18324F"/>
                    </a:solidFill>
                  </a:tcPr>
                </a:tc>
                <a:tc>
                  <a:txBody>
                    <a:bodyPr wrap="square" anchor="ctr">
                      <a:noAutofit/>
                    </a:bodyPr>
                    <a:lstStyle/>
                    <a:p>
                      <a:pPr algn="l"/>
                      <a:r>
                        <a:rPr sz="1650" b="1">
                          <a:solidFill>
                            <a:srgbClr val="FFFFFF"/>
                          </a:solidFill>
                          <a:latin typeface="Liberation Sans"/>
                          <a:ea typeface="Liberation Sans"/>
                          <a:cs typeface="Liberation Sans"/>
                        </a:rPr>
                        <a:t>Sıradaki iş</a:t>
                      </a:r>
                    </a:p>
                  </a:txBody>
                  <a:tcPr marL="133350" marR="114300" marT="57150" marB="57150" anchor="ctr">
                    <a:solidFill>
                      <a:srgbClr val="18324F"/>
                    </a:solidFill>
                  </a:tcPr>
                </a:tc>
              </a:tr>
              <a:tr h="742950">
                <a:tc>
                  <a:txBody>
                    <a:bodyPr wrap="square" anchor="ctr">
                      <a:noAutofit/>
                    </a:bodyPr>
                    <a:lstStyle/>
                    <a:p>
                      <a:pPr algn="l"/>
                      <a:r>
                        <a:rPr sz="2025" b="1">
                          <a:solidFill>
                            <a:srgbClr val="26394D"/>
                          </a:solidFill>
                          <a:latin typeface="Liberation Sans"/>
                          <a:ea typeface="Liberation Sans"/>
                          <a:cs typeface="Liberation Sans"/>
                        </a:rPr>
                        <a:t>Üretim Hattı</a:t>
                      </a:r>
                    </a:p>
                  </a:txBody>
                  <a:tcPr marL="133350" marR="114300" marT="95250" marB="95250" anchor="ctr">
                    <a:solidFill>
                      <a:srgbClr val="FFFFFF"/>
                    </a:solidFill>
                  </a:tcPr>
                </a:tc>
                <a:tc>
                  <a:txBody>
                    <a:bodyPr wrap="square" anchor="ctr">
                      <a:noAutofit/>
                    </a:bodyPr>
                    <a:lstStyle/>
                    <a:p>
                      <a:pPr algn="l"/>
                      <a:r>
                        <a:rPr sz="2025" b="0">
                          <a:solidFill>
                            <a:srgbClr val="26394D"/>
                          </a:solidFill>
                          <a:latin typeface="Liberation Sans"/>
                          <a:ea typeface="Liberation Sans"/>
                          <a:cs typeface="Liberation Sans"/>
                        </a:rPr>
                        <a:t>Kabul test listesi tamamlandı.</a:t>
                      </a:r>
                    </a:p>
                  </a:txBody>
                  <a:tcPr marL="133350" marR="114300" marT="95250" marB="95250" anchor="ctr">
                    <a:solidFill>
                      <a:srgbClr val="FFFFFF"/>
                    </a:solidFill>
                  </a:tcPr>
                </a:tc>
                <a:tc>
                  <a:txBody>
                    <a:bodyPr wrap="square" anchor="ctr">
                      <a:noAutofit/>
                    </a:bodyPr>
                    <a:lstStyle/>
                    <a:p>
                      <a:pPr algn="l"/>
                      <a:r>
                        <a:rPr sz="2025" b="0">
                          <a:solidFill>
                            <a:srgbClr val="26394D"/>
                          </a:solidFill>
                          <a:latin typeface="Liberation Sans"/>
                          <a:ea typeface="Liberation Sans"/>
                          <a:cs typeface="Liberation Sans"/>
                        </a:rPr>
                        <a:t>Alternatif motor teklifini netleştir.</a:t>
                      </a:r>
                    </a:p>
                  </a:txBody>
                  <a:tcPr marL="133350" marR="114300" marT="95250" marB="95250" anchor="ctr">
                    <a:solidFill>
                      <a:srgbClr val="FFFFFF"/>
                    </a:solidFill>
                  </a:tcPr>
                </a:tc>
              </a:tr>
              <a:tr h="742950">
                <a:tc>
                  <a:txBody>
                    <a:bodyPr wrap="square" anchor="ctr">
                      <a:noAutofit/>
                    </a:bodyPr>
                    <a:lstStyle/>
                    <a:p>
                      <a:pPr algn="l"/>
                      <a:r>
                        <a:rPr sz="2025" b="1">
                          <a:solidFill>
                            <a:srgbClr val="26394D"/>
                          </a:solidFill>
                          <a:latin typeface="Liberation Sans"/>
                          <a:ea typeface="Liberation Sans"/>
                          <a:cs typeface="Liberation Sans"/>
                        </a:rPr>
                        <a:t>Müşteri Portalı</a:t>
                      </a:r>
                    </a:p>
                  </a:txBody>
                  <a:tcPr marL="133350" marR="114300" marT="95250" marB="95250" anchor="ctr">
                    <a:solidFill>
                      <a:srgbClr val="F2F6FB"/>
                    </a:solidFill>
                  </a:tcPr>
                </a:tc>
                <a:tc>
                  <a:txBody>
                    <a:bodyPr wrap="square" anchor="ctr">
                      <a:noAutofit/>
                    </a:bodyPr>
                    <a:lstStyle/>
                    <a:p>
                      <a:pPr algn="l"/>
                      <a:r>
                        <a:rPr sz="2025" b="0">
                          <a:solidFill>
                            <a:srgbClr val="26394D"/>
                          </a:solidFill>
                          <a:latin typeface="Liberation Sans"/>
                          <a:ea typeface="Liberation Sans"/>
                          <a:cs typeface="Liberation Sans"/>
                        </a:rPr>
                        <a:t>Tasarım onayı alındı.</a:t>
                      </a:r>
                    </a:p>
                  </a:txBody>
                  <a:tcPr marL="133350" marR="114300" marT="95250" marB="95250" anchor="ctr">
                    <a:solidFill>
                      <a:srgbClr val="F2F6FB"/>
                    </a:solidFill>
                  </a:tcPr>
                </a:tc>
                <a:tc>
                  <a:txBody>
                    <a:bodyPr wrap="square" anchor="ctr">
                      <a:noAutofit/>
                    </a:bodyPr>
                    <a:lstStyle/>
                    <a:p>
                      <a:pPr algn="l"/>
                      <a:r>
                        <a:rPr sz="2025" b="0">
                          <a:solidFill>
                            <a:srgbClr val="26394D"/>
                          </a:solidFill>
                          <a:latin typeface="Liberation Sans"/>
                          <a:ea typeface="Liberation Sans"/>
                          <a:cs typeface="Liberation Sans"/>
                        </a:rPr>
                        <a:t>Entegrasyon test hesabını aç.</a:t>
                      </a:r>
                    </a:p>
                  </a:txBody>
                  <a:tcPr marL="133350" marR="114300" marT="95250" marB="95250" anchor="ctr">
                    <a:solidFill>
                      <a:srgbClr val="F2F6FB"/>
                    </a:solidFill>
                  </a:tcPr>
                </a:tc>
              </a:tr>
              <a:tr h="742950">
                <a:tc>
                  <a:txBody>
                    <a:bodyPr wrap="square" anchor="ctr">
                      <a:noAutofit/>
                    </a:bodyPr>
                    <a:lstStyle/>
                    <a:p>
                      <a:pPr algn="l"/>
                      <a:r>
                        <a:rPr sz="2025" b="1">
                          <a:solidFill>
                            <a:srgbClr val="26394D"/>
                          </a:solidFill>
                          <a:latin typeface="Liberation Sans"/>
                          <a:ea typeface="Liberation Sans"/>
                          <a:cs typeface="Liberation Sans"/>
                        </a:rPr>
                        <a:t>Depo Otomasyonu</a:t>
                      </a:r>
                    </a:p>
                  </a:txBody>
                  <a:tcPr marL="133350" marR="114300" marT="95250" marB="95250" anchor="ctr">
                    <a:solidFill>
                      <a:srgbClr val="FFFFFF"/>
                    </a:solidFill>
                  </a:tcPr>
                </a:tc>
                <a:tc>
                  <a:txBody>
                    <a:bodyPr wrap="square" anchor="ctr">
                      <a:noAutofit/>
                    </a:bodyPr>
                    <a:lstStyle/>
                    <a:p>
                      <a:pPr algn="l"/>
                      <a:r>
                        <a:rPr sz="2025" b="0">
                          <a:solidFill>
                            <a:srgbClr val="26394D"/>
                          </a:solidFill>
                          <a:latin typeface="Liberation Sans"/>
                          <a:ea typeface="Liberation Sans"/>
                          <a:cs typeface="Liberation Sans"/>
                        </a:rPr>
                        <a:t>Pilot süreç analizi tamamlandı.</a:t>
                      </a:r>
                    </a:p>
                  </a:txBody>
                  <a:tcPr marL="133350" marR="114300" marT="95250" marB="95250" anchor="ctr">
                    <a:solidFill>
                      <a:srgbClr val="FFFFFF"/>
                    </a:solidFill>
                  </a:tcPr>
                </a:tc>
                <a:tc>
                  <a:txBody>
                    <a:bodyPr wrap="square" anchor="ctr">
                      <a:noAutofit/>
                    </a:bodyPr>
                    <a:lstStyle/>
                    <a:p>
                      <a:pPr algn="l"/>
                      <a:r>
                        <a:rPr sz="2025" b="0">
                          <a:solidFill>
                            <a:srgbClr val="26394D"/>
                          </a:solidFill>
                          <a:latin typeface="Liberation Sans"/>
                          <a:ea typeface="Liberation Sans"/>
                          <a:cs typeface="Liberation Sans"/>
                        </a:rPr>
                        <a:t>Kısmi sevkiyatı ve sayımı planla.</a:t>
                      </a:r>
                    </a:p>
                  </a:txBody>
                  <a:tcPr marL="133350" marR="114300" marT="95250" marB="95250" anchor="ctr">
                    <a:solidFill>
                      <a:srgbClr val="FFFFFF"/>
                    </a:solidFill>
                  </a:tcPr>
                </a:tc>
              </a:tr>
            </a:tbl>
          </a:graphicData>
        </a:graphic>
      </p:graphicFrame>
      <p:sp>
        <p:nvSpPr>
          <p:cNvPr id="6" name="expectation-heading">
            <a:extLst xmlns:a="http://schemas.openxmlformats.org/drawingml/2006/main">
              <a:ext uri="{FF2B5EF4-FFF2-40B4-BE49-F238E27FC236}">
                <a16:creationId xmlns:a16="http://schemas.microsoft.com/office/drawing/2014/main" id="{758E887B-D542-473F-AFCA-E3B7119D1706}"/>
              </a:ext>
            </a:extLst>
          </p:cNvPr>
          <p:cNvSpPr>
            <a:spLocks xmlns:a="http://schemas.openxmlformats.org/drawingml/2006/main" noGrp="1"/>
          </p:cNvSpPr>
          <p:nvPr/>
        </p:nvSpPr>
        <p:spPr>
          <a:xfrm xmlns:a="http://schemas.openxmlformats.org/drawingml/2006/main">
            <a:off x="457200" y="4819650"/>
            <a:ext cx="14325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D97706"/>
                </a:solidFill>
                <a:latin typeface="Liberation Sans"/>
                <a:ea typeface="Liberation Sans"/>
                <a:cs typeface="Liberation Sans"/>
              </a:defRPr>
            </a:defPPr>
          </a:lstStyle>
          <a:p xmlns:a="http://schemas.openxmlformats.org/drawingml/2006/main">
            <a:pPr algn="l">
              <a:defRPr sz="2700" b="1">
                <a:solidFill>
                  <a:srgbClr val="D97706"/>
                </a:solidFill>
                <a:latin typeface="Liberation Sans"/>
                <a:ea typeface="Liberation Sans"/>
                <a:cs typeface="Liberation Sans"/>
              </a:defRPr>
            </a:pPr>
            <a:r>
              <a:rPr sz="2700" b="1">
                <a:solidFill>
                  <a:srgbClr val="D97706"/>
                </a:solidFill>
                <a:latin typeface="Liberation Sans"/>
                <a:ea typeface="Liberation Sans"/>
                <a:cs typeface="Liberation Sans"/>
              </a:rPr>
              <a:t>BEKLENTİ</a:t>
            </a:r>
          </a:p>
        </p:txBody>
      </p:sp>
      <p:graphicFrame>
        <p:nvGraphicFramePr>
          <p:cNvPr id="7" name="">
            <a:extLst xmlns:a="http://schemas.openxmlformats.org/drawingml/2006/main">
              <a:ext uri="{FF2B5EF4-FFF2-40B4-BE49-F238E27FC236}">
                <a16:creationId xmlns:a16="http://schemas.microsoft.com/office/drawing/2014/main" id="{26ED37FE-E728-4EA9-BB6F-1A0B5F9440D9}"/>
              </a:ext>
            </a:extLst>
          </p:cNvPr>
          <p:cNvGraphicFramePr/>
          <p:nvPr/>
        </p:nvGraphicFramePr>
        <p:xfrm>
          <a:off xmlns:a="http://schemas.openxmlformats.org/drawingml/2006/main" x="457200" y="5314950"/>
          <a:ext xmlns:a="http://schemas.openxmlformats.org/drawingml/2006/main" cx="14325600" cy="2838450"/>
        </p:xfrm>
        <a:graphic xmlns:a="http://schemas.openxmlformats.org/drawingml/2006/main">
          <a:graphicData uri="http://schemas.openxmlformats.org/drawingml/2006/table">
            <a:tbl>
              <a:tblPr firstRow="0" bandRow="0"/>
              <a:tblGrid>
                <a:gridCol w="2667000"/>
                <a:gridCol w="4476750"/>
                <a:gridCol w="2571750"/>
                <a:gridCol w="1524000"/>
                <a:gridCol w="3086100"/>
              </a:tblGrid>
              <a:tr h="552450">
                <a:tc>
                  <a:txBody>
                    <a:bodyPr wrap="square" anchor="ctr">
                      <a:noAutofit/>
                    </a:bodyPr>
                    <a:lstStyle/>
                    <a:p>
                      <a:pPr algn="l"/>
                      <a:r>
                        <a:rPr sz="1650" b="1">
                          <a:solidFill>
                            <a:srgbClr val="FFFFFF"/>
                          </a:solidFill>
                          <a:latin typeface="Liberation Sans"/>
                          <a:ea typeface="Liberation Sans"/>
                          <a:cs typeface="Liberation Sans"/>
                        </a:rPr>
                        <a:t>Proje</a:t>
                      </a:r>
                    </a:p>
                  </a:txBody>
                  <a:tcPr marL="133350" marR="114300" marT="57150" marB="57150" anchor="ctr">
                    <a:solidFill>
                      <a:srgbClr val="D97706"/>
                    </a:solidFill>
                  </a:tcPr>
                </a:tc>
                <a:tc>
                  <a:txBody>
                    <a:bodyPr wrap="square" anchor="ctr">
                      <a:noAutofit/>
                    </a:bodyPr>
                    <a:lstStyle/>
                    <a:p>
                      <a:pPr algn="l"/>
                      <a:r>
                        <a:rPr sz="1650" b="1">
                          <a:solidFill>
                            <a:srgbClr val="FFFFFF"/>
                          </a:solidFill>
                          <a:latin typeface="Liberation Sans"/>
                          <a:ea typeface="Liberation Sans"/>
                          <a:cs typeface="Liberation Sans"/>
                        </a:rPr>
                        <a:t>İstenen karar / destek</a:t>
                      </a:r>
                    </a:p>
                  </a:txBody>
                  <a:tcPr marL="133350" marR="114300" marT="57150" marB="57150" anchor="ctr">
                    <a:solidFill>
                      <a:srgbClr val="D97706"/>
                    </a:solidFill>
                  </a:tcPr>
                </a:tc>
                <a:tc>
                  <a:txBody>
                    <a:bodyPr wrap="square" anchor="ctr">
                      <a:noAutofit/>
                    </a:bodyPr>
                    <a:lstStyle/>
                    <a:p>
                      <a:pPr algn="l"/>
                      <a:r>
                        <a:rPr sz="1650" b="1">
                          <a:solidFill>
                            <a:srgbClr val="FFFFFF"/>
                          </a:solidFill>
                          <a:latin typeface="Liberation Sans"/>
                          <a:ea typeface="Liberation Sans"/>
                          <a:cs typeface="Liberation Sans"/>
                        </a:rPr>
                        <a:t>Karar mercii</a:t>
                      </a:r>
                    </a:p>
                  </a:txBody>
                  <a:tcPr marL="133350" marR="114300" marT="57150" marB="57150" anchor="ctr">
                    <a:solidFill>
                      <a:srgbClr val="D97706"/>
                    </a:solidFill>
                  </a:tcPr>
                </a:tc>
                <a:tc>
                  <a:txBody>
                    <a:bodyPr wrap="square" anchor="ctr">
                      <a:noAutofit/>
                    </a:bodyPr>
                    <a:lstStyle/>
                    <a:p>
                      <a:pPr algn="l"/>
                      <a:r>
                        <a:rPr sz="1650" b="1">
                          <a:solidFill>
                            <a:srgbClr val="FFFFFF"/>
                          </a:solidFill>
                          <a:latin typeface="Liberation Sans"/>
                          <a:ea typeface="Liberation Sans"/>
                          <a:cs typeface="Liberation Sans"/>
                        </a:rPr>
                        <a:t>Son tarih</a:t>
                      </a:r>
                    </a:p>
                  </a:txBody>
                  <a:tcPr marL="133350" marR="114300" marT="57150" marB="57150" anchor="ctr">
                    <a:solidFill>
                      <a:srgbClr val="D97706"/>
                    </a:solidFill>
                  </a:tcPr>
                </a:tc>
                <a:tc>
                  <a:txBody>
                    <a:bodyPr wrap="square" anchor="ctr">
                      <a:noAutofit/>
                    </a:bodyPr>
                    <a:lstStyle/>
                    <a:p>
                      <a:pPr algn="l"/>
                      <a:r>
                        <a:rPr sz="1650" b="1">
                          <a:solidFill>
                            <a:srgbClr val="FFFFFF"/>
                          </a:solidFill>
                          <a:latin typeface="Liberation Sans"/>
                          <a:ea typeface="Liberation Sans"/>
                          <a:cs typeface="Liberation Sans"/>
                        </a:rPr>
                        <a:t>Gecikirse etkisi</a:t>
                      </a:r>
                    </a:p>
                  </a:txBody>
                  <a:tcPr marL="133350" marR="114300" marT="57150" marB="57150" anchor="ctr">
                    <a:solidFill>
                      <a:srgbClr val="D97706"/>
                    </a:solidFill>
                  </a:tcPr>
                </a:tc>
              </a:tr>
              <a:tr h="762000">
                <a:tc>
                  <a:txBody>
                    <a:bodyPr wrap="square" anchor="ctr">
                      <a:noAutofit/>
                    </a:bodyPr>
                    <a:lstStyle/>
                    <a:p>
                      <a:pPr algn="l"/>
                      <a:r>
                        <a:rPr sz="1875" b="1">
                          <a:solidFill>
                            <a:srgbClr val="26394D"/>
                          </a:solidFill>
                          <a:latin typeface="Liberation Sans"/>
                          <a:ea typeface="Liberation Sans"/>
                          <a:cs typeface="Liberation Sans"/>
                        </a:rPr>
                        <a:t>Üretim Hattı</a:t>
                      </a:r>
                    </a:p>
                  </a:txBody>
                  <a:tcPr marL="133350" marR="114300" marT="95250" marB="95250" anchor="ctr">
                    <a:solidFill>
                      <a:srgbClr val="FFFFFF"/>
                    </a:solidFill>
                  </a:tcPr>
                </a:tc>
                <a:tc>
                  <a:txBody>
                    <a:bodyPr wrap="square" anchor="ctr">
                      <a:noAutofit/>
                    </a:bodyPr>
                    <a:lstStyle/>
                    <a:p>
                      <a:pPr algn="l"/>
                      <a:r>
                        <a:rPr sz="1875" b="0">
                          <a:solidFill>
                            <a:srgbClr val="26394D"/>
                          </a:solidFill>
                          <a:latin typeface="Liberation Sans"/>
                          <a:ea typeface="Liberation Sans"/>
                          <a:cs typeface="Liberation Sans"/>
                        </a:rPr>
                        <a:t>Alternatif motor tedarikçisini onaylayın.</a:t>
                      </a:r>
                    </a:p>
                  </a:txBody>
                  <a:tcPr marL="133350" marR="114300" marT="95250" marB="95250" anchor="ctr">
                    <a:solidFill>
                      <a:srgbClr val="FFF6E7"/>
                    </a:solidFill>
                  </a:tcPr>
                </a:tc>
                <a:tc>
                  <a:txBody>
                    <a:bodyPr wrap="square" anchor="ctr">
                      <a:noAutofit/>
                    </a:bodyPr>
                    <a:lstStyle/>
                    <a:p>
                      <a:pPr algn="l"/>
                      <a:r>
                        <a:rPr sz="1875" b="0">
                          <a:solidFill>
                            <a:srgbClr val="26394D"/>
                          </a:solidFill>
                          <a:latin typeface="Liberation Sans"/>
                          <a:ea typeface="Liberation Sans"/>
                          <a:cs typeface="Liberation Sans"/>
                        </a:rPr>
                        <a:t>Operasyon Direktörü</a:t>
                      </a:r>
                    </a:p>
                  </a:txBody>
                  <a:tcPr marL="133350" marR="114300" marT="95250" marB="95250" anchor="ctr">
                    <a:solidFill>
                      <a:srgbClr val="FFFFFF"/>
                    </a:solidFill>
                  </a:tcPr>
                </a:tc>
                <a:tc>
                  <a:txBody>
                    <a:bodyPr wrap="square" anchor="ctr">
                      <a:noAutofit/>
                    </a:bodyPr>
                    <a:lstStyle/>
                    <a:p>
                      <a:pPr algn="l"/>
                      <a:r>
                        <a:rPr sz="1875" b="0">
                          <a:solidFill>
                            <a:srgbClr val="26394D"/>
                          </a:solidFill>
                          <a:latin typeface="Liberation Sans"/>
                          <a:ea typeface="Liberation Sans"/>
                          <a:cs typeface="Liberation Sans"/>
                        </a:rPr>
                        <a:t>20.10</a:t>
                      </a:r>
                    </a:p>
                  </a:txBody>
                  <a:tcPr marL="133350" marR="114300" marT="95250" marB="95250" anchor="ctr">
                    <a:solidFill>
                      <a:srgbClr val="FFFFFF"/>
                    </a:solidFill>
                  </a:tcPr>
                </a:tc>
                <a:tc>
                  <a:txBody>
                    <a:bodyPr wrap="square" anchor="ctr">
                      <a:noAutofit/>
                    </a:bodyPr>
                    <a:lstStyle/>
                    <a:p>
                      <a:pPr algn="l"/>
                      <a:r>
                        <a:rPr sz="1875" b="0">
                          <a:solidFill>
                            <a:srgbClr val="26394D"/>
                          </a:solidFill>
                          <a:latin typeface="Liberation Sans"/>
                          <a:ea typeface="Liberation Sans"/>
                          <a:cs typeface="Liberation Sans"/>
                        </a:rPr>
                        <a:t>Kurulum 7 gün ötelenebilir.</a:t>
                      </a:r>
                    </a:p>
                  </a:txBody>
                  <a:tcPr marL="133350" marR="114300" marT="95250" marB="95250" anchor="ctr">
                    <a:solidFill>
                      <a:srgbClr val="FFFFFF"/>
                    </a:solidFill>
                  </a:tcPr>
                </a:tc>
              </a:tr>
              <a:tr h="762000">
                <a:tc>
                  <a:txBody>
                    <a:bodyPr wrap="square" anchor="ctr">
                      <a:noAutofit/>
                    </a:bodyPr>
                    <a:lstStyle/>
                    <a:p>
                      <a:pPr algn="l"/>
                      <a:r>
                        <a:rPr sz="1875" b="1">
                          <a:solidFill>
                            <a:srgbClr val="26394D"/>
                          </a:solidFill>
                          <a:latin typeface="Liberation Sans"/>
                          <a:ea typeface="Liberation Sans"/>
                          <a:cs typeface="Liberation Sans"/>
                        </a:rPr>
                        <a:t>Müşteri Portalı</a:t>
                      </a:r>
                    </a:p>
                  </a:txBody>
                  <a:tcPr marL="133350" marR="114300" marT="95250" marB="95250" anchor="ctr">
                    <a:solidFill>
                      <a:srgbClr val="F2F6FB"/>
                    </a:solidFill>
                  </a:tcPr>
                </a:tc>
                <a:tc>
                  <a:txBody>
                    <a:bodyPr wrap="square" anchor="ctr">
                      <a:noAutofit/>
                    </a:bodyPr>
                    <a:lstStyle/>
                    <a:p>
                      <a:pPr algn="l"/>
                      <a:r>
                        <a:rPr sz="1875" b="0">
                          <a:solidFill>
                            <a:srgbClr val="26394D"/>
                          </a:solidFill>
                          <a:latin typeface="Liberation Sans"/>
                          <a:ea typeface="Liberation Sans"/>
                          <a:cs typeface="Liberation Sans"/>
                        </a:rPr>
                        <a:t>121 bin TL ek bütçe onayı.</a:t>
                      </a:r>
                    </a:p>
                  </a:txBody>
                  <a:tcPr marL="133350" marR="114300" marT="95250" marB="95250" anchor="ctr">
                    <a:solidFill>
                      <a:srgbClr val="FFF6E7"/>
                    </a:solidFill>
                  </a:tcPr>
                </a:tc>
                <a:tc>
                  <a:txBody>
                    <a:bodyPr wrap="square" anchor="ctr">
                      <a:noAutofit/>
                    </a:bodyPr>
                    <a:lstStyle/>
                    <a:p>
                      <a:pPr algn="l"/>
                      <a:r>
                        <a:rPr sz="1875" b="0">
                          <a:solidFill>
                            <a:srgbClr val="26394D"/>
                          </a:solidFill>
                          <a:latin typeface="Liberation Sans"/>
                          <a:ea typeface="Liberation Sans"/>
                          <a:cs typeface="Liberation Sans"/>
                        </a:rPr>
                        <a:t>Genel Müdür / Finans</a:t>
                      </a:r>
                    </a:p>
                  </a:txBody>
                  <a:tcPr marL="133350" marR="114300" marT="95250" marB="95250" anchor="ctr">
                    <a:solidFill>
                      <a:srgbClr val="F2F6FB"/>
                    </a:solidFill>
                  </a:tcPr>
                </a:tc>
                <a:tc>
                  <a:txBody>
                    <a:bodyPr wrap="square" anchor="ctr">
                      <a:noAutofit/>
                    </a:bodyPr>
                    <a:lstStyle/>
                    <a:p>
                      <a:pPr algn="l"/>
                      <a:r>
                        <a:rPr sz="1875" b="0">
                          <a:solidFill>
                            <a:srgbClr val="26394D"/>
                          </a:solidFill>
                          <a:latin typeface="Liberation Sans"/>
                          <a:ea typeface="Liberation Sans"/>
                          <a:cs typeface="Liberation Sans"/>
                        </a:rPr>
                        <a:t>19.10</a:t>
                      </a:r>
                    </a:p>
                  </a:txBody>
                  <a:tcPr marL="133350" marR="114300" marT="95250" marB="95250" anchor="ctr">
                    <a:solidFill>
                      <a:srgbClr val="F2F6FB"/>
                    </a:solidFill>
                  </a:tcPr>
                </a:tc>
                <a:tc>
                  <a:txBody>
                    <a:bodyPr wrap="square" anchor="ctr">
                      <a:noAutofit/>
                    </a:bodyPr>
                    <a:lstStyle/>
                    <a:p>
                      <a:pPr algn="l"/>
                      <a:r>
                        <a:rPr sz="1875" b="0">
                          <a:solidFill>
                            <a:srgbClr val="26394D"/>
                          </a:solidFill>
                          <a:latin typeface="Liberation Sans"/>
                          <a:ea typeface="Liberation Sans"/>
                          <a:cs typeface="Liberation Sans"/>
                        </a:rPr>
                        <a:t>Güvenlik testleri gecikebilir.</a:t>
                      </a:r>
                    </a:p>
                  </a:txBody>
                  <a:tcPr marL="133350" marR="114300" marT="95250" marB="95250" anchor="ctr">
                    <a:solidFill>
                      <a:srgbClr val="F2F6FB"/>
                    </a:solidFill>
                  </a:tcPr>
                </a:tc>
              </a:tr>
              <a:tr h="762000">
                <a:tc>
                  <a:txBody>
                    <a:bodyPr wrap="square" anchor="ctr">
                      <a:noAutofit/>
                    </a:bodyPr>
                    <a:lstStyle/>
                    <a:p>
                      <a:pPr algn="l"/>
                      <a:r>
                        <a:rPr sz="1875" b="1">
                          <a:solidFill>
                            <a:srgbClr val="26394D"/>
                          </a:solidFill>
                          <a:latin typeface="Liberation Sans"/>
                          <a:ea typeface="Liberation Sans"/>
                          <a:cs typeface="Liberation Sans"/>
                        </a:rPr>
                        <a:t>Depo Otomasyonu</a:t>
                      </a:r>
                    </a:p>
                  </a:txBody>
                  <a:tcPr marL="133350" marR="114300" marT="95250" marB="95250" anchor="ctr">
                    <a:solidFill>
                      <a:srgbClr val="FFFFFF"/>
                    </a:solidFill>
                  </a:tcPr>
                </a:tc>
                <a:tc>
                  <a:txBody>
                    <a:bodyPr wrap="square" anchor="ctr">
                      <a:noAutofit/>
                    </a:bodyPr>
                    <a:lstStyle/>
                    <a:p>
                      <a:pPr algn="l"/>
                      <a:r>
                        <a:rPr sz="1875" b="0">
                          <a:solidFill>
                            <a:srgbClr val="26394D"/>
                          </a:solidFill>
                          <a:latin typeface="Liberation Sans"/>
                          <a:ea typeface="Liberation Sans"/>
                          <a:cs typeface="Liberation Sans"/>
                        </a:rPr>
                        <a:t>Pilot kurulum için 2 günlük saha desteği.</a:t>
                      </a:r>
                    </a:p>
                  </a:txBody>
                  <a:tcPr marL="133350" marR="114300" marT="95250" marB="95250" anchor="ctr">
                    <a:solidFill>
                      <a:srgbClr val="FFF6E7"/>
                    </a:solidFill>
                  </a:tcPr>
                </a:tc>
                <a:tc>
                  <a:txBody>
                    <a:bodyPr wrap="square" anchor="ctr">
                      <a:noAutofit/>
                    </a:bodyPr>
                    <a:lstStyle/>
                    <a:p>
                      <a:pPr algn="l"/>
                      <a:r>
                        <a:rPr sz="1875" b="0">
                          <a:solidFill>
                            <a:srgbClr val="26394D"/>
                          </a:solidFill>
                          <a:latin typeface="Liberation Sans"/>
                          <a:ea typeface="Liberation Sans"/>
                          <a:cs typeface="Liberation Sans"/>
                        </a:rPr>
                        <a:t>Üretim Direktörü</a:t>
                      </a:r>
                    </a:p>
                  </a:txBody>
                  <a:tcPr marL="133350" marR="114300" marT="95250" marB="95250" anchor="ctr">
                    <a:solidFill>
                      <a:srgbClr val="FFFFFF"/>
                    </a:solidFill>
                  </a:tcPr>
                </a:tc>
                <a:tc>
                  <a:txBody>
                    <a:bodyPr wrap="square" anchor="ctr">
                      <a:noAutofit/>
                    </a:bodyPr>
                    <a:lstStyle/>
                    <a:p>
                      <a:pPr algn="l"/>
                      <a:r>
                        <a:rPr sz="1875" b="0">
                          <a:solidFill>
                            <a:srgbClr val="26394D"/>
                          </a:solidFill>
                          <a:latin typeface="Liberation Sans"/>
                          <a:ea typeface="Liberation Sans"/>
                          <a:cs typeface="Liberation Sans"/>
                        </a:rPr>
                        <a:t>16.10</a:t>
                      </a:r>
                    </a:p>
                  </a:txBody>
                  <a:tcPr marL="133350" marR="114300" marT="95250" marB="95250" anchor="ctr">
                    <a:solidFill>
                      <a:srgbClr val="FFFFFF"/>
                    </a:solidFill>
                  </a:tcPr>
                </a:tc>
                <a:tc>
                  <a:txBody>
                    <a:bodyPr wrap="square" anchor="ctr">
                      <a:noAutofit/>
                    </a:bodyPr>
                    <a:lstStyle/>
                    <a:p>
                      <a:pPr algn="l"/>
                      <a:r>
                        <a:rPr sz="1875" b="0">
                          <a:solidFill>
                            <a:srgbClr val="26394D"/>
                          </a:solidFill>
                          <a:latin typeface="Liberation Sans"/>
                          <a:ea typeface="Liberation Sans"/>
                          <a:cs typeface="Liberation Sans"/>
                        </a:rPr>
                        <a:t>Kabul takvimi 14 gün sarkabilir.</a:t>
                      </a:r>
                    </a:p>
                  </a:txBody>
                  <a:tcPr marL="133350" marR="114300" marT="95250" marB="95250" anchor="ctr">
                    <a:solidFill>
                      <a:srgbClr val="FFFFFF"/>
                    </a:solidFill>
                  </a:tcPr>
                </a:tc>
              </a:tr>
            </a:tbl>
          </a:graphicData>
        </a:graphic>
      </p:graphicFrame>
    </p:spTree>
    <p:extLst>
      <p:ext uri="{BB962C8B-B14F-4D97-AF65-F5344CB8AC3E}">
        <p14:creationId xmlns:p14="http://schemas.microsoft.com/office/powerpoint/2010/main" val="2301355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2026-10-15T10:24:23.1520000Z</dcterms:created>
  <dcterms:modified xsi:type="dcterms:W3CDTF">2026-10-15T10:24:23.1520000Z</dcterms:modified>
</coreProperties>
</file>
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2.xml" ContentType="application/vnd.openxmlformats-officedocument.drawingml.chart+xml"/>
  <Override PartName="/ppt/notesSlides/notesSlide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1a35e9257124cb5" /><Relationship Type="http://schemas.openxmlformats.org/officeDocument/2006/relationships/extended-properties" Target="/docProps/app.xml" Id="Rd8bf4a39bb9d48d6" /><Relationship Type="http://schemas.openxmlformats.org/officeDocument/2006/relationships/officeDocument" Target="/ppt/presentation.xml" Id="R94fd611e5d814db1" /></Relationships>
</file>

<file path=ppt/presentation.xml><?xml version="1.0" encoding="utf-8"?>
<p:presentation xmlns:p="http://schemas.openxmlformats.org/presentationml/2006/main">
  <p:sldMasterIdLst>
    <p:sldMasterId xmlns:r="http://schemas.openxmlformats.org/officeDocument/2006/relationships" id="2147483648" r:id="R8025a3f7f7bd413b"/>
  </p:sldMasterIdLst>
  <p:notesMasterIdLst>
    <p:notesMasterId xmlns:r="http://schemas.openxmlformats.org/officeDocument/2006/relationships" r:id="R567c4633c788420e"/>
  </p:notesMasterIdLst>
  <p:sldIdLst>
    <p:sldId xmlns:r="http://schemas.openxmlformats.org/officeDocument/2006/relationships" id="256" r:id="R0d5cda412ccf465b"/>
    <p:sldId xmlns:r="http://schemas.openxmlformats.org/officeDocument/2006/relationships" id="257" r:id="Rfb661ced00f74358"/>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a4fb8aa21df4d32" /><Relationship Type="http://schemas.openxmlformats.org/officeDocument/2006/relationships/slideMaster" Target="/ppt/slideMasters/slideMaster1.xml" Id="R8025a3f7f7bd413b" /><Relationship Type="http://schemas.openxmlformats.org/officeDocument/2006/relationships/notesMaster" Target="/ppt/notesMasters/notesMaster1.xml" Id="R567c4633c788420e" /><Relationship Type="http://schemas.openxmlformats.org/officeDocument/2006/relationships/presProps" Target="/ppt/presProps.xml" Id="R1d6ddae356534478" /><Relationship Type="http://schemas.openxmlformats.org/officeDocument/2006/relationships/tableStyles" Target="/ppt/tableStyles.xml" Id="R013cfb498a4c4897" /><Relationship Type="http://schemas.openxmlformats.org/officeDocument/2006/relationships/slide" Target="/ppt/slides/slide1.xml" Id="R0d5cda412ccf465b" /><Relationship Type="http://schemas.openxmlformats.org/officeDocument/2006/relationships/slide" Target="/ppt/slides/slide2.xml" Id="Rfb661ced00f743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6dc29beee048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caf7f032254b41" /><Relationship Type="http://schemas.openxmlformats.org/officeDocument/2006/relationships/notesMaster" Target="/ppt/notesMasters/notesMaster1.xml" Id="Re5840197fd4e40a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83a3b5dabf744bd" /><Relationship Type="http://schemas.openxmlformats.org/officeDocument/2006/relationships/notesMaster" Target="/ppt/notesMasters/notesMaster1.xml" Id="R4d471da3ec7441e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Tek proje için doldurulabilir haftalık sunum örneği. Ad, tarihler, maliyetler, departmanlar ve riskler varsayımsal örneklerdir. Üretim tamamlanması önceki kullanıcı örneğindeki yüzde 30 ile başlar. Plan yüzde 40 örnektir. İlerleme farkı gerçek eksi plan = -10 yüzde puanı. Bitiş tahmini 20 Kasım 2026, baz plan 13 Kasım 2026: 7 takvim günü gecikme. Takvim başlıkları pazartesi başlayan haftaları gösterir. Güncel yazan turuncu hücreler revize çalışma haftasıdır, Plan yazan mavi hücreler baz takvimdir. Efor saatleri rapor tarihine kadar birikimlidir; kişi sayıları departman bazında farklı çalışanları temsil eder. 240 saat ve ortalama 1000 TL/saat, 240 bin TL gerçekleşen efor maliyetine karşılık gelir. Proje toplam tamamlanma oranı yönetici tarafından girilir, aşamaların aritmetik ortalaması değildir.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Tüm maliyet ve bütçe tutarları örnektir, bin TL ve KDV hariçtir. Efor: gerçekleşen 240 + kalan 360 = 600. Alınan malzeme: 180. Alınacak malzeme: 320. Gerçekleşen toplam: 240 + 180 + 0 = 420. Kalan toplam: 360 + 0 + 320 = 680. Tahmini proje maliyeti: 420 + 680 = 1100. Bütçe: 1200. Öngörülen bütçe payı: 1200 - 1100 = 100; bu tutar bütçe eksi gerçekleşen harcama değildir. 1200 - 420 = 780 henüz harcanmamış bütçedir. Motor teslimi riski kurulum ve proje bitişini 7 gün öteleyebilir. Saha kapasitesi riski test kaynağını azaltabilir. Risklere ilişkin sorumlular ve aksiyon tarihleri tabloda gösterilir.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3b1098902b344f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ec59d71e143c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d9b770f1eba41a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19e4500a0df4b1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ff9b5d31e8f4cc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4f3cf50632e4f3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1A161F-0F44-4559-BA71-DC4897594132}"/>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033E58B-BB53-4D1E-B6DB-7F32A56BB55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A3348A-F3D1-4296-8CAA-4077C88F6853}"/>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52CB86-E2E2-4F83-ABFB-F3240EEFDBC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467617B-0784-49D2-B94C-87EBEE28D804}"/>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9020DD8-437A-46C9-A3FA-75A4E42743BD}"/>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7E1A18-06E4-410C-9FBF-A4D3C9FCA96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99BBED1-66CC-48CF-9AA3-2ADF3C1FD21C}"/>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9F99E7-7626-42DE-8AF2-6A6F4831275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8014B71-0CEC-46B1-9FD4-99986C91F64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1e5856a7dd04de5" /><Relationship Type="http://schemas.openxmlformats.org/officeDocument/2006/relationships/slideLayout" Target="/ppt/slideLayouts/slideLayout1.xml" Id="R7d6d2a02d9cf4b4e" /><Relationship Type="http://schemas.openxmlformats.org/officeDocument/2006/relationships/slideLayout" Target="/ppt/slideLayouts/slideLayout2.xml" Id="Rf8ada72261fe46cc" /><Relationship Type="http://schemas.openxmlformats.org/officeDocument/2006/relationships/slideLayout" Target="/ppt/slideLayouts/slideLayout3.xml" Id="R36dc7504d7f14f79" /><Relationship Type="http://schemas.openxmlformats.org/officeDocument/2006/relationships/slideLayout" Target="/ppt/slideLayouts/slideLayout4.xml" Id="R80436848c8f84d9b" /><Relationship Type="http://schemas.openxmlformats.org/officeDocument/2006/relationships/slideLayout" Target="/ppt/slideLayouts/slideLayout5.xml" Id="R6732539328084d9c" /><Relationship Type="http://schemas.openxmlformats.org/officeDocument/2006/relationships/slideLayout" Target="/ppt/slideLayouts/slideLayout6.xml" Id="R05742ff555a04d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6d2a02d9cf4b4e"/>
    <p:sldLayoutId xmlns:r="http://schemas.openxmlformats.org/officeDocument/2006/relationships" id="2147483650" r:id="Rf8ada72261fe46cc"/>
    <p:sldLayoutId xmlns:r="http://schemas.openxmlformats.org/officeDocument/2006/relationships" id="2147483651" r:id="R36dc7504d7f14f79"/>
    <p:sldLayoutId xmlns:r="http://schemas.openxmlformats.org/officeDocument/2006/relationships" id="2147483652" r:id="R80436848c8f84d9b"/>
    <p:sldLayoutId xmlns:r="http://schemas.openxmlformats.org/officeDocument/2006/relationships" id="2147483653" r:id="R6732539328084d9c"/>
    <p:sldLayoutId xmlns:r="http://schemas.openxmlformats.org/officeDocument/2006/relationships" id="2147483654" r:id="R05742ff555a04d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16091107062494d" /><Relationship Type="http://schemas.openxmlformats.org/officeDocument/2006/relationships/chart" Target="/ppt/slides/charts/chart1.xml" Id="R9a3613a90e2648a8" /><Relationship Type="http://schemas.openxmlformats.org/officeDocument/2006/relationships/notesSlide" Target="/ppt/notesSlides/notesSlide1.xml" Id="R5e31c916cc7344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32a93027ac54754" /><Relationship Type="http://schemas.openxmlformats.org/officeDocument/2006/relationships/chart" Target="/ppt/slides/charts/chart2.xml" Id="Ra7eb649ecdfd4837" /><Relationship Type="http://schemas.openxmlformats.org/officeDocument/2006/relationships/notesSlide" Target="/ppt/notesSlides/notesSlide2.xml" Id="R98c80a61cb7845b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025" b="1">
                <a:solidFill>
                  <a:srgbClr val="14344B"/>
                </a:solidFill>
                <a:latin typeface="Liberation Sans"/>
                <a:ea typeface="Liberation Sans"/>
                <a:cs typeface="Liberation Sans"/>
              </a:rPr>
              <a:t>Tamamlanma durumu</a:t>
            </a:r>
          </a:p>
        </c:rich>
      </c:tx>
      <c:overlay val="0"/>
      <c:txPr>
        <a:bodyPr xmlns:a="http://schemas.openxmlformats.org/drawingml/2006/main" anchorCtr="1"/>
        <a:lstStyle xmlns:a="http://schemas.openxmlformats.org/drawingml/2006/main"/>
        <a:p xmlns:a="http://schemas.openxmlformats.org/drawingml/2006/main">
          <a:pPr>
            <a:defRPr sz="2025" b="1">
              <a:solidFill>
                <a:srgbClr val="14344B"/>
              </a:solidFill>
              <a:latin typeface="Liberation Sans"/>
              <a:ea typeface="Liberation Sans"/>
              <a:cs typeface="Liberation Sans"/>
            </a:defRPr>
          </a:pPr>
        </a:p>
      </c:txPr>
    </c:title>
    <c:plotArea>
      <c:barChart>
        <c:barDir val="bar"/>
        <c:grouping val="clustered"/>
        <c:varyColors val="0"/>
        <c:ser>
          <c:idx val="0"/>
          <c:order val="0"/>
          <c:tx>
            <c:v>Tamamlanma (%)</c:v>
          </c:tx>
          <c:dPt>
            <c:idx val="0"/>
            <c:invertIfNegative val="0"/>
            <c:spPr>
              <a:solidFill xmlns:a="http://schemas.openxmlformats.org/drawingml/2006/main">
                <a:srgbClr val="B8CEF0"/>
              </a:solidFill>
            </c:spPr>
          </c:dPt>
          <c:dPt>
            <c:idx val="1"/>
            <c:invertIfNegative val="0"/>
            <c:spPr>
              <a:solidFill xmlns:a="http://schemas.openxmlformats.org/drawingml/2006/main">
                <a:srgbClr val="2563EB"/>
              </a:solidFill>
            </c:spPr>
          </c:dPt>
          <c:cat>
            <c:strRef>
              <c:f>'Chart Data'!$A$2:$A$3</c:f>
              <c:strCache>
                <c:ptCount val="2"/>
                <c:pt idx="0">
                  <c:v>Plan</c:v>
                </c:pt>
                <c:pt idx="1">
                  <c:v>Gerçek</c:v>
                </c:pt>
              </c:strCache>
            </c:strRef>
          </c:cat>
          <c:val>
            <c:numRef>
              <c:f>'Chart Data'!$B$2:$B$3</c:f>
              <c:numCache>
                <c:formatCode>0"%"</c:formatCode>
                <c:ptCount val="2"/>
                <c:pt idx="0">
                  <c:v>40</c:v>
                </c:pt>
                <c:pt idx="1">
                  <c:v>30</c:v>
                </c:pt>
              </c:numCache>
            </c:numRef>
          </c:val>
        </c:ser>
        <c:dLbls>
          <c:numFmt formatCode="0&quot;%&quot;" sourceLinked="0"/>
          <c:txPr>
            <a:bodyPr xmlns:a="http://schemas.openxmlformats.org/drawingml/2006/main" anchorCtr="1"/>
            <a:lstStyle xmlns:a="http://schemas.openxmlformats.org/drawingml/2006/main"/>
            <a:p xmlns:a="http://schemas.openxmlformats.org/drawingml/2006/main">
              <a:pPr>
                <a:defRPr sz="2400" b="1">
                  <a:solidFill>
                    <a:srgbClr val="14344B"/>
                  </a:solidFill>
                  <a:latin typeface="Liberation Sans"/>
                  <a:ea typeface="Liberation Sans"/>
                  <a:cs typeface="Liberation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CE5EB"/>
            </a:solidFill>
          </a:ln>
        </c:spPr>
        <c:txPr>
          <a:bodyPr xmlns:a="http://schemas.openxmlformats.org/drawingml/2006/main" anchorCtr="1"/>
          <a:lstStyle xmlns:a="http://schemas.openxmlformats.org/drawingml/2006/main"/>
          <a:p xmlns:a="http://schemas.openxmlformats.org/drawingml/2006/main">
            <a:pPr>
              <a:defRPr sz="1800">
                <a:solidFill>
                  <a:srgbClr val="273F50"/>
                </a:solidFill>
                <a:latin typeface="Liberation Sans"/>
                <a:ea typeface="Liberation Sans"/>
                <a:cs typeface="Liberation Sans"/>
              </a:defRPr>
            </a:pPr>
          </a:p>
        </c:txPr>
        <c:crossAx val="48672768"/>
      </c:catAx>
      <c:valAx>
        <c:axId val="48672768"/>
        <c:scaling>
          <c:orientation val="minMax"/>
          <c:max val="100"/>
          <c:min val="0"/>
        </c:scaling>
        <c:delete val="0"/>
        <c:axPos val="b"/>
        <c:majorGridlines>
          <c:spPr>
            <a:ln xmlns:a="http://schemas.openxmlformats.org/drawingml/2006/main" w="9525">
              <a:solidFill>
                <a:srgbClr val="DCE5EB"/>
              </a:solidFill>
              <a:prstDash val="solid"/>
            </a:ln>
          </c:spPr>
        </c:majorGridlines>
        <c:numFmt formatCode="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1778A"/>
                </a:solidFill>
                <a:latin typeface="Liberation Sans"/>
                <a:ea typeface="Liberation Sans"/>
                <a:cs typeface="Liberation Sans"/>
              </a:defRPr>
            </a:pPr>
          </a:p>
        </c:txPr>
        <c:crossAx val="48650112"/>
        <c:crossBetween val="between"/>
        <c:majorUnit val="25"/>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b="1">
                <a:solidFill>
                  <a:srgbClr val="14344B"/>
                </a:solidFill>
                <a:latin typeface="Liberation Sans"/>
                <a:ea typeface="Liberation Sans"/>
                <a:cs typeface="Liberation Sans"/>
              </a:rPr>
              <a:t>Bütçe karşılaştırması (bin TL)</a:t>
            </a:r>
          </a:p>
        </c:rich>
      </c:tx>
      <c:overlay val="0"/>
      <c:txPr>
        <a:bodyPr xmlns:a="http://schemas.openxmlformats.org/drawingml/2006/main" anchorCtr="1"/>
        <a:lstStyle xmlns:a="http://schemas.openxmlformats.org/drawingml/2006/main"/>
        <a:p xmlns:a="http://schemas.openxmlformats.org/drawingml/2006/main">
          <a:pPr>
            <a:defRPr sz="1875" b="1">
              <a:solidFill>
                <a:srgbClr val="14344B"/>
              </a:solidFill>
              <a:latin typeface="Liberation Sans"/>
              <a:ea typeface="Liberation Sans"/>
              <a:cs typeface="Liberation Sans"/>
            </a:defRPr>
          </a:pPr>
        </a:p>
      </c:txPr>
    </c:title>
    <c:plotArea>
      <c:barChart>
        <c:barDir val="bar"/>
        <c:grouping val="clustered"/>
        <c:varyColors val="0"/>
        <c:ser>
          <c:idx val="0"/>
          <c:order val="0"/>
          <c:tx>
            <c:v>Bin TL</c:v>
          </c:tx>
          <c:dPt>
            <c:idx val="0"/>
            <c:invertIfNegative val="0"/>
            <c:spPr>
              <a:solidFill xmlns:a="http://schemas.openxmlformats.org/drawingml/2006/main">
                <a:srgbClr val="2563EB"/>
              </a:solidFill>
            </c:spPr>
          </c:dPt>
          <c:dPt>
            <c:idx val="1"/>
            <c:invertIfNegative val="0"/>
            <c:spPr>
              <a:solidFill xmlns:a="http://schemas.openxmlformats.org/drawingml/2006/main">
                <a:srgbClr val="D97B0A"/>
              </a:solidFill>
            </c:spPr>
          </c:dPt>
          <c:dPt>
            <c:idx val="2"/>
            <c:invertIfNegative val="0"/>
            <c:spPr>
              <a:solidFill xmlns:a="http://schemas.openxmlformats.org/drawingml/2006/main">
                <a:srgbClr val="008E86"/>
              </a:solidFill>
            </c:spPr>
          </c:dPt>
          <c:cat>
            <c:strRef>
              <c:f>'Chart Data'!$A$2:$A$4</c:f>
              <c:strCache>
                <c:ptCount val="3"/>
                <c:pt idx="0">
                  <c:v>Gerçekleşen</c:v>
                </c:pt>
                <c:pt idx="1">
                  <c:v>Tahmini toplam</c:v>
                </c:pt>
                <c:pt idx="2">
                  <c:v>Bütçe</c:v>
                </c:pt>
              </c:strCache>
            </c:strRef>
          </c:cat>
          <c:val>
            <c:numRef>
              <c:f>'Chart Data'!$B$2:$B$4</c:f>
              <c:numCache>
                <c:formatCode>0</c:formatCode>
                <c:ptCount val="3"/>
                <c:pt idx="0">
                  <c:v>420</c:v>
                </c:pt>
                <c:pt idx="1">
                  <c:v>1100</c:v>
                </c:pt>
                <c:pt idx="2">
                  <c:v>1200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875" b="1">
                  <a:solidFill>
                    <a:srgbClr val="14344B"/>
                  </a:solidFill>
                  <a:latin typeface="Liberation Sans"/>
                  <a:ea typeface="Liberation Sans"/>
                  <a:cs typeface="Liberation Sans"/>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CE5EB"/>
            </a:solidFill>
          </a:ln>
        </c:spPr>
        <c:txPr>
          <a:bodyPr xmlns:a="http://schemas.openxmlformats.org/drawingml/2006/main" anchorCtr="1"/>
          <a:lstStyle xmlns:a="http://schemas.openxmlformats.org/drawingml/2006/main"/>
          <a:p xmlns:a="http://schemas.openxmlformats.org/drawingml/2006/main">
            <a:pPr>
              <a:defRPr sz="1650">
                <a:solidFill>
                  <a:srgbClr val="273F50"/>
                </a:solidFill>
                <a:latin typeface="Liberation Sans"/>
                <a:ea typeface="Liberation Sans"/>
                <a:cs typeface="Liberation Sans"/>
              </a:defRPr>
            </a:pPr>
          </a:p>
        </c:txPr>
        <c:crossAx val="48672768"/>
      </c:catAx>
      <c:valAx>
        <c:axId val="48672768"/>
        <c:scaling>
          <c:orientation val="minMax"/>
          <c:max val="1500"/>
          <c:min val="0"/>
        </c:scaling>
        <c:delete val="0"/>
        <c:axPos val="b"/>
        <c:majorGridlines>
          <c:spPr>
            <a:ln xmlns:a="http://schemas.openxmlformats.org/drawingml/2006/main" w="9525">
              <a:solidFill>
                <a:srgbClr val="DCE5EB"/>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1778A"/>
                </a:solidFill>
                <a:latin typeface="Liberation Sans"/>
                <a:ea typeface="Liberation Sans"/>
                <a:cs typeface="Liberation Sans"/>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itle">
            <a:extLst xmlns:a="http://schemas.openxmlformats.org/drawingml/2006/main">
              <a:ext uri="{FF2B5EF4-FFF2-40B4-BE49-F238E27FC236}">
                <a16:creationId xmlns:a16="http://schemas.microsoft.com/office/drawing/2014/main" id="{9E59638F-EFA4-4A91-916E-335D27E8AF37}"/>
              </a:ext>
            </a:extLst>
          </p:cNvPr>
          <p:cNvSpPr>
            <a:spLocks xmlns:a="http://schemas.openxmlformats.org/drawingml/2006/main" noGrp="1"/>
          </p:cNvSpPr>
          <p:nvPr/>
        </p:nvSpPr>
        <p:spPr>
          <a:xfrm xmlns:a="http://schemas.openxmlformats.org/drawingml/2006/main">
            <a:off x="457200" y="266700"/>
            <a:ext cx="14325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14344B"/>
                </a:solidFill>
                <a:latin typeface="Liberation Sans"/>
                <a:ea typeface="Liberation Sans"/>
                <a:cs typeface="Liberation Sans"/>
              </a:defRPr>
            </a:defPPr>
          </a:lstStyle>
          <a:p xmlns:a="http://schemas.openxmlformats.org/drawingml/2006/main">
            <a:pPr algn="l">
              <a:defRPr sz="3300" b="1">
                <a:solidFill>
                  <a:srgbClr val="14344B"/>
                </a:solidFill>
                <a:latin typeface="Liberation Sans"/>
                <a:ea typeface="Liberation Sans"/>
                <a:cs typeface="Liberation Sans"/>
              </a:defRPr>
            </a:pPr>
            <a:r>
              <a:rPr sz="3300" b="1">
                <a:solidFill>
                  <a:srgbClr val="14344B"/>
                </a:solidFill>
                <a:latin typeface="Liberation Sans"/>
                <a:ea typeface="Liberation Sans"/>
                <a:cs typeface="Liberation Sans"/>
              </a:rPr>
              <a:t>Proje takvimi</a:t>
            </a:r>
          </a:p>
        </p:txBody>
      </p:sp>
      <p:sp>
        <p:nvSpPr>
          <p:cNvPr id="2" name="project">
            <a:extLst xmlns:a="http://schemas.openxmlformats.org/drawingml/2006/main">
              <a:ext uri="{FF2B5EF4-FFF2-40B4-BE49-F238E27FC236}">
                <a16:creationId xmlns:a16="http://schemas.microsoft.com/office/drawing/2014/main" id="{F8B49C8A-80C9-4740-9F43-36BBD99A9C7F}"/>
              </a:ext>
            </a:extLst>
          </p:cNvPr>
          <p:cNvSpPr>
            <a:spLocks xmlns:a="http://schemas.openxmlformats.org/drawingml/2006/main" noGrp="1"/>
          </p:cNvSpPr>
          <p:nvPr/>
        </p:nvSpPr>
        <p:spPr>
          <a:xfrm xmlns:a="http://schemas.openxmlformats.org/drawingml/2006/main">
            <a:off x="457200" y="847725"/>
            <a:ext cx="14325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008E86"/>
                </a:solidFill>
                <a:latin typeface="Liberation Sans"/>
                <a:ea typeface="Liberation Sans"/>
                <a:cs typeface="Liberation Sans"/>
              </a:defRPr>
            </a:defPPr>
          </a:lstStyle>
          <a:p xmlns:a="http://schemas.openxmlformats.org/drawingml/2006/main">
            <a:pPr algn="l">
              <a:defRPr sz="2250" b="1">
                <a:solidFill>
                  <a:srgbClr val="008E86"/>
                </a:solidFill>
                <a:latin typeface="Liberation Sans"/>
                <a:ea typeface="Liberation Sans"/>
                <a:cs typeface="Liberation Sans"/>
              </a:defRPr>
            </a:pPr>
            <a:r>
              <a:rPr sz="2250" b="1">
                <a:solidFill>
                  <a:srgbClr val="008E86"/>
                </a:solidFill>
                <a:latin typeface="Liberation Sans"/>
                <a:ea typeface="Liberation Sans"/>
                <a:cs typeface="Liberation Sans"/>
              </a:rPr>
              <a:t>Üretim Hattı Modernizasyonu</a:t>
            </a:r>
          </a:p>
        </p:txBody>
      </p:sp>
      <p:sp>
        <p:nvSpPr>
          <p:cNvPr id="3" name="report">
            <a:extLst xmlns:a="http://schemas.openxmlformats.org/drawingml/2006/main">
              <a:ext uri="{FF2B5EF4-FFF2-40B4-BE49-F238E27FC236}">
                <a16:creationId xmlns:a16="http://schemas.microsoft.com/office/drawing/2014/main" id="{1AF54724-D850-409B-A169-CD499718802F}"/>
              </a:ext>
            </a:extLst>
          </p:cNvPr>
          <p:cNvSpPr>
            <a:spLocks xmlns:a="http://schemas.openxmlformats.org/drawingml/2006/main" noGrp="1"/>
          </p:cNvSpPr>
          <p:nvPr/>
        </p:nvSpPr>
        <p:spPr>
          <a:xfrm xmlns:a="http://schemas.openxmlformats.org/drawingml/2006/main">
            <a:off x="457200" y="1257300"/>
            <a:ext cx="1276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61778A"/>
                </a:solidFill>
                <a:latin typeface="Liberation Sans"/>
                <a:ea typeface="Liberation Sans"/>
                <a:cs typeface="Liberation Sans"/>
              </a:defRPr>
            </a:defPPr>
          </a:lstStyle>
          <a:p xmlns:a="http://schemas.openxmlformats.org/drawingml/2006/main">
            <a:pPr algn="l">
              <a:defRPr sz="1650" b="0">
                <a:solidFill>
                  <a:srgbClr val="61778A"/>
                </a:solidFill>
                <a:latin typeface="Liberation Sans"/>
                <a:ea typeface="Liberation Sans"/>
                <a:cs typeface="Liberation Sans"/>
              </a:defRPr>
            </a:pPr>
            <a:r>
              <a:rPr sz="1650" b="0">
                <a:solidFill>
                  <a:srgbClr val="61778A"/>
                </a:solidFill>
                <a:latin typeface="Liberation Sans"/>
                <a:ea typeface="Liberation Sans"/>
                <a:cs typeface="Liberation Sans"/>
              </a:rPr>
              <a:t>Proje yöneticisi: [Ad Soyad]     Rapor: 15 Ekim 2026     Örnek veriler</a:t>
            </a:r>
          </a:p>
        </p:txBody>
      </p:sp>
      <p:sp>
        <p:nvSpPr>
          <p:cNvPr id="4" name="page">
            <a:extLst xmlns:a="http://schemas.openxmlformats.org/drawingml/2006/main">
              <a:ext uri="{FF2B5EF4-FFF2-40B4-BE49-F238E27FC236}">
                <a16:creationId xmlns:a16="http://schemas.microsoft.com/office/drawing/2014/main" id="{33430B21-B858-4169-86EC-D62F7BE3B6E3}"/>
              </a:ext>
            </a:extLst>
          </p:cNvPr>
          <p:cNvSpPr>
            <a:spLocks xmlns:a="http://schemas.openxmlformats.org/drawingml/2006/main" noGrp="1"/>
          </p:cNvSpPr>
          <p:nvPr/>
        </p:nvSpPr>
        <p:spPr>
          <a:xfrm xmlns:a="http://schemas.openxmlformats.org/drawingml/2006/main">
            <a:off x="13811250" y="1257300"/>
            <a:ext cx="971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650" b="0">
                <a:solidFill>
                  <a:srgbClr val="61778A"/>
                </a:solidFill>
                <a:latin typeface="Liberation Sans"/>
                <a:ea typeface="Liberation Sans"/>
                <a:cs typeface="Liberation Sans"/>
              </a:defRPr>
            </a:defPPr>
          </a:lstStyle>
          <a:p xmlns:a="http://schemas.openxmlformats.org/drawingml/2006/main">
            <a:pPr algn="r">
              <a:defRPr sz="1650" b="0">
                <a:solidFill>
                  <a:srgbClr val="61778A"/>
                </a:solidFill>
                <a:latin typeface="Liberation Sans"/>
                <a:ea typeface="Liberation Sans"/>
                <a:cs typeface="Liberation Sans"/>
              </a:defRPr>
            </a:pPr>
            <a:r>
              <a:rPr sz="1650" b="0">
                <a:solidFill>
                  <a:srgbClr val="61778A"/>
                </a:solidFill>
                <a:latin typeface="Liberation Sans"/>
                <a:ea typeface="Liberation Sans"/>
                <a:cs typeface="Liberation Sans"/>
              </a:rPr>
              <a:t>1 / 2</a:t>
            </a:r>
          </a:p>
        </p:txBody>
      </p:sp>
      <p:sp>
        <p:nvSpPr>
          <p:cNvPr id="5" name="calendar-title">
            <a:extLst xmlns:a="http://schemas.openxmlformats.org/drawingml/2006/main">
              <a:ext uri="{FF2B5EF4-FFF2-40B4-BE49-F238E27FC236}">
                <a16:creationId xmlns:a16="http://schemas.microsoft.com/office/drawing/2014/main" id="{4D2B8491-05C3-423C-A56F-648295527656}"/>
              </a:ext>
            </a:extLst>
          </p:cNvPr>
          <p:cNvSpPr>
            <a:spLocks xmlns:a="http://schemas.openxmlformats.org/drawingml/2006/main" noGrp="1"/>
          </p:cNvSpPr>
          <p:nvPr/>
        </p:nvSpPr>
        <p:spPr>
          <a:xfrm xmlns:a="http://schemas.openxmlformats.org/drawingml/2006/main">
            <a:off x="457200" y="169545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4344B"/>
                </a:solidFill>
                <a:latin typeface="Liberation Sans"/>
                <a:ea typeface="Liberation Sans"/>
                <a:cs typeface="Liberation Sans"/>
              </a:defRPr>
            </a:defPPr>
          </a:lstStyle>
          <a:p xmlns:a="http://schemas.openxmlformats.org/drawingml/2006/main">
            <a:pPr algn="l">
              <a:defRPr sz="2025" b="1">
                <a:solidFill>
                  <a:srgbClr val="14344B"/>
                </a:solidFill>
                <a:latin typeface="Liberation Sans"/>
                <a:ea typeface="Liberation Sans"/>
                <a:cs typeface="Liberation Sans"/>
              </a:defRPr>
            </a:pPr>
            <a:r>
              <a:rPr sz="2025" b="1">
                <a:solidFill>
                  <a:srgbClr val="14344B"/>
                </a:solidFill>
                <a:latin typeface="Liberation Sans"/>
                <a:ea typeface="Liberation Sans"/>
                <a:cs typeface="Liberation Sans"/>
              </a:rPr>
              <a:t>Aşamalar ve kritik tarihler</a:t>
            </a:r>
          </a:p>
        </p:txBody>
      </p:sp>
      <p:graphicFrame>
        <p:nvGraphicFramePr>
          <p:cNvPr id="6" name="">
            <a:extLst xmlns:a="http://schemas.openxmlformats.org/drawingml/2006/main">
              <a:ext uri="{FF2B5EF4-FFF2-40B4-BE49-F238E27FC236}">
                <a16:creationId xmlns:a16="http://schemas.microsoft.com/office/drawing/2014/main" id="{DB4DE956-3AEE-4DD2-A54D-35DE3A275454}"/>
              </a:ext>
            </a:extLst>
          </p:cNvPr>
          <p:cNvGraphicFramePr/>
          <p:nvPr/>
        </p:nvGraphicFramePr>
        <p:xfrm>
          <a:off xmlns:a="http://schemas.openxmlformats.org/drawingml/2006/main" x="457200" y="2095500"/>
          <a:ext xmlns:a="http://schemas.openxmlformats.org/drawingml/2006/main" cx="9525000" cy="2838450"/>
        </p:xfrm>
        <a:graphic xmlns:a="http://schemas.openxmlformats.org/drawingml/2006/main">
          <a:graphicData uri="http://schemas.openxmlformats.org/drawingml/2006/table">
            <a:tbl>
              <a:tblPr firstRow="0" bandRow="0"/>
              <a:tblGrid>
                <a:gridCol w="1905000"/>
                <a:gridCol w="1619250"/>
                <a:gridCol w="857250"/>
                <a:gridCol w="857250"/>
                <a:gridCol w="857250"/>
                <a:gridCol w="857250"/>
                <a:gridCol w="857250"/>
                <a:gridCol w="857250"/>
                <a:gridCol w="857250"/>
              </a:tblGrid>
              <a:tr h="552450">
                <a:tc>
                  <a:txBody>
                    <a:bodyPr wrap="square" anchor="ctr">
                      <a:noAutofit/>
                    </a:bodyPr>
                    <a:lstStyle/>
                    <a:p>
                      <a:pPr algn="l"/>
                      <a:r>
                        <a:rPr sz="1650" b="1">
                          <a:solidFill>
                            <a:srgbClr val="FFFFFF"/>
                          </a:solidFill>
                          <a:latin typeface="Liberation Sans"/>
                          <a:ea typeface="Liberation Sans"/>
                          <a:cs typeface="Liberation Sans"/>
                        </a:rPr>
                        <a:t>Aşama</a:t>
                      </a:r>
                    </a:p>
                  </a:txBody>
                  <a:tcPr marL="57150" marR="57150" marT="19050" marB="19050">
                    <a:solidFill>
                      <a:srgbClr val="14344B"/>
                    </a:solidFill>
                  </a:tcPr>
                </a:tc>
                <a:tc>
                  <a:txBody>
                    <a:bodyPr wrap="square" anchor="ctr">
                      <a:noAutofit/>
                    </a:bodyPr>
                    <a:lstStyle/>
                    <a:p>
                      <a:pPr algn="l"/>
                      <a:r>
                        <a:rPr sz="1650" b="1">
                          <a:solidFill>
                            <a:srgbClr val="FFFFFF"/>
                          </a:solidFill>
                          <a:latin typeface="Liberation Sans"/>
                          <a:ea typeface="Liberation Sans"/>
                          <a:cs typeface="Liberation Sans"/>
                        </a:rPr>
                        <a:t>Plan / güncel</a:t>
                      </a:r>
                    </a:p>
                    <a:p>
                      <a:pPr algn="l"/>
                      <a:r>
                        <a:rPr sz="1650" b="1">
                          <a:solidFill>
                            <a:srgbClr val="FFFFFF"/>
                          </a:solidFill>
                          <a:latin typeface="Liberation Sans"/>
                          <a:ea typeface="Liberation Sans"/>
                          <a:cs typeface="Liberation Sans"/>
                        </a:rPr>
                        <a:t>bitiş</a:t>
                      </a:r>
                    </a:p>
                  </a:txBody>
                  <a:tcPr marL="57150" marR="57150" marT="19050" marB="19050">
                    <a:solidFill>
                      <a:srgbClr val="14344B"/>
                    </a:solidFill>
                  </a:tcPr>
                </a:tc>
                <a:tc>
                  <a:txBody>
                    <a:bodyPr wrap="square" anchor="ctr">
                      <a:noAutofit/>
                    </a:bodyPr>
                    <a:lstStyle/>
                    <a:p>
                      <a:pPr algn="ctr"/>
                      <a:r>
                        <a:rPr sz="1500" b="1">
                          <a:solidFill>
                            <a:srgbClr val="FFFFFF"/>
                          </a:solidFill>
                          <a:latin typeface="Liberation Sans"/>
                          <a:ea typeface="Liberation Sans"/>
                          <a:cs typeface="Liberation Sans"/>
                        </a:rPr>
                        <a:t>05.10</a:t>
                      </a:r>
                    </a:p>
                  </a:txBody>
                  <a:tcPr marL="19050" marR="19050" marT="19050" marB="19050">
                    <a:solidFill>
                      <a:srgbClr val="14344B"/>
                    </a:solidFill>
                  </a:tcPr>
                </a:tc>
                <a:tc>
                  <a:txBody>
                    <a:bodyPr wrap="square" anchor="ctr">
                      <a:noAutofit/>
                    </a:bodyPr>
                    <a:lstStyle/>
                    <a:p>
                      <a:pPr algn="ctr"/>
                      <a:r>
                        <a:rPr sz="1500" b="1">
                          <a:solidFill>
                            <a:srgbClr val="FFFFFF"/>
                          </a:solidFill>
                          <a:latin typeface="Liberation Sans"/>
                          <a:ea typeface="Liberation Sans"/>
                          <a:cs typeface="Liberation Sans"/>
                        </a:rPr>
                        <a:t>12.10</a:t>
                      </a:r>
                    </a:p>
                    <a:p>
                      <a:pPr algn="ctr"/>
                      <a:r>
                        <a:rPr sz="1500" b="1">
                          <a:solidFill>
                            <a:srgbClr val="FFFFFF"/>
                          </a:solidFill>
                          <a:latin typeface="Liberation Sans"/>
                          <a:ea typeface="Liberation Sans"/>
                          <a:cs typeface="Liberation Sans"/>
                        </a:rPr>
                        <a:t>Bu hafta</a:t>
                      </a:r>
                    </a:p>
                  </a:txBody>
                  <a:tcPr marL="19050" marR="19050" marT="19050" marB="19050">
                    <a:solidFill>
                      <a:srgbClr val="008E86"/>
                    </a:solidFill>
                  </a:tcPr>
                </a:tc>
                <a:tc>
                  <a:txBody>
                    <a:bodyPr wrap="square" anchor="ctr">
                      <a:noAutofit/>
                    </a:bodyPr>
                    <a:lstStyle/>
                    <a:p>
                      <a:pPr algn="ctr"/>
                      <a:r>
                        <a:rPr sz="1500" b="1">
                          <a:solidFill>
                            <a:srgbClr val="FFFFFF"/>
                          </a:solidFill>
                          <a:latin typeface="Liberation Sans"/>
                          <a:ea typeface="Liberation Sans"/>
                          <a:cs typeface="Liberation Sans"/>
                        </a:rPr>
                        <a:t>19.10</a:t>
                      </a:r>
                    </a:p>
                  </a:txBody>
                  <a:tcPr marL="19050" marR="19050" marT="19050" marB="19050">
                    <a:solidFill>
                      <a:srgbClr val="14344B"/>
                    </a:solidFill>
                  </a:tcPr>
                </a:tc>
                <a:tc>
                  <a:txBody>
                    <a:bodyPr wrap="square" anchor="ctr">
                      <a:noAutofit/>
                    </a:bodyPr>
                    <a:lstStyle/>
                    <a:p>
                      <a:pPr algn="ctr"/>
                      <a:r>
                        <a:rPr sz="1500" b="1">
                          <a:solidFill>
                            <a:srgbClr val="FFFFFF"/>
                          </a:solidFill>
                          <a:latin typeface="Liberation Sans"/>
                          <a:ea typeface="Liberation Sans"/>
                          <a:cs typeface="Liberation Sans"/>
                        </a:rPr>
                        <a:t>26.10</a:t>
                      </a:r>
                    </a:p>
                  </a:txBody>
                  <a:tcPr marL="19050" marR="19050" marT="19050" marB="19050">
                    <a:solidFill>
                      <a:srgbClr val="14344B"/>
                    </a:solidFill>
                  </a:tcPr>
                </a:tc>
                <a:tc>
                  <a:txBody>
                    <a:bodyPr wrap="square" anchor="ctr">
                      <a:noAutofit/>
                    </a:bodyPr>
                    <a:lstStyle/>
                    <a:p>
                      <a:pPr algn="ctr"/>
                      <a:r>
                        <a:rPr sz="1500" b="1">
                          <a:solidFill>
                            <a:srgbClr val="FFFFFF"/>
                          </a:solidFill>
                          <a:latin typeface="Liberation Sans"/>
                          <a:ea typeface="Liberation Sans"/>
                          <a:cs typeface="Liberation Sans"/>
                        </a:rPr>
                        <a:t>02.11</a:t>
                      </a:r>
                    </a:p>
                  </a:txBody>
                  <a:tcPr marL="19050" marR="19050" marT="19050" marB="19050">
                    <a:solidFill>
                      <a:srgbClr val="14344B"/>
                    </a:solidFill>
                  </a:tcPr>
                </a:tc>
                <a:tc>
                  <a:txBody>
                    <a:bodyPr wrap="square" anchor="ctr">
                      <a:noAutofit/>
                    </a:bodyPr>
                    <a:lstStyle/>
                    <a:p>
                      <a:pPr algn="ctr"/>
                      <a:r>
                        <a:rPr sz="1500" b="1">
                          <a:solidFill>
                            <a:srgbClr val="FFFFFF"/>
                          </a:solidFill>
                          <a:latin typeface="Liberation Sans"/>
                          <a:ea typeface="Liberation Sans"/>
                          <a:cs typeface="Liberation Sans"/>
                        </a:rPr>
                        <a:t>09.11</a:t>
                      </a:r>
                    </a:p>
                  </a:txBody>
                  <a:tcPr marL="19050" marR="19050" marT="19050" marB="19050">
                    <a:solidFill>
                      <a:srgbClr val="14344B"/>
                    </a:solidFill>
                  </a:tcPr>
                </a:tc>
                <a:tc>
                  <a:txBody>
                    <a:bodyPr wrap="square" anchor="ctr">
                      <a:noAutofit/>
                    </a:bodyPr>
                    <a:lstStyle/>
                    <a:p>
                      <a:pPr algn="ctr"/>
                      <a:r>
                        <a:rPr sz="1500" b="1">
                          <a:solidFill>
                            <a:srgbClr val="FFFFFF"/>
                          </a:solidFill>
                          <a:latin typeface="Liberation Sans"/>
                          <a:ea typeface="Liberation Sans"/>
                          <a:cs typeface="Liberation Sans"/>
                        </a:rPr>
                        <a:t>16.11</a:t>
                      </a:r>
                    </a:p>
                  </a:txBody>
                  <a:tcPr marL="19050" marR="19050" marT="19050" marB="19050">
                    <a:solidFill>
                      <a:srgbClr val="14344B"/>
                    </a:solidFill>
                  </a:tcPr>
                </a:tc>
              </a:tr>
              <a:tr h="457200">
                <a:tc>
                  <a:txBody>
                    <a:bodyPr wrap="square" anchor="ctr">
                      <a:noAutofit/>
                    </a:bodyPr>
                    <a:lstStyle/>
                    <a:p>
                      <a:pPr algn="l"/>
                      <a:r>
                        <a:rPr sz="1725" b="1">
                          <a:solidFill>
                            <a:srgbClr val="273F50"/>
                          </a:solidFill>
                          <a:latin typeface="Liberation Sans"/>
                          <a:ea typeface="Liberation Sans"/>
                          <a:cs typeface="Liberation Sans"/>
                        </a:rPr>
                        <a:t>Tasarım</a:t>
                      </a:r>
                    </a:p>
                  </a:txBody>
                  <a:tcPr marL="57150" marR="571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09.10 / 09.10</a:t>
                      </a:r>
                    </a:p>
                  </a:txBody>
                  <a:tcPr marL="57150" marR="57150" marT="19050" marB="19050">
                    <a:solidFill>
                      <a:srgbClr val="FFFFFF"/>
                    </a:solidFill>
                  </a:tcPr>
                </a:tc>
                <a:tc>
                  <a:txBody>
                    <a:bodyPr wrap="square" anchor="ctr">
                      <a:noAutofit/>
                    </a:bodyPr>
                    <a:lstStyle/>
                    <a:p>
                      <a:pPr algn="ctr"/>
                      <a:r>
                        <a:rPr sz="1575" b="1">
                          <a:solidFill>
                            <a:srgbClr val="FFFFFF"/>
                          </a:solidFill>
                          <a:latin typeface="Liberation Sans"/>
                          <a:ea typeface="Liberation Sans"/>
                          <a:cs typeface="Liberation Sans"/>
                        </a:rPr>
                        <a:t>Bitti</a:t>
                      </a:r>
                    </a:p>
                  </a:txBody>
                  <a:tcPr marL="19050" marR="19050" marT="19050" marB="19050">
                    <a:solidFill>
                      <a:srgbClr val="2563EB"/>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r>
              <a:tr h="457200">
                <a:tc>
                  <a:txBody>
                    <a:bodyPr wrap="square" anchor="ctr">
                      <a:noAutofit/>
                    </a:bodyPr>
                    <a:lstStyle/>
                    <a:p>
                      <a:pPr algn="l"/>
                      <a:r>
                        <a:rPr sz="1725" b="1">
                          <a:solidFill>
                            <a:srgbClr val="273F50"/>
                          </a:solidFill>
                          <a:latin typeface="Liberation Sans"/>
                          <a:ea typeface="Liberation Sans"/>
                          <a:cs typeface="Liberation Sans"/>
                        </a:rPr>
                        <a:t>Tedarik</a:t>
                      </a:r>
                    </a:p>
                  </a:txBody>
                  <a:tcPr marL="57150" marR="571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23.10 / 30.10</a:t>
                      </a:r>
                    </a:p>
                  </a:txBody>
                  <a:tcPr marL="57150" marR="571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1">
                          <a:solidFill>
                            <a:srgbClr val="FFFFFF"/>
                          </a:solidFill>
                          <a:latin typeface="Liberation Sans"/>
                          <a:ea typeface="Liberation Sans"/>
                          <a:cs typeface="Liberation Sans"/>
                        </a:rPr>
                        <a:t>Devam</a:t>
                      </a:r>
                    </a:p>
                  </a:txBody>
                  <a:tcPr marL="19050" marR="19050" marT="19050" marB="19050">
                    <a:solidFill>
                      <a:srgbClr val="008E86"/>
                    </a:solidFill>
                  </a:tcPr>
                </a:tc>
                <a:tc>
                  <a:txBody>
                    <a:bodyPr wrap="square" anchor="ctr">
                      <a:noAutofit/>
                    </a:bodyPr>
                    <a:lstStyle/>
                    <a:p>
                      <a:pPr algn="ctr"/>
                      <a:r>
                        <a:rPr sz="1575" b="1">
                          <a:solidFill>
                            <a:srgbClr val="2563EB"/>
                          </a:solidFill>
                          <a:latin typeface="Liberation Sans"/>
                          <a:ea typeface="Liberation Sans"/>
                          <a:cs typeface="Liberation Sans"/>
                        </a:rPr>
                        <a:t>Plan</a:t>
                      </a:r>
                    </a:p>
                  </a:txBody>
                  <a:tcPr marL="19050" marR="19050" marT="19050" marB="19050">
                    <a:solidFill>
                      <a:srgbClr val="E0EBFF"/>
                    </a:solidFill>
                  </a:tcPr>
                </a:tc>
                <a:tc>
                  <a:txBody>
                    <a:bodyPr wrap="square" anchor="ctr">
                      <a:noAutofit/>
                    </a:bodyPr>
                    <a:lstStyle/>
                    <a:p>
                      <a:pPr algn="ctr"/>
                      <a:r>
                        <a:rPr sz="1575" b="1">
                          <a:solidFill>
                            <a:srgbClr val="D97B0A"/>
                          </a:solidFill>
                          <a:latin typeface="Liberation Sans"/>
                          <a:ea typeface="Liberation Sans"/>
                          <a:cs typeface="Liberation Sans"/>
                        </a:rPr>
                        <a:t>Güncel</a:t>
                      </a:r>
                    </a:p>
                  </a:txBody>
                  <a:tcPr marL="19050" marR="19050" marT="19050" marB="19050">
                    <a:solidFill>
                      <a:srgbClr val="FFF0D6"/>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r>
              <a:tr h="457200">
                <a:tc>
                  <a:txBody>
                    <a:bodyPr wrap="square" anchor="ctr">
                      <a:noAutofit/>
                    </a:bodyPr>
                    <a:lstStyle/>
                    <a:p>
                      <a:pPr algn="l"/>
                      <a:r>
                        <a:rPr sz="1725" b="1">
                          <a:solidFill>
                            <a:srgbClr val="273F50"/>
                          </a:solidFill>
                          <a:latin typeface="Liberation Sans"/>
                          <a:ea typeface="Liberation Sans"/>
                          <a:cs typeface="Liberation Sans"/>
                        </a:rPr>
                        <a:t>Kurulum</a:t>
                      </a:r>
                    </a:p>
                  </a:txBody>
                  <a:tcPr marL="57150" marR="571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06.11 / 13.11</a:t>
                      </a:r>
                    </a:p>
                  </a:txBody>
                  <a:tcPr marL="57150" marR="571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1">
                          <a:solidFill>
                            <a:srgbClr val="2563EB"/>
                          </a:solidFill>
                          <a:latin typeface="Liberation Sans"/>
                          <a:ea typeface="Liberation Sans"/>
                          <a:cs typeface="Liberation Sans"/>
                        </a:rPr>
                        <a:t>Plan</a:t>
                      </a:r>
                    </a:p>
                  </a:txBody>
                  <a:tcPr marL="19050" marR="19050" marT="19050" marB="19050">
                    <a:solidFill>
                      <a:srgbClr val="E0EBFF"/>
                    </a:solidFill>
                  </a:tcPr>
                </a:tc>
                <a:tc>
                  <a:txBody>
                    <a:bodyPr wrap="square" anchor="ctr">
                      <a:noAutofit/>
                    </a:bodyPr>
                    <a:lstStyle/>
                    <a:p>
                      <a:pPr algn="ctr"/>
                      <a:r>
                        <a:rPr sz="1575" b="1">
                          <a:solidFill>
                            <a:srgbClr val="2563EB"/>
                          </a:solidFill>
                          <a:latin typeface="Liberation Sans"/>
                          <a:ea typeface="Liberation Sans"/>
                          <a:cs typeface="Liberation Sans"/>
                        </a:rPr>
                        <a:t>Plan</a:t>
                      </a:r>
                    </a:p>
                  </a:txBody>
                  <a:tcPr marL="19050" marR="19050" marT="19050" marB="19050">
                    <a:solidFill>
                      <a:srgbClr val="E0EBFF"/>
                    </a:solidFill>
                  </a:tcPr>
                </a:tc>
                <a:tc>
                  <a:txBody>
                    <a:bodyPr wrap="square" anchor="ctr">
                      <a:noAutofit/>
                    </a:bodyPr>
                    <a:lstStyle/>
                    <a:p>
                      <a:pPr algn="ctr"/>
                      <a:r>
                        <a:rPr sz="1575" b="1">
                          <a:solidFill>
                            <a:srgbClr val="D97B0A"/>
                          </a:solidFill>
                          <a:latin typeface="Liberation Sans"/>
                          <a:ea typeface="Liberation Sans"/>
                          <a:cs typeface="Liberation Sans"/>
                        </a:rPr>
                        <a:t>Güncel</a:t>
                      </a:r>
                    </a:p>
                  </a:txBody>
                  <a:tcPr marL="19050" marR="19050" marT="19050" marB="19050">
                    <a:solidFill>
                      <a:srgbClr val="FFF0D6"/>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r>
              <a:tr h="457200">
                <a:tc>
                  <a:txBody>
                    <a:bodyPr wrap="square" anchor="ctr">
                      <a:noAutofit/>
                    </a:bodyPr>
                    <a:lstStyle/>
                    <a:p>
                      <a:pPr algn="l"/>
                      <a:r>
                        <a:rPr sz="1725" b="1">
                          <a:solidFill>
                            <a:srgbClr val="273F50"/>
                          </a:solidFill>
                          <a:latin typeface="Liberation Sans"/>
                          <a:ea typeface="Liberation Sans"/>
                          <a:cs typeface="Liberation Sans"/>
                        </a:rPr>
                        <a:t>Test</a:t>
                      </a:r>
                    </a:p>
                  </a:txBody>
                  <a:tcPr marL="57150" marR="571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12.11 / 19.11</a:t>
                      </a:r>
                    </a:p>
                  </a:txBody>
                  <a:tcPr marL="57150" marR="571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1F6FA"/>
                    </a:solidFill>
                  </a:tcPr>
                </a:tc>
                <a:tc>
                  <a:txBody>
                    <a:bodyPr wrap="square" anchor="ctr">
                      <a:noAutofit/>
                    </a:bodyPr>
                    <a:lstStyle/>
                    <a:p>
                      <a:pPr algn="ctr"/>
                      <a:r>
                        <a:rPr sz="1575" b="1">
                          <a:solidFill>
                            <a:srgbClr val="2563EB"/>
                          </a:solidFill>
                          <a:latin typeface="Liberation Sans"/>
                          <a:ea typeface="Liberation Sans"/>
                          <a:cs typeface="Liberation Sans"/>
                        </a:rPr>
                        <a:t>Plan</a:t>
                      </a:r>
                    </a:p>
                  </a:txBody>
                  <a:tcPr marL="19050" marR="19050" marT="19050" marB="19050">
                    <a:solidFill>
                      <a:srgbClr val="E0EBFF"/>
                    </a:solidFill>
                  </a:tcPr>
                </a:tc>
                <a:tc>
                  <a:txBody>
                    <a:bodyPr wrap="square" anchor="ctr">
                      <a:noAutofit/>
                    </a:bodyPr>
                    <a:lstStyle/>
                    <a:p>
                      <a:pPr algn="ctr"/>
                      <a:r>
                        <a:rPr sz="1575" b="1">
                          <a:solidFill>
                            <a:srgbClr val="D97B0A"/>
                          </a:solidFill>
                          <a:latin typeface="Liberation Sans"/>
                          <a:ea typeface="Liberation Sans"/>
                          <a:cs typeface="Liberation Sans"/>
                        </a:rPr>
                        <a:t>Güncel</a:t>
                      </a:r>
                    </a:p>
                  </a:txBody>
                  <a:tcPr marL="19050" marR="19050" marT="19050" marB="19050">
                    <a:solidFill>
                      <a:srgbClr val="FFF0D6"/>
                    </a:solidFill>
                  </a:tcPr>
                </a:tc>
              </a:tr>
              <a:tr h="457200">
                <a:tc>
                  <a:txBody>
                    <a:bodyPr wrap="square" anchor="ctr">
                      <a:noAutofit/>
                    </a:bodyPr>
                    <a:lstStyle/>
                    <a:p>
                      <a:pPr algn="l"/>
                      <a:r>
                        <a:rPr sz="1725" b="1">
                          <a:solidFill>
                            <a:srgbClr val="273F50"/>
                          </a:solidFill>
                          <a:latin typeface="Liberation Sans"/>
                          <a:ea typeface="Liberation Sans"/>
                          <a:cs typeface="Liberation Sans"/>
                        </a:rPr>
                        <a:t>Devreye alma</a:t>
                      </a:r>
                    </a:p>
                  </a:txBody>
                  <a:tcPr marL="57150" marR="571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13.11 / 20.11</a:t>
                      </a:r>
                    </a:p>
                  </a:txBody>
                  <a:tcPr marL="57150" marR="571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0">
                          <a:solidFill>
                            <a:srgbClr val="273F50"/>
                          </a:solidFill>
                          <a:latin typeface="Liberation Sans"/>
                          <a:ea typeface="Liberation Sans"/>
                          <a:cs typeface="Liberation Sans"/>
                        </a:rPr>
                        <a:t/>
                      </a:r>
                    </a:p>
                  </a:txBody>
                  <a:tcPr marL="19050" marR="19050" marT="19050" marB="19050">
                    <a:solidFill>
                      <a:srgbClr val="FFFFFF"/>
                    </a:solidFill>
                  </a:tcPr>
                </a:tc>
                <a:tc>
                  <a:txBody>
                    <a:bodyPr wrap="square" anchor="ctr">
                      <a:noAutofit/>
                    </a:bodyPr>
                    <a:lstStyle/>
                    <a:p>
                      <a:pPr algn="ctr"/>
                      <a:r>
                        <a:rPr sz="1575" b="1">
                          <a:solidFill>
                            <a:srgbClr val="2563EB"/>
                          </a:solidFill>
                          <a:latin typeface="Liberation Sans"/>
                          <a:ea typeface="Liberation Sans"/>
                          <a:cs typeface="Liberation Sans"/>
                        </a:rPr>
                        <a:t>Plan</a:t>
                      </a:r>
                    </a:p>
                  </a:txBody>
                  <a:tcPr marL="19050" marR="19050" marT="19050" marB="19050">
                    <a:solidFill>
                      <a:srgbClr val="E0EBFF"/>
                    </a:solidFill>
                  </a:tcPr>
                </a:tc>
                <a:tc>
                  <a:txBody>
                    <a:bodyPr wrap="square" anchor="ctr">
                      <a:noAutofit/>
                    </a:bodyPr>
                    <a:lstStyle/>
                    <a:p>
                      <a:pPr algn="ctr"/>
                      <a:r>
                        <a:rPr sz="1575" b="1">
                          <a:solidFill>
                            <a:srgbClr val="D97B0A"/>
                          </a:solidFill>
                          <a:latin typeface="Liberation Sans"/>
                          <a:ea typeface="Liberation Sans"/>
                          <a:cs typeface="Liberation Sans"/>
                        </a:rPr>
                        <a:t>Güncel</a:t>
                      </a:r>
                    </a:p>
                  </a:txBody>
                  <a:tcPr marL="19050" marR="19050" marT="19050" marB="19050">
                    <a:solidFill>
                      <a:srgbClr val="FFF0D6"/>
                    </a:solidFill>
                  </a:tcPr>
                </a:tc>
              </a:tr>
            </a:tbl>
          </a:graphicData>
        </a:graphic>
      </p:graphicFrame>
      <p:sp>
        <p:nvSpPr>
          <p:cNvPr id="7" name="critical">
            <a:extLst xmlns:a="http://schemas.openxmlformats.org/drawingml/2006/main">
              <a:ext uri="{FF2B5EF4-FFF2-40B4-BE49-F238E27FC236}">
                <a16:creationId xmlns:a16="http://schemas.microsoft.com/office/drawing/2014/main" id="{A94A256B-9255-406C-AD91-2543CF32BEB3}"/>
              </a:ext>
            </a:extLst>
          </p:cNvPr>
          <p:cNvSpPr>
            <a:spLocks xmlns:a="http://schemas.openxmlformats.org/drawingml/2006/main" noGrp="1"/>
          </p:cNvSpPr>
          <p:nvPr/>
        </p:nvSpPr>
        <p:spPr>
          <a:xfrm xmlns:a="http://schemas.openxmlformats.org/drawingml/2006/main">
            <a:off x="457200" y="4991100"/>
            <a:ext cx="952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D97B0A"/>
                </a:solidFill>
                <a:latin typeface="Liberation Sans"/>
                <a:ea typeface="Liberation Sans"/>
                <a:cs typeface="Liberation Sans"/>
              </a:defRPr>
            </a:defPPr>
          </a:lstStyle>
          <a:p xmlns:a="http://schemas.openxmlformats.org/drawingml/2006/main">
            <a:pPr algn="l">
              <a:defRPr sz="1800" b="1">
                <a:solidFill>
                  <a:srgbClr val="D97B0A"/>
                </a:solidFill>
                <a:latin typeface="Liberation Sans"/>
                <a:ea typeface="Liberation Sans"/>
                <a:cs typeface="Liberation Sans"/>
              </a:defRPr>
            </a:pPr>
            <a:r>
              <a:rPr sz="1800" b="1">
                <a:solidFill>
                  <a:srgbClr val="D97B0A"/>
                </a:solidFill>
                <a:latin typeface="Liberation Sans"/>
                <a:ea typeface="Liberation Sans"/>
                <a:cs typeface="Liberation Sans"/>
              </a:rPr>
              <a:t>Kritik alan: motor teslimi. 23 Ekim hedefi için alternatif tedarikçi gerekli.</a:t>
            </a:r>
          </a:p>
        </p:txBody>
      </p:sp>
      <p:sp>
        <p:nvSpPr>
          <p:cNvPr id="8" name="effort-title">
            <a:extLst xmlns:a="http://schemas.openxmlformats.org/drawingml/2006/main">
              <a:ext uri="{FF2B5EF4-FFF2-40B4-BE49-F238E27FC236}">
                <a16:creationId xmlns:a16="http://schemas.microsoft.com/office/drawing/2014/main" id="{F294DC7E-437D-4A40-B3B0-5F9CF54F20D2}"/>
              </a:ext>
            </a:extLst>
          </p:cNvPr>
          <p:cNvSpPr>
            <a:spLocks xmlns:a="http://schemas.openxmlformats.org/drawingml/2006/main" noGrp="1"/>
          </p:cNvSpPr>
          <p:nvPr/>
        </p:nvSpPr>
        <p:spPr>
          <a:xfrm xmlns:a="http://schemas.openxmlformats.org/drawingml/2006/main">
            <a:off x="457200" y="5476875"/>
            <a:ext cx="952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008E86"/>
                </a:solidFill>
                <a:latin typeface="Liberation Sans"/>
                <a:ea typeface="Liberation Sans"/>
                <a:cs typeface="Liberation Sans"/>
              </a:defRPr>
            </a:defPPr>
          </a:lstStyle>
          <a:p xmlns:a="http://schemas.openxmlformats.org/drawingml/2006/main">
            <a:pPr algn="l">
              <a:defRPr sz="2025" b="1">
                <a:solidFill>
                  <a:srgbClr val="008E86"/>
                </a:solidFill>
                <a:latin typeface="Liberation Sans"/>
                <a:ea typeface="Liberation Sans"/>
                <a:cs typeface="Liberation Sans"/>
              </a:defRPr>
            </a:pPr>
            <a:r>
              <a:rPr sz="2025" b="1">
                <a:solidFill>
                  <a:srgbClr val="008E86"/>
                </a:solidFill>
                <a:latin typeface="Liberation Sans"/>
                <a:ea typeface="Liberation Sans"/>
                <a:cs typeface="Liberation Sans"/>
              </a:rPr>
              <a:t>Efor: 8 kişi, 240 saat</a:t>
            </a:r>
          </a:p>
        </p:txBody>
      </p:sp>
      <p:graphicFrame>
        <p:nvGraphicFramePr>
          <p:cNvPr id="9" name="">
            <a:extLst xmlns:a="http://schemas.openxmlformats.org/drawingml/2006/main">
              <a:ext uri="{FF2B5EF4-FFF2-40B4-BE49-F238E27FC236}">
                <a16:creationId xmlns:a16="http://schemas.microsoft.com/office/drawing/2014/main" id="{6467D473-73AF-4ADD-8B25-BF1D46CC710E}"/>
              </a:ext>
            </a:extLst>
          </p:cNvPr>
          <p:cNvGraphicFramePr/>
          <p:nvPr/>
        </p:nvGraphicFramePr>
        <p:xfrm>
          <a:off xmlns:a="http://schemas.openxmlformats.org/drawingml/2006/main" x="457200" y="5848350"/>
          <a:ext xmlns:a="http://schemas.openxmlformats.org/drawingml/2006/main" cx="9525000" cy="2476500"/>
        </p:xfrm>
        <a:graphic xmlns:a="http://schemas.openxmlformats.org/drawingml/2006/main">
          <a:graphicData uri="http://schemas.openxmlformats.org/drawingml/2006/table">
            <a:tbl>
              <a:tblPr firstRow="0" bandRow="0"/>
              <a:tblGrid>
                <a:gridCol w="5715000"/>
                <a:gridCol w="1524000"/>
                <a:gridCol w="2286000"/>
              </a:tblGrid>
              <a:tr h="381000">
                <a:tc>
                  <a:txBody>
                    <a:bodyPr wrap="square" anchor="ctr">
                      <a:noAutofit/>
                    </a:bodyPr>
                    <a:lstStyle/>
                    <a:p>
                      <a:pPr algn="l"/>
                      <a:r>
                        <a:rPr sz="1725" b="1">
                          <a:solidFill>
                            <a:srgbClr val="FFFFFF"/>
                          </a:solidFill>
                          <a:latin typeface="Liberation Sans"/>
                          <a:ea typeface="Liberation Sans"/>
                          <a:cs typeface="Liberation Sans"/>
                        </a:rPr>
                        <a:t>Departman</a:t>
                      </a:r>
                    </a:p>
                  </a:txBody>
                  <a:tcPr marL="114300" marR="95250" marT="38100" marB="38100">
                    <a:solidFill>
                      <a:srgbClr val="008E86"/>
                    </a:solidFill>
                  </a:tcPr>
                </a:tc>
                <a:tc>
                  <a:txBody>
                    <a:bodyPr wrap="square" anchor="ctr">
                      <a:noAutofit/>
                    </a:bodyPr>
                    <a:lstStyle/>
                    <a:p>
                      <a:pPr algn="l"/>
                      <a:r>
                        <a:rPr sz="1725" b="1">
                          <a:solidFill>
                            <a:srgbClr val="FFFFFF"/>
                          </a:solidFill>
                          <a:latin typeface="Liberation Sans"/>
                          <a:ea typeface="Liberation Sans"/>
                          <a:cs typeface="Liberation Sans"/>
                        </a:rPr>
                        <a:t>Kişi</a:t>
                      </a:r>
                    </a:p>
                  </a:txBody>
                  <a:tcPr marL="114300" marR="95250" marT="38100" marB="38100">
                    <a:solidFill>
                      <a:srgbClr val="008E86"/>
                    </a:solidFill>
                  </a:tcPr>
                </a:tc>
                <a:tc>
                  <a:txBody>
                    <a:bodyPr wrap="square" anchor="ctr">
                      <a:noAutofit/>
                    </a:bodyPr>
                    <a:lstStyle/>
                    <a:p>
                      <a:pPr algn="l"/>
                      <a:r>
                        <a:rPr sz="1725" b="1">
                          <a:solidFill>
                            <a:srgbClr val="FFFFFF"/>
                          </a:solidFill>
                          <a:latin typeface="Liberation Sans"/>
                          <a:ea typeface="Liberation Sans"/>
                          <a:cs typeface="Liberation Sans"/>
                        </a:rPr>
                        <a:t>Saat</a:t>
                      </a:r>
                    </a:p>
                  </a:txBody>
                  <a:tcPr marL="114300" marR="95250" marT="38100" marB="38100">
                    <a:solidFill>
                      <a:srgbClr val="008E86"/>
                    </a:solidFill>
                  </a:tcPr>
                </a:tc>
              </a:tr>
              <a:tr h="342900">
                <a:tc>
                  <a:txBody>
                    <a:bodyPr wrap="square" anchor="ctr">
                      <a:noAutofit/>
                    </a:bodyPr>
                    <a:lstStyle/>
                    <a:p>
                      <a:pPr algn="l"/>
                      <a:r>
                        <a:rPr sz="1800" b="1">
                          <a:solidFill>
                            <a:srgbClr val="273F50"/>
                          </a:solidFill>
                          <a:latin typeface="Liberation Sans"/>
                          <a:ea typeface="Liberation Sans"/>
                          <a:cs typeface="Liberation Sans"/>
                        </a:rPr>
                        <a:t>Mühendislik</a:t>
                      </a:r>
                    </a:p>
                  </a:txBody>
                  <a:tcPr marL="114300" marR="95250" marT="38100" marB="38100">
                    <a:solidFill>
                      <a:srgbClr val="FFFFFF"/>
                    </a:solidFill>
                  </a:tcPr>
                </a:tc>
                <a:tc>
                  <a:txBody>
                    <a:bodyPr wrap="square" anchor="ctr">
                      <a:noAutofit/>
                    </a:bodyPr>
                    <a:lstStyle/>
                    <a:p>
                      <a:pPr algn="ctr"/>
                      <a:r>
                        <a:rPr sz="1800" b="0">
                          <a:solidFill>
                            <a:srgbClr val="273F50"/>
                          </a:solidFill>
                          <a:latin typeface="Liberation Sans"/>
                          <a:ea typeface="Liberation Sans"/>
                          <a:cs typeface="Liberation Sans"/>
                        </a:rPr>
                        <a:t>3</a:t>
                      </a:r>
                    </a:p>
                  </a:txBody>
                  <a:tcPr marL="114300" marR="95250" marT="38100" marB="38100">
                    <a:solidFill>
                      <a:srgbClr val="FFFFFF"/>
                    </a:solidFill>
                  </a:tcPr>
                </a:tc>
                <a:tc>
                  <a:txBody>
                    <a:bodyPr wrap="square" anchor="ctr">
                      <a:noAutofit/>
                    </a:bodyPr>
                    <a:lstStyle/>
                    <a:p>
                      <a:pPr algn="ctr"/>
                      <a:r>
                        <a:rPr sz="1800" b="0">
                          <a:solidFill>
                            <a:srgbClr val="273F50"/>
                          </a:solidFill>
                          <a:latin typeface="Liberation Sans"/>
                          <a:ea typeface="Liberation Sans"/>
                          <a:cs typeface="Liberation Sans"/>
                        </a:rPr>
                        <a:t>96</a:t>
                      </a:r>
                    </a:p>
                  </a:txBody>
                  <a:tcPr marL="114300" marR="95250" marT="38100" marB="38100">
                    <a:solidFill>
                      <a:srgbClr val="FFFFFF"/>
                    </a:solidFill>
                  </a:tcPr>
                </a:tc>
              </a:tr>
              <a:tr h="342900">
                <a:tc>
                  <a:txBody>
                    <a:bodyPr wrap="square" anchor="ctr">
                      <a:noAutofit/>
                    </a:bodyPr>
                    <a:lstStyle/>
                    <a:p>
                      <a:pPr algn="l"/>
                      <a:r>
                        <a:rPr sz="1800" b="1">
                          <a:solidFill>
                            <a:srgbClr val="273F50"/>
                          </a:solidFill>
                          <a:latin typeface="Liberation Sans"/>
                          <a:ea typeface="Liberation Sans"/>
                          <a:cs typeface="Liberation Sans"/>
                        </a:rPr>
                        <a:t>Üretim</a:t>
                      </a:r>
                    </a:p>
                  </a:txBody>
                  <a:tcPr marL="114300" marR="95250" marT="38100" marB="38100">
                    <a:solidFill>
                      <a:srgbClr val="F1F6FA"/>
                    </a:solidFill>
                  </a:tcPr>
                </a:tc>
                <a:tc>
                  <a:txBody>
                    <a:bodyPr wrap="square" anchor="ctr">
                      <a:noAutofit/>
                    </a:bodyPr>
                    <a:lstStyle/>
                    <a:p>
                      <a:pPr algn="ctr"/>
                      <a:r>
                        <a:rPr sz="1800" b="0">
                          <a:solidFill>
                            <a:srgbClr val="273F50"/>
                          </a:solidFill>
                          <a:latin typeface="Liberation Sans"/>
                          <a:ea typeface="Liberation Sans"/>
                          <a:cs typeface="Liberation Sans"/>
                        </a:rPr>
                        <a:t>2</a:t>
                      </a:r>
                    </a:p>
                  </a:txBody>
                  <a:tcPr marL="114300" marR="95250" marT="38100" marB="38100">
                    <a:solidFill>
                      <a:srgbClr val="F1F6FA"/>
                    </a:solidFill>
                  </a:tcPr>
                </a:tc>
                <a:tc>
                  <a:txBody>
                    <a:bodyPr wrap="square" anchor="ctr">
                      <a:noAutofit/>
                    </a:bodyPr>
                    <a:lstStyle/>
                    <a:p>
                      <a:pPr algn="ctr"/>
                      <a:r>
                        <a:rPr sz="1800" b="0">
                          <a:solidFill>
                            <a:srgbClr val="273F50"/>
                          </a:solidFill>
                          <a:latin typeface="Liberation Sans"/>
                          <a:ea typeface="Liberation Sans"/>
                          <a:cs typeface="Liberation Sans"/>
                        </a:rPr>
                        <a:t>72</a:t>
                      </a:r>
                    </a:p>
                  </a:txBody>
                  <a:tcPr marL="114300" marR="95250" marT="38100" marB="38100">
                    <a:solidFill>
                      <a:srgbClr val="F1F6FA"/>
                    </a:solidFill>
                  </a:tcPr>
                </a:tc>
              </a:tr>
              <a:tr h="342900">
                <a:tc>
                  <a:txBody>
                    <a:bodyPr wrap="square" anchor="ctr">
                      <a:noAutofit/>
                    </a:bodyPr>
                    <a:lstStyle/>
                    <a:p>
                      <a:pPr algn="l"/>
                      <a:r>
                        <a:rPr sz="1800" b="1">
                          <a:solidFill>
                            <a:srgbClr val="273F50"/>
                          </a:solidFill>
                          <a:latin typeface="Liberation Sans"/>
                          <a:ea typeface="Liberation Sans"/>
                          <a:cs typeface="Liberation Sans"/>
                        </a:rPr>
                        <a:t>Satın alma</a:t>
                      </a:r>
                    </a:p>
                  </a:txBody>
                  <a:tcPr marL="114300" marR="95250" marT="38100" marB="38100">
                    <a:solidFill>
                      <a:srgbClr val="FFFFFF"/>
                    </a:solidFill>
                  </a:tcPr>
                </a:tc>
                <a:tc>
                  <a:txBody>
                    <a:bodyPr wrap="square" anchor="ctr">
                      <a:noAutofit/>
                    </a:bodyPr>
                    <a:lstStyle/>
                    <a:p>
                      <a:pPr algn="ctr"/>
                      <a:r>
                        <a:rPr sz="1800" b="0">
                          <a:solidFill>
                            <a:srgbClr val="273F50"/>
                          </a:solidFill>
                          <a:latin typeface="Liberation Sans"/>
                          <a:ea typeface="Liberation Sans"/>
                          <a:cs typeface="Liberation Sans"/>
                        </a:rPr>
                        <a:t>1</a:t>
                      </a:r>
                    </a:p>
                  </a:txBody>
                  <a:tcPr marL="114300" marR="95250" marT="38100" marB="38100">
                    <a:solidFill>
                      <a:srgbClr val="FFFFFF"/>
                    </a:solidFill>
                  </a:tcPr>
                </a:tc>
                <a:tc>
                  <a:txBody>
                    <a:bodyPr wrap="square" anchor="ctr">
                      <a:noAutofit/>
                    </a:bodyPr>
                    <a:lstStyle/>
                    <a:p>
                      <a:pPr algn="ctr"/>
                      <a:r>
                        <a:rPr sz="1800" b="0">
                          <a:solidFill>
                            <a:srgbClr val="273F50"/>
                          </a:solidFill>
                          <a:latin typeface="Liberation Sans"/>
                          <a:ea typeface="Liberation Sans"/>
                          <a:cs typeface="Liberation Sans"/>
                        </a:rPr>
                        <a:t>24</a:t>
                      </a:r>
                    </a:p>
                  </a:txBody>
                  <a:tcPr marL="114300" marR="95250" marT="38100" marB="38100">
                    <a:solidFill>
                      <a:srgbClr val="FFFFFF"/>
                    </a:solidFill>
                  </a:tcPr>
                </a:tc>
              </a:tr>
              <a:tr h="342900">
                <a:tc>
                  <a:txBody>
                    <a:bodyPr wrap="square" anchor="ctr">
                      <a:noAutofit/>
                    </a:bodyPr>
                    <a:lstStyle/>
                    <a:p>
                      <a:pPr algn="l"/>
                      <a:r>
                        <a:rPr sz="1800" b="1">
                          <a:solidFill>
                            <a:srgbClr val="273F50"/>
                          </a:solidFill>
                          <a:latin typeface="Liberation Sans"/>
                          <a:ea typeface="Liberation Sans"/>
                          <a:cs typeface="Liberation Sans"/>
                        </a:rPr>
                        <a:t>Kalite</a:t>
                      </a:r>
                    </a:p>
                  </a:txBody>
                  <a:tcPr marL="114300" marR="95250" marT="38100" marB="38100">
                    <a:solidFill>
                      <a:srgbClr val="F1F6FA"/>
                    </a:solidFill>
                  </a:tcPr>
                </a:tc>
                <a:tc>
                  <a:txBody>
                    <a:bodyPr wrap="square" anchor="ctr">
                      <a:noAutofit/>
                    </a:bodyPr>
                    <a:lstStyle/>
                    <a:p>
                      <a:pPr algn="ctr"/>
                      <a:r>
                        <a:rPr sz="1800" b="0">
                          <a:solidFill>
                            <a:srgbClr val="273F50"/>
                          </a:solidFill>
                          <a:latin typeface="Liberation Sans"/>
                          <a:ea typeface="Liberation Sans"/>
                          <a:cs typeface="Liberation Sans"/>
                        </a:rPr>
                        <a:t>1</a:t>
                      </a:r>
                    </a:p>
                  </a:txBody>
                  <a:tcPr marL="114300" marR="95250" marT="38100" marB="38100">
                    <a:solidFill>
                      <a:srgbClr val="F1F6FA"/>
                    </a:solidFill>
                  </a:tcPr>
                </a:tc>
                <a:tc>
                  <a:txBody>
                    <a:bodyPr wrap="square" anchor="ctr">
                      <a:noAutofit/>
                    </a:bodyPr>
                    <a:lstStyle/>
                    <a:p>
                      <a:pPr algn="ctr"/>
                      <a:r>
                        <a:rPr sz="1800" b="0">
                          <a:solidFill>
                            <a:srgbClr val="273F50"/>
                          </a:solidFill>
                          <a:latin typeface="Liberation Sans"/>
                          <a:ea typeface="Liberation Sans"/>
                          <a:cs typeface="Liberation Sans"/>
                        </a:rPr>
                        <a:t>24</a:t>
                      </a:r>
                    </a:p>
                  </a:txBody>
                  <a:tcPr marL="114300" marR="95250" marT="38100" marB="38100">
                    <a:solidFill>
                      <a:srgbClr val="F1F6FA"/>
                    </a:solidFill>
                  </a:tcPr>
                </a:tc>
              </a:tr>
              <a:tr h="342900">
                <a:tc>
                  <a:txBody>
                    <a:bodyPr wrap="square" anchor="ctr">
                      <a:noAutofit/>
                    </a:bodyPr>
                    <a:lstStyle/>
                    <a:p>
                      <a:pPr algn="l"/>
                      <a:r>
                        <a:rPr sz="1800" b="1">
                          <a:solidFill>
                            <a:srgbClr val="273F50"/>
                          </a:solidFill>
                          <a:latin typeface="Liberation Sans"/>
                          <a:ea typeface="Liberation Sans"/>
                          <a:cs typeface="Liberation Sans"/>
                        </a:rPr>
                        <a:t>Proje yönetimi</a:t>
                      </a:r>
                    </a:p>
                  </a:txBody>
                  <a:tcPr marL="114300" marR="95250" marT="38100" marB="38100">
                    <a:solidFill>
                      <a:srgbClr val="FFFFFF"/>
                    </a:solidFill>
                  </a:tcPr>
                </a:tc>
                <a:tc>
                  <a:txBody>
                    <a:bodyPr wrap="square" anchor="ctr">
                      <a:noAutofit/>
                    </a:bodyPr>
                    <a:lstStyle/>
                    <a:p>
                      <a:pPr algn="ctr"/>
                      <a:r>
                        <a:rPr sz="1800" b="0">
                          <a:solidFill>
                            <a:srgbClr val="273F50"/>
                          </a:solidFill>
                          <a:latin typeface="Liberation Sans"/>
                          <a:ea typeface="Liberation Sans"/>
                          <a:cs typeface="Liberation Sans"/>
                        </a:rPr>
                        <a:t>1</a:t>
                      </a:r>
                    </a:p>
                  </a:txBody>
                  <a:tcPr marL="114300" marR="95250" marT="38100" marB="38100">
                    <a:solidFill>
                      <a:srgbClr val="FFFFFF"/>
                    </a:solidFill>
                  </a:tcPr>
                </a:tc>
                <a:tc>
                  <a:txBody>
                    <a:bodyPr wrap="square" anchor="ctr">
                      <a:noAutofit/>
                    </a:bodyPr>
                    <a:lstStyle/>
                    <a:p>
                      <a:pPr algn="ctr"/>
                      <a:r>
                        <a:rPr sz="1800" b="0">
                          <a:solidFill>
                            <a:srgbClr val="273F50"/>
                          </a:solidFill>
                          <a:latin typeface="Liberation Sans"/>
                          <a:ea typeface="Liberation Sans"/>
                          <a:cs typeface="Liberation Sans"/>
                        </a:rPr>
                        <a:t>24</a:t>
                      </a:r>
                    </a:p>
                  </a:txBody>
                  <a:tcPr marL="114300" marR="95250" marT="38100" marB="38100">
                    <a:solidFill>
                      <a:srgbClr val="FFFFFF"/>
                    </a:solidFill>
                  </a:tcPr>
                </a:tc>
              </a:tr>
              <a:tr h="381000">
                <a:tc>
                  <a:txBody>
                    <a:bodyPr wrap="square" anchor="ctr">
                      <a:noAutofit/>
                    </a:bodyPr>
                    <a:lstStyle/>
                    <a:p>
                      <a:pPr algn="l"/>
                      <a:r>
                        <a:rPr sz="1800" b="1">
                          <a:solidFill>
                            <a:srgbClr val="273F50"/>
                          </a:solidFill>
                          <a:latin typeface="Liberation Sans"/>
                          <a:ea typeface="Liberation Sans"/>
                          <a:cs typeface="Liberation Sans"/>
                        </a:rPr>
                        <a:t>TOPLAM</a:t>
                      </a:r>
                    </a:p>
                  </a:txBody>
                  <a:tcPr marL="114300" marR="95250" marT="38100" marB="38100">
                    <a:solidFill>
                      <a:srgbClr val="DDF2EE"/>
                    </a:solidFill>
                  </a:tcPr>
                </a:tc>
                <a:tc>
                  <a:txBody>
                    <a:bodyPr wrap="square" anchor="ctr">
                      <a:noAutofit/>
                    </a:bodyPr>
                    <a:lstStyle/>
                    <a:p>
                      <a:pPr algn="ctr"/>
                      <a:r>
                        <a:rPr sz="1800" b="1">
                          <a:solidFill>
                            <a:srgbClr val="273F50"/>
                          </a:solidFill>
                          <a:latin typeface="Liberation Sans"/>
                          <a:ea typeface="Liberation Sans"/>
                          <a:cs typeface="Liberation Sans"/>
                        </a:rPr>
                        <a:t>8</a:t>
                      </a:r>
                    </a:p>
                  </a:txBody>
                  <a:tcPr marL="114300" marR="95250" marT="38100" marB="38100">
                    <a:solidFill>
                      <a:srgbClr val="DDF2EE"/>
                    </a:solidFill>
                  </a:tcPr>
                </a:tc>
                <a:tc>
                  <a:txBody>
                    <a:bodyPr wrap="square" anchor="ctr">
                      <a:noAutofit/>
                    </a:bodyPr>
                    <a:lstStyle/>
                    <a:p>
                      <a:pPr algn="ctr"/>
                      <a:r>
                        <a:rPr sz="1800" b="1">
                          <a:solidFill>
                            <a:srgbClr val="273F50"/>
                          </a:solidFill>
                          <a:latin typeface="Liberation Sans"/>
                          <a:ea typeface="Liberation Sans"/>
                          <a:cs typeface="Liberation Sans"/>
                        </a:rPr>
                        <a:t>240</a:t>
                      </a:r>
                    </a:p>
                  </a:txBody>
                  <a:tcPr marL="114300" marR="95250" marT="38100" marB="38100">
                    <a:solidFill>
                      <a:srgbClr val="DDF2EE"/>
                    </a:solidFill>
                  </a:tcPr>
                </a:tc>
              </a:tr>
            </a:tbl>
          </a:graphicData>
        </a:graphic>
      </p:graphicFrame>
      <p:graphicFrame>
        <p:nvGraphicFramePr>
          <p:cNvPr id="10" name="Chart">
            <a:extLst xmlns:a="http://schemas.openxmlformats.org/drawingml/2006/main">
              <a:ext uri="{FF2B5EF4-FFF2-40B4-BE49-F238E27FC236}">
                <a16:creationId xmlns:a16="http://schemas.microsoft.com/office/drawing/2014/main" id="{AB54FD7B-564E-4A2C-8190-454ABF8BD796}"/>
              </a:ext>
            </a:extLst>
          </p:cNvPr>
          <p:cNvGraphicFramePr/>
          <p:nvPr/>
        </p:nvGraphicFramePr>
        <p:xfrm>
          <a:off xmlns:a="http://schemas.openxmlformats.org/drawingml/2006/main" x="10382250" y="1695450"/>
          <a:ext xmlns:a="http://schemas.openxmlformats.org/drawingml/2006/main" cx="4400550" cy="3295650"/>
        </p:xfrm>
        <a:graphic xmlns:a="http://schemas.openxmlformats.org/drawingml/2006/main">
          <a:graphicData uri="http://schemas.openxmlformats.org/drawingml/2006/chart">
            <c:chart xmlns:r="http://schemas.openxmlformats.org/officeDocument/2006/relationships" xmlns:c="http://schemas.openxmlformats.org/drawingml/2006/chart" r:id="R9a3613a90e2648a8"/>
          </a:graphicData>
        </a:graphic>
      </p:graphicFrame>
      <p:sp>
        <p:nvSpPr>
          <p:cNvPr id="11" name="variance">
            <a:extLst xmlns:a="http://schemas.openxmlformats.org/drawingml/2006/main">
              <a:ext uri="{FF2B5EF4-FFF2-40B4-BE49-F238E27FC236}">
                <a16:creationId xmlns:a16="http://schemas.microsoft.com/office/drawing/2014/main" id="{8A3FD8EA-A5D3-4024-91E2-76C19B22D998}"/>
              </a:ext>
            </a:extLst>
          </p:cNvPr>
          <p:cNvSpPr>
            <a:spLocks xmlns:a="http://schemas.openxmlformats.org/drawingml/2006/main" noGrp="1"/>
          </p:cNvSpPr>
          <p:nvPr/>
        </p:nvSpPr>
        <p:spPr>
          <a:xfrm xmlns:a="http://schemas.openxmlformats.org/drawingml/2006/main">
            <a:off x="10382250" y="5219700"/>
            <a:ext cx="44005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D97B0A"/>
                </a:solidFill>
                <a:latin typeface="Liberation Sans"/>
                <a:ea typeface="Liberation Sans"/>
                <a:cs typeface="Liberation Sans"/>
              </a:defRPr>
            </a:defPPr>
          </a:lstStyle>
          <a:p xmlns:a="http://schemas.openxmlformats.org/drawingml/2006/main">
            <a:pPr algn="l">
              <a:defRPr sz="2550" b="1">
                <a:solidFill>
                  <a:srgbClr val="D97B0A"/>
                </a:solidFill>
                <a:latin typeface="Liberation Sans"/>
                <a:ea typeface="Liberation Sans"/>
                <a:cs typeface="Liberation Sans"/>
              </a:defRPr>
            </a:pPr>
            <a:r>
              <a:rPr sz="2550" b="1">
                <a:solidFill>
                  <a:srgbClr val="D97B0A"/>
                </a:solidFill>
                <a:latin typeface="Liberation Sans"/>
                <a:ea typeface="Liberation Sans"/>
                <a:cs typeface="Liberation Sans"/>
              </a:rPr>
              <a:t>Planın 10 puan gerisinde</a:t>
            </a:r>
          </a:p>
        </p:txBody>
      </p:sp>
      <p:sp>
        <p:nvSpPr>
          <p:cNvPr id="12" name="finish">
            <a:extLst xmlns:a="http://schemas.openxmlformats.org/drawingml/2006/main">
              <a:ext uri="{FF2B5EF4-FFF2-40B4-BE49-F238E27FC236}">
                <a16:creationId xmlns:a16="http://schemas.microsoft.com/office/drawing/2014/main" id="{35342B8A-770E-4981-B79A-2608E5DC7E78}"/>
              </a:ext>
            </a:extLst>
          </p:cNvPr>
          <p:cNvSpPr>
            <a:spLocks xmlns:a="http://schemas.openxmlformats.org/drawingml/2006/main" noGrp="1"/>
          </p:cNvSpPr>
          <p:nvPr/>
        </p:nvSpPr>
        <p:spPr>
          <a:xfrm xmlns:a="http://schemas.openxmlformats.org/drawingml/2006/main">
            <a:off x="10382250" y="6267450"/>
            <a:ext cx="440055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0">
                <a:solidFill>
                  <a:srgbClr val="273F50"/>
                </a:solidFill>
                <a:latin typeface="Liberation Sans"/>
                <a:ea typeface="Liberation Sans"/>
                <a:cs typeface="Liberation Sans"/>
              </a:defRPr>
            </a:defPPr>
          </a:lstStyle>
          <a:p xmlns:a="http://schemas.openxmlformats.org/drawingml/2006/main">
            <a:pPr algn="l">
              <a:defRPr sz="2025" b="0">
                <a:solidFill>
                  <a:srgbClr val="273F50"/>
                </a:solidFill>
                <a:latin typeface="Liberation Sans"/>
                <a:ea typeface="Liberation Sans"/>
                <a:cs typeface="Liberation Sans"/>
              </a:defRPr>
            </a:pPr>
            <a:r>
              <a:rPr sz="2025" b="0">
                <a:solidFill>
                  <a:srgbClr val="273F50"/>
                </a:solidFill>
                <a:latin typeface="Liberation Sans"/>
                <a:ea typeface="Liberation Sans"/>
                <a:cs typeface="Liberation Sans"/>
              </a:rPr>
              <a:t>Hedef bitiş: 13 Kasım</a:t>
            </a:r>
          </a:p>
          <a:p xmlns:a="http://schemas.openxmlformats.org/drawingml/2006/main">
            <a:pPr algn="l">
              <a:defRPr sz="2025" b="0">
                <a:solidFill>
                  <a:srgbClr val="273F50"/>
                </a:solidFill>
                <a:latin typeface="Liberation Sans"/>
                <a:ea typeface="Liberation Sans"/>
                <a:cs typeface="Liberation Sans"/>
              </a:defRPr>
            </a:pPr>
            <a:r>
              <a:rPr sz="2025" b="0">
                <a:solidFill>
                  <a:srgbClr val="273F50"/>
                </a:solidFill>
                <a:latin typeface="Liberation Sans"/>
                <a:ea typeface="Liberation Sans"/>
                <a:cs typeface="Liberation Sans"/>
              </a:rPr>
              <a:t>Güncel tahmin: 20 Kasım</a:t>
            </a:r>
          </a:p>
          <a:p xmlns:a="http://schemas.openxmlformats.org/drawingml/2006/main">
            <a:pPr algn="l">
              <a:defRPr sz="2025" b="0">
                <a:solidFill>
                  <a:srgbClr val="273F50"/>
                </a:solidFill>
                <a:latin typeface="Liberation Sans"/>
                <a:ea typeface="Liberation Sans"/>
                <a:cs typeface="Liberation Sans"/>
              </a:defRPr>
            </a:pPr>
            <a:r>
              <a:rPr sz="2025" b="0">
                <a:solidFill>
                  <a:srgbClr val="273F50"/>
                </a:solidFill>
                <a:latin typeface="Liberation Sans"/>
                <a:ea typeface="Liberation Sans"/>
                <a:cs typeface="Liberation Sans"/>
              </a:rPr>
              <a:t>Takvim sapması: +7 gün</a:t>
            </a:r>
          </a:p>
        </p:txBody>
      </p:sp>
      <p:sp>
        <p:nvSpPr>
          <p:cNvPr id="13" name="stage">
            <a:extLst xmlns:a="http://schemas.openxmlformats.org/drawingml/2006/main">
              <a:ext uri="{FF2B5EF4-FFF2-40B4-BE49-F238E27FC236}">
                <a16:creationId xmlns:a16="http://schemas.microsoft.com/office/drawing/2014/main" id="{954CF565-C5FB-42FC-BC0C-B30BF6ECFEEF}"/>
              </a:ext>
            </a:extLst>
          </p:cNvPr>
          <p:cNvSpPr>
            <a:spLocks xmlns:a="http://schemas.openxmlformats.org/drawingml/2006/main" noGrp="1"/>
          </p:cNvSpPr>
          <p:nvPr/>
        </p:nvSpPr>
        <p:spPr>
          <a:xfrm xmlns:a="http://schemas.openxmlformats.org/drawingml/2006/main">
            <a:off x="10382250" y="7629525"/>
            <a:ext cx="44005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008E86"/>
                </a:solidFill>
                <a:latin typeface="Liberation Sans"/>
                <a:ea typeface="Liberation Sans"/>
                <a:cs typeface="Liberation Sans"/>
              </a:defRPr>
            </a:defPPr>
          </a:lstStyle>
          <a:p xmlns:a="http://schemas.openxmlformats.org/drawingml/2006/main">
            <a:pPr algn="l">
              <a:defRPr sz="2100" b="1">
                <a:solidFill>
                  <a:srgbClr val="008E86"/>
                </a:solidFill>
                <a:latin typeface="Liberation Sans"/>
                <a:ea typeface="Liberation Sans"/>
                <a:cs typeface="Liberation Sans"/>
              </a:defRPr>
            </a:pPr>
            <a:r>
              <a:rPr sz="2100" b="1">
                <a:solidFill>
                  <a:srgbClr val="008E86"/>
                </a:solidFill>
                <a:latin typeface="Liberation Sans"/>
                <a:ea typeface="Liberation Sans"/>
                <a:cs typeface="Liberation Sans"/>
              </a:rPr>
              <a:t>Mevcut aşama: Tedarik</a:t>
            </a:r>
          </a:p>
        </p:txBody>
      </p:sp>
    </p:spTree>
    <p:extLst>
      <p:ext uri="{BB962C8B-B14F-4D97-AF65-F5344CB8AC3E}">
        <p14:creationId xmlns:p14="http://schemas.microsoft.com/office/powerpoint/2010/main" val="16671905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itle">
            <a:extLst xmlns:a="http://schemas.openxmlformats.org/drawingml/2006/main">
              <a:ext uri="{FF2B5EF4-FFF2-40B4-BE49-F238E27FC236}">
                <a16:creationId xmlns:a16="http://schemas.microsoft.com/office/drawing/2014/main" id="{1E91A61D-51F8-4E33-824D-80CAB7065DA1}"/>
              </a:ext>
            </a:extLst>
          </p:cNvPr>
          <p:cNvSpPr>
            <a:spLocks xmlns:a="http://schemas.openxmlformats.org/drawingml/2006/main" noGrp="1"/>
          </p:cNvSpPr>
          <p:nvPr/>
        </p:nvSpPr>
        <p:spPr>
          <a:xfrm xmlns:a="http://schemas.openxmlformats.org/drawingml/2006/main">
            <a:off x="457200" y="266700"/>
            <a:ext cx="14325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300" b="1">
                <a:solidFill>
                  <a:srgbClr val="14344B"/>
                </a:solidFill>
                <a:latin typeface="Liberation Sans"/>
                <a:ea typeface="Liberation Sans"/>
                <a:cs typeface="Liberation Sans"/>
              </a:defRPr>
            </a:defPPr>
          </a:lstStyle>
          <a:p xmlns:a="http://schemas.openxmlformats.org/drawingml/2006/main">
            <a:pPr algn="l">
              <a:defRPr sz="3300" b="1">
                <a:solidFill>
                  <a:srgbClr val="14344B"/>
                </a:solidFill>
                <a:latin typeface="Liberation Sans"/>
                <a:ea typeface="Liberation Sans"/>
                <a:cs typeface="Liberation Sans"/>
              </a:defRPr>
            </a:pPr>
            <a:r>
              <a:rPr sz="3300" b="1">
                <a:solidFill>
                  <a:srgbClr val="14344B"/>
                </a:solidFill>
                <a:latin typeface="Liberation Sans"/>
                <a:ea typeface="Liberation Sans"/>
                <a:cs typeface="Liberation Sans"/>
              </a:rPr>
              <a:t>Maliyet, bütçe ve haftalık işler</a:t>
            </a:r>
          </a:p>
        </p:txBody>
      </p:sp>
      <p:sp>
        <p:nvSpPr>
          <p:cNvPr id="2" name="project">
            <a:extLst xmlns:a="http://schemas.openxmlformats.org/drawingml/2006/main">
              <a:ext uri="{FF2B5EF4-FFF2-40B4-BE49-F238E27FC236}">
                <a16:creationId xmlns:a16="http://schemas.microsoft.com/office/drawing/2014/main" id="{5AEA53D0-B629-48D8-9373-A5E9D3C7C6E8}"/>
              </a:ext>
            </a:extLst>
          </p:cNvPr>
          <p:cNvSpPr>
            <a:spLocks xmlns:a="http://schemas.openxmlformats.org/drawingml/2006/main" noGrp="1"/>
          </p:cNvSpPr>
          <p:nvPr/>
        </p:nvSpPr>
        <p:spPr>
          <a:xfrm xmlns:a="http://schemas.openxmlformats.org/drawingml/2006/main">
            <a:off x="457200" y="847725"/>
            <a:ext cx="14325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1">
                <a:solidFill>
                  <a:srgbClr val="008E86"/>
                </a:solidFill>
                <a:latin typeface="Liberation Sans"/>
                <a:ea typeface="Liberation Sans"/>
                <a:cs typeface="Liberation Sans"/>
              </a:defRPr>
            </a:defPPr>
          </a:lstStyle>
          <a:p xmlns:a="http://schemas.openxmlformats.org/drawingml/2006/main">
            <a:pPr algn="l">
              <a:defRPr sz="2250" b="1">
                <a:solidFill>
                  <a:srgbClr val="008E86"/>
                </a:solidFill>
                <a:latin typeface="Liberation Sans"/>
                <a:ea typeface="Liberation Sans"/>
                <a:cs typeface="Liberation Sans"/>
              </a:defRPr>
            </a:pPr>
            <a:r>
              <a:rPr sz="2250" b="1">
                <a:solidFill>
                  <a:srgbClr val="008E86"/>
                </a:solidFill>
                <a:latin typeface="Liberation Sans"/>
                <a:ea typeface="Liberation Sans"/>
                <a:cs typeface="Liberation Sans"/>
              </a:rPr>
              <a:t>Üretim Hattı Modernizasyonu</a:t>
            </a:r>
          </a:p>
        </p:txBody>
      </p:sp>
      <p:sp>
        <p:nvSpPr>
          <p:cNvPr id="3" name="report">
            <a:extLst xmlns:a="http://schemas.openxmlformats.org/drawingml/2006/main">
              <a:ext uri="{FF2B5EF4-FFF2-40B4-BE49-F238E27FC236}">
                <a16:creationId xmlns:a16="http://schemas.microsoft.com/office/drawing/2014/main" id="{FBF5B57F-8731-420D-9A71-FAFC8BCCF917}"/>
              </a:ext>
            </a:extLst>
          </p:cNvPr>
          <p:cNvSpPr>
            <a:spLocks xmlns:a="http://schemas.openxmlformats.org/drawingml/2006/main" noGrp="1"/>
          </p:cNvSpPr>
          <p:nvPr/>
        </p:nvSpPr>
        <p:spPr>
          <a:xfrm xmlns:a="http://schemas.openxmlformats.org/drawingml/2006/main">
            <a:off x="457200" y="1257300"/>
            <a:ext cx="1276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650" b="0">
                <a:solidFill>
                  <a:srgbClr val="61778A"/>
                </a:solidFill>
                <a:latin typeface="Liberation Sans"/>
                <a:ea typeface="Liberation Sans"/>
                <a:cs typeface="Liberation Sans"/>
              </a:defRPr>
            </a:defPPr>
          </a:lstStyle>
          <a:p xmlns:a="http://schemas.openxmlformats.org/drawingml/2006/main">
            <a:pPr algn="l">
              <a:defRPr sz="1650" b="0">
                <a:solidFill>
                  <a:srgbClr val="61778A"/>
                </a:solidFill>
                <a:latin typeface="Liberation Sans"/>
                <a:ea typeface="Liberation Sans"/>
                <a:cs typeface="Liberation Sans"/>
              </a:defRPr>
            </a:pPr>
            <a:r>
              <a:rPr sz="1650" b="0">
                <a:solidFill>
                  <a:srgbClr val="61778A"/>
                </a:solidFill>
                <a:latin typeface="Liberation Sans"/>
                <a:ea typeface="Liberation Sans"/>
                <a:cs typeface="Liberation Sans"/>
              </a:rPr>
              <a:t>Proje yöneticisi: [Ad Soyad]     Rapor: 15 Ekim 2026     Örnek veriler</a:t>
            </a:r>
          </a:p>
        </p:txBody>
      </p:sp>
      <p:sp>
        <p:nvSpPr>
          <p:cNvPr id="4" name="page">
            <a:extLst xmlns:a="http://schemas.openxmlformats.org/drawingml/2006/main">
              <a:ext uri="{FF2B5EF4-FFF2-40B4-BE49-F238E27FC236}">
                <a16:creationId xmlns:a16="http://schemas.microsoft.com/office/drawing/2014/main" id="{F09F6247-7CD8-4FA0-AD4F-2678ABE04616}"/>
              </a:ext>
            </a:extLst>
          </p:cNvPr>
          <p:cNvSpPr>
            <a:spLocks xmlns:a="http://schemas.openxmlformats.org/drawingml/2006/main" noGrp="1"/>
          </p:cNvSpPr>
          <p:nvPr/>
        </p:nvSpPr>
        <p:spPr>
          <a:xfrm xmlns:a="http://schemas.openxmlformats.org/drawingml/2006/main">
            <a:off x="13811250" y="1257300"/>
            <a:ext cx="971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650" b="0">
                <a:solidFill>
                  <a:srgbClr val="61778A"/>
                </a:solidFill>
                <a:latin typeface="Liberation Sans"/>
                <a:ea typeface="Liberation Sans"/>
                <a:cs typeface="Liberation Sans"/>
              </a:defRPr>
            </a:defPPr>
          </a:lstStyle>
          <a:p xmlns:a="http://schemas.openxmlformats.org/drawingml/2006/main">
            <a:pPr algn="r">
              <a:defRPr sz="1650" b="0">
                <a:solidFill>
                  <a:srgbClr val="61778A"/>
                </a:solidFill>
                <a:latin typeface="Liberation Sans"/>
                <a:ea typeface="Liberation Sans"/>
                <a:cs typeface="Liberation Sans"/>
              </a:defRPr>
            </a:pPr>
            <a:r>
              <a:rPr sz="1650" b="0">
                <a:solidFill>
                  <a:srgbClr val="61778A"/>
                </a:solidFill>
                <a:latin typeface="Liberation Sans"/>
                <a:ea typeface="Liberation Sans"/>
                <a:cs typeface="Liberation Sans"/>
              </a:rPr>
              <a:t>2 / 2</a:t>
            </a:r>
          </a:p>
        </p:txBody>
      </p:sp>
      <p:sp>
        <p:nvSpPr>
          <p:cNvPr id="5" name="cost-title">
            <a:extLst xmlns:a="http://schemas.openxmlformats.org/drawingml/2006/main">
              <a:ext uri="{FF2B5EF4-FFF2-40B4-BE49-F238E27FC236}">
                <a16:creationId xmlns:a16="http://schemas.microsoft.com/office/drawing/2014/main" id="{36E5B767-07DC-4C59-9E77-1C5BCE522FF9}"/>
              </a:ext>
            </a:extLst>
          </p:cNvPr>
          <p:cNvSpPr>
            <a:spLocks xmlns:a="http://schemas.openxmlformats.org/drawingml/2006/main" noGrp="1"/>
          </p:cNvSpPr>
          <p:nvPr/>
        </p:nvSpPr>
        <p:spPr>
          <a:xfrm xmlns:a="http://schemas.openxmlformats.org/drawingml/2006/main">
            <a:off x="457200" y="169545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4344B"/>
                </a:solidFill>
                <a:latin typeface="Liberation Sans"/>
                <a:ea typeface="Liberation Sans"/>
                <a:cs typeface="Liberation Sans"/>
              </a:defRPr>
            </a:defPPr>
          </a:lstStyle>
          <a:p xmlns:a="http://schemas.openxmlformats.org/drawingml/2006/main">
            <a:pPr algn="l">
              <a:defRPr sz="2025" b="1">
                <a:solidFill>
                  <a:srgbClr val="14344B"/>
                </a:solidFill>
                <a:latin typeface="Liberation Sans"/>
                <a:ea typeface="Liberation Sans"/>
                <a:cs typeface="Liberation Sans"/>
              </a:defRPr>
            </a:pPr>
            <a:r>
              <a:rPr sz="2025" b="1">
                <a:solidFill>
                  <a:srgbClr val="14344B"/>
                </a:solidFill>
                <a:latin typeface="Liberation Sans"/>
                <a:ea typeface="Liberation Sans"/>
                <a:cs typeface="Liberation Sans"/>
              </a:rPr>
              <a:t>Maliyet dökümü (bin TL, KDV hariç)</a:t>
            </a:r>
          </a:p>
        </p:txBody>
      </p:sp>
      <p:graphicFrame>
        <p:nvGraphicFramePr>
          <p:cNvPr id="6" name="">
            <a:extLst xmlns:a="http://schemas.openxmlformats.org/drawingml/2006/main">
              <a:ext uri="{FF2B5EF4-FFF2-40B4-BE49-F238E27FC236}">
                <a16:creationId xmlns:a16="http://schemas.microsoft.com/office/drawing/2014/main" id="{08F6A909-30E5-40B3-9465-12D420AD6138}"/>
              </a:ext>
            </a:extLst>
          </p:cNvPr>
          <p:cNvGraphicFramePr/>
          <p:nvPr/>
        </p:nvGraphicFramePr>
        <p:xfrm>
          <a:off xmlns:a="http://schemas.openxmlformats.org/drawingml/2006/main" x="457200" y="2095500"/>
          <a:ext xmlns:a="http://schemas.openxmlformats.org/drawingml/2006/main" cx="8572500" cy="2457450"/>
        </p:xfrm>
        <a:graphic xmlns:a="http://schemas.openxmlformats.org/drawingml/2006/main">
          <a:graphicData uri="http://schemas.openxmlformats.org/drawingml/2006/table">
            <a:tbl>
              <a:tblPr firstRow="0" bandRow="0"/>
              <a:tblGrid>
                <a:gridCol w="3333750"/>
                <a:gridCol w="1762125"/>
                <a:gridCol w="1571625"/>
                <a:gridCol w="1905000"/>
              </a:tblGrid>
              <a:tr h="476250">
                <a:tc>
                  <a:txBody>
                    <a:bodyPr wrap="square" anchor="ctr">
                      <a:noAutofit/>
                    </a:bodyPr>
                    <a:lstStyle/>
                    <a:p>
                      <a:pPr algn="l"/>
                      <a:r>
                        <a:rPr sz="1725" b="1">
                          <a:solidFill>
                            <a:srgbClr val="FFFFFF"/>
                          </a:solidFill>
                          <a:latin typeface="Liberation Sans"/>
                          <a:ea typeface="Liberation Sans"/>
                          <a:cs typeface="Liberation Sans"/>
                        </a:rPr>
                        <a:t>Kalem</a:t>
                      </a:r>
                    </a:p>
                  </a:txBody>
                  <a:tcPr marL="114300" marR="95250" marT="66675" marB="66675">
                    <a:solidFill>
                      <a:srgbClr val="14344B"/>
                    </a:solidFill>
                  </a:tcPr>
                </a:tc>
                <a:tc>
                  <a:txBody>
                    <a:bodyPr wrap="square" anchor="ctr">
                      <a:noAutofit/>
                    </a:bodyPr>
                    <a:lstStyle/>
                    <a:p>
                      <a:pPr algn="l"/>
                      <a:r>
                        <a:rPr sz="1725" b="1">
                          <a:solidFill>
                            <a:srgbClr val="FFFFFF"/>
                          </a:solidFill>
                          <a:latin typeface="Liberation Sans"/>
                          <a:ea typeface="Liberation Sans"/>
                          <a:cs typeface="Liberation Sans"/>
                        </a:rPr>
                        <a:t>Gerçekleşen</a:t>
                      </a:r>
                    </a:p>
                  </a:txBody>
                  <a:tcPr marL="114300" marR="95250" marT="66675" marB="66675">
                    <a:solidFill>
                      <a:srgbClr val="14344B"/>
                    </a:solidFill>
                  </a:tcPr>
                </a:tc>
                <a:tc>
                  <a:txBody>
                    <a:bodyPr wrap="square" anchor="ctr">
                      <a:noAutofit/>
                    </a:bodyPr>
                    <a:lstStyle/>
                    <a:p>
                      <a:pPr algn="l"/>
                      <a:r>
                        <a:rPr sz="1725" b="1">
                          <a:solidFill>
                            <a:srgbClr val="FFFFFF"/>
                          </a:solidFill>
                          <a:latin typeface="Liberation Sans"/>
                          <a:ea typeface="Liberation Sans"/>
                          <a:cs typeface="Liberation Sans"/>
                        </a:rPr>
                        <a:t>Kalan</a:t>
                      </a:r>
                    </a:p>
                  </a:txBody>
                  <a:tcPr marL="114300" marR="95250" marT="66675" marB="66675">
                    <a:solidFill>
                      <a:srgbClr val="14344B"/>
                    </a:solidFill>
                  </a:tcPr>
                </a:tc>
                <a:tc>
                  <a:txBody>
                    <a:bodyPr wrap="square" anchor="ctr">
                      <a:noAutofit/>
                    </a:bodyPr>
                    <a:lstStyle/>
                    <a:p>
                      <a:pPr algn="l"/>
                      <a:r>
                        <a:rPr sz="1725" b="1">
                          <a:solidFill>
                            <a:srgbClr val="FFFFFF"/>
                          </a:solidFill>
                          <a:latin typeface="Liberation Sans"/>
                          <a:ea typeface="Liberation Sans"/>
                          <a:cs typeface="Liberation Sans"/>
                        </a:rPr>
                        <a:t>Tahmini toplam</a:t>
                      </a:r>
                    </a:p>
                  </a:txBody>
                  <a:tcPr marL="114300" marR="95250" marT="66675" marB="66675">
                    <a:solidFill>
                      <a:srgbClr val="14344B"/>
                    </a:solidFill>
                  </a:tcPr>
                </a:tc>
              </a:tr>
              <a:tr h="495300">
                <a:tc>
                  <a:txBody>
                    <a:bodyPr wrap="square" anchor="ctr">
                      <a:noAutofit/>
                    </a:bodyPr>
                    <a:lstStyle/>
                    <a:p>
                      <a:pPr algn="l"/>
                      <a:r>
                        <a:rPr sz="1875" b="1">
                          <a:solidFill>
                            <a:srgbClr val="273F50"/>
                          </a:solidFill>
                          <a:latin typeface="Liberation Sans"/>
                          <a:ea typeface="Liberation Sans"/>
                          <a:cs typeface="Liberation Sans"/>
                        </a:rPr>
                        <a:t>Efor</a:t>
                      </a:r>
                    </a:p>
                  </a:txBody>
                  <a:tcPr marL="114300" marR="95250" marT="66675" marB="66675">
                    <a:solidFill>
                      <a:srgbClr val="FFFFFF"/>
                    </a:solidFill>
                  </a:tcPr>
                </a:tc>
                <a:tc>
                  <a:txBody>
                    <a:bodyPr wrap="square" anchor="ctr">
                      <a:noAutofit/>
                    </a:bodyPr>
                    <a:lstStyle/>
                    <a:p>
                      <a:pPr algn="r"/>
                      <a:r>
                        <a:rPr sz="1875" b="0">
                          <a:solidFill>
                            <a:srgbClr val="273F50"/>
                          </a:solidFill>
                          <a:latin typeface="Liberation Sans"/>
                          <a:ea typeface="Liberation Sans"/>
                          <a:cs typeface="Liberation Sans"/>
                        </a:rPr>
                        <a:t>240</a:t>
                      </a:r>
                    </a:p>
                  </a:txBody>
                  <a:tcPr marL="114300" marR="95250" marT="66675" marB="66675">
                    <a:solidFill>
                      <a:srgbClr val="FFFFFF"/>
                    </a:solidFill>
                  </a:tcPr>
                </a:tc>
                <a:tc>
                  <a:txBody>
                    <a:bodyPr wrap="square" anchor="ctr">
                      <a:noAutofit/>
                    </a:bodyPr>
                    <a:lstStyle/>
                    <a:p>
                      <a:pPr algn="r"/>
                      <a:r>
                        <a:rPr sz="1875" b="0">
                          <a:solidFill>
                            <a:srgbClr val="273F50"/>
                          </a:solidFill>
                          <a:latin typeface="Liberation Sans"/>
                          <a:ea typeface="Liberation Sans"/>
                          <a:cs typeface="Liberation Sans"/>
                        </a:rPr>
                        <a:t>360</a:t>
                      </a:r>
                    </a:p>
                  </a:txBody>
                  <a:tcPr marL="114300" marR="95250" marT="66675" marB="66675">
                    <a:solidFill>
                      <a:srgbClr val="FFFFFF"/>
                    </a:solidFill>
                  </a:tcPr>
                </a:tc>
                <a:tc>
                  <a:txBody>
                    <a:bodyPr wrap="square" anchor="ctr">
                      <a:noAutofit/>
                    </a:bodyPr>
                    <a:lstStyle/>
                    <a:p>
                      <a:pPr algn="r"/>
                      <a:r>
                        <a:rPr sz="1875" b="0">
                          <a:solidFill>
                            <a:srgbClr val="273F50"/>
                          </a:solidFill>
                          <a:latin typeface="Liberation Sans"/>
                          <a:ea typeface="Liberation Sans"/>
                          <a:cs typeface="Liberation Sans"/>
                        </a:rPr>
                        <a:t>600</a:t>
                      </a:r>
                    </a:p>
                  </a:txBody>
                  <a:tcPr marL="114300" marR="95250" marT="66675" marB="66675">
                    <a:solidFill>
                      <a:srgbClr val="FFFFFF"/>
                    </a:solidFill>
                  </a:tcPr>
                </a:tc>
              </a:tr>
              <a:tr h="495300">
                <a:tc>
                  <a:txBody>
                    <a:bodyPr wrap="square" anchor="ctr">
                      <a:noAutofit/>
                    </a:bodyPr>
                    <a:lstStyle/>
                    <a:p>
                      <a:pPr algn="l"/>
                      <a:r>
                        <a:rPr sz="1875" b="1">
                          <a:solidFill>
                            <a:srgbClr val="273F50"/>
                          </a:solidFill>
                          <a:latin typeface="Liberation Sans"/>
                          <a:ea typeface="Liberation Sans"/>
                          <a:cs typeface="Liberation Sans"/>
                        </a:rPr>
                        <a:t>Malzeme / alınan</a:t>
                      </a:r>
                    </a:p>
                  </a:txBody>
                  <a:tcPr marL="114300" marR="95250" marT="66675" marB="66675">
                    <a:solidFill>
                      <a:srgbClr val="F1F6FA"/>
                    </a:solidFill>
                  </a:tcPr>
                </a:tc>
                <a:tc>
                  <a:txBody>
                    <a:bodyPr wrap="square" anchor="ctr">
                      <a:noAutofit/>
                    </a:bodyPr>
                    <a:lstStyle/>
                    <a:p>
                      <a:pPr algn="r"/>
                      <a:r>
                        <a:rPr sz="1875" b="0">
                          <a:solidFill>
                            <a:srgbClr val="273F50"/>
                          </a:solidFill>
                          <a:latin typeface="Liberation Sans"/>
                          <a:ea typeface="Liberation Sans"/>
                          <a:cs typeface="Liberation Sans"/>
                        </a:rPr>
                        <a:t>180</a:t>
                      </a:r>
                    </a:p>
                  </a:txBody>
                  <a:tcPr marL="114300" marR="95250" marT="66675" marB="66675">
                    <a:solidFill>
                      <a:srgbClr val="F1F6FA"/>
                    </a:solidFill>
                  </a:tcPr>
                </a:tc>
                <a:tc>
                  <a:txBody>
                    <a:bodyPr wrap="square" anchor="ctr">
                      <a:noAutofit/>
                    </a:bodyPr>
                    <a:lstStyle/>
                    <a:p>
                      <a:pPr algn="r"/>
                      <a:r>
                        <a:rPr sz="1875" b="0">
                          <a:solidFill>
                            <a:srgbClr val="273F50"/>
                          </a:solidFill>
                          <a:latin typeface="Liberation Sans"/>
                          <a:ea typeface="Liberation Sans"/>
                          <a:cs typeface="Liberation Sans"/>
                        </a:rPr>
                        <a:t>0</a:t>
                      </a:r>
                    </a:p>
                  </a:txBody>
                  <a:tcPr marL="114300" marR="95250" marT="66675" marB="66675">
                    <a:solidFill>
                      <a:srgbClr val="F1F6FA"/>
                    </a:solidFill>
                  </a:tcPr>
                </a:tc>
                <a:tc>
                  <a:txBody>
                    <a:bodyPr wrap="square" anchor="ctr">
                      <a:noAutofit/>
                    </a:bodyPr>
                    <a:lstStyle/>
                    <a:p>
                      <a:pPr algn="r"/>
                      <a:r>
                        <a:rPr sz="1875" b="0">
                          <a:solidFill>
                            <a:srgbClr val="273F50"/>
                          </a:solidFill>
                          <a:latin typeface="Liberation Sans"/>
                          <a:ea typeface="Liberation Sans"/>
                          <a:cs typeface="Liberation Sans"/>
                        </a:rPr>
                        <a:t>180</a:t>
                      </a:r>
                    </a:p>
                  </a:txBody>
                  <a:tcPr marL="114300" marR="95250" marT="66675" marB="66675">
                    <a:solidFill>
                      <a:srgbClr val="F1F6FA"/>
                    </a:solidFill>
                  </a:tcPr>
                </a:tc>
              </a:tr>
              <a:tr h="495300">
                <a:tc>
                  <a:txBody>
                    <a:bodyPr wrap="square" anchor="ctr">
                      <a:noAutofit/>
                    </a:bodyPr>
                    <a:lstStyle/>
                    <a:p>
                      <a:pPr algn="l"/>
                      <a:r>
                        <a:rPr sz="1875" b="1">
                          <a:solidFill>
                            <a:srgbClr val="273F50"/>
                          </a:solidFill>
                          <a:latin typeface="Liberation Sans"/>
                          <a:ea typeface="Liberation Sans"/>
                          <a:cs typeface="Liberation Sans"/>
                        </a:rPr>
                        <a:t>Alınacak malzeme</a:t>
                      </a:r>
                    </a:p>
                  </a:txBody>
                  <a:tcPr marL="114300" marR="95250" marT="66675" marB="66675">
                    <a:solidFill>
                      <a:srgbClr val="FFFFFF"/>
                    </a:solidFill>
                  </a:tcPr>
                </a:tc>
                <a:tc>
                  <a:txBody>
                    <a:bodyPr wrap="square" anchor="ctr">
                      <a:noAutofit/>
                    </a:bodyPr>
                    <a:lstStyle/>
                    <a:p>
                      <a:pPr algn="r"/>
                      <a:r>
                        <a:rPr sz="1875" b="0">
                          <a:solidFill>
                            <a:srgbClr val="273F50"/>
                          </a:solidFill>
                          <a:latin typeface="Liberation Sans"/>
                          <a:ea typeface="Liberation Sans"/>
                          <a:cs typeface="Liberation Sans"/>
                        </a:rPr>
                        <a:t>0</a:t>
                      </a:r>
                    </a:p>
                  </a:txBody>
                  <a:tcPr marL="114300" marR="95250" marT="66675" marB="66675">
                    <a:solidFill>
                      <a:srgbClr val="FFFFFF"/>
                    </a:solidFill>
                  </a:tcPr>
                </a:tc>
                <a:tc>
                  <a:txBody>
                    <a:bodyPr wrap="square" anchor="ctr">
                      <a:noAutofit/>
                    </a:bodyPr>
                    <a:lstStyle/>
                    <a:p>
                      <a:pPr algn="r"/>
                      <a:r>
                        <a:rPr sz="1875" b="0">
                          <a:solidFill>
                            <a:srgbClr val="273F50"/>
                          </a:solidFill>
                          <a:latin typeface="Liberation Sans"/>
                          <a:ea typeface="Liberation Sans"/>
                          <a:cs typeface="Liberation Sans"/>
                        </a:rPr>
                        <a:t>320</a:t>
                      </a:r>
                    </a:p>
                  </a:txBody>
                  <a:tcPr marL="114300" marR="95250" marT="66675" marB="66675">
                    <a:solidFill>
                      <a:srgbClr val="FFFFFF"/>
                    </a:solidFill>
                  </a:tcPr>
                </a:tc>
                <a:tc>
                  <a:txBody>
                    <a:bodyPr wrap="square" anchor="ctr">
                      <a:noAutofit/>
                    </a:bodyPr>
                    <a:lstStyle/>
                    <a:p>
                      <a:pPr algn="r"/>
                      <a:r>
                        <a:rPr sz="1875" b="0">
                          <a:solidFill>
                            <a:srgbClr val="273F50"/>
                          </a:solidFill>
                          <a:latin typeface="Liberation Sans"/>
                          <a:ea typeface="Liberation Sans"/>
                          <a:cs typeface="Liberation Sans"/>
                        </a:rPr>
                        <a:t>320</a:t>
                      </a:r>
                    </a:p>
                  </a:txBody>
                  <a:tcPr marL="114300" marR="95250" marT="66675" marB="66675">
                    <a:solidFill>
                      <a:srgbClr val="FFFFFF"/>
                    </a:solidFill>
                  </a:tcPr>
                </a:tc>
              </a:tr>
              <a:tr h="495300">
                <a:tc>
                  <a:txBody>
                    <a:bodyPr wrap="square" anchor="ctr">
                      <a:noAutofit/>
                    </a:bodyPr>
                    <a:lstStyle/>
                    <a:p>
                      <a:pPr algn="l"/>
                      <a:r>
                        <a:rPr sz="1875" b="1">
                          <a:solidFill>
                            <a:srgbClr val="273F50"/>
                          </a:solidFill>
                          <a:latin typeface="Liberation Sans"/>
                          <a:ea typeface="Liberation Sans"/>
                          <a:cs typeface="Liberation Sans"/>
                        </a:rPr>
                        <a:t>TOPLAM</a:t>
                      </a:r>
                    </a:p>
                  </a:txBody>
                  <a:tcPr marL="114300" marR="95250" marT="66675" marB="66675">
                    <a:solidFill>
                      <a:srgbClr val="DDF2EE"/>
                    </a:solidFill>
                  </a:tcPr>
                </a:tc>
                <a:tc>
                  <a:txBody>
                    <a:bodyPr wrap="square" anchor="ctr">
                      <a:noAutofit/>
                    </a:bodyPr>
                    <a:lstStyle/>
                    <a:p>
                      <a:pPr algn="r"/>
                      <a:r>
                        <a:rPr sz="1875" b="1">
                          <a:solidFill>
                            <a:srgbClr val="273F50"/>
                          </a:solidFill>
                          <a:latin typeface="Liberation Sans"/>
                          <a:ea typeface="Liberation Sans"/>
                          <a:cs typeface="Liberation Sans"/>
                        </a:rPr>
                        <a:t>420</a:t>
                      </a:r>
                    </a:p>
                  </a:txBody>
                  <a:tcPr marL="114300" marR="95250" marT="66675" marB="66675">
                    <a:solidFill>
                      <a:srgbClr val="DDF2EE"/>
                    </a:solidFill>
                  </a:tcPr>
                </a:tc>
                <a:tc>
                  <a:txBody>
                    <a:bodyPr wrap="square" anchor="ctr">
                      <a:noAutofit/>
                    </a:bodyPr>
                    <a:lstStyle/>
                    <a:p>
                      <a:pPr algn="r"/>
                      <a:r>
                        <a:rPr sz="1875" b="1">
                          <a:solidFill>
                            <a:srgbClr val="273F50"/>
                          </a:solidFill>
                          <a:latin typeface="Liberation Sans"/>
                          <a:ea typeface="Liberation Sans"/>
                          <a:cs typeface="Liberation Sans"/>
                        </a:rPr>
                        <a:t>680</a:t>
                      </a:r>
                    </a:p>
                  </a:txBody>
                  <a:tcPr marL="114300" marR="95250" marT="66675" marB="66675">
                    <a:solidFill>
                      <a:srgbClr val="DDF2EE"/>
                    </a:solidFill>
                  </a:tcPr>
                </a:tc>
                <a:tc>
                  <a:txBody>
                    <a:bodyPr wrap="square" anchor="ctr">
                      <a:noAutofit/>
                    </a:bodyPr>
                    <a:lstStyle/>
                    <a:p>
                      <a:pPr algn="r"/>
                      <a:r>
                        <a:rPr sz="1875" b="1">
                          <a:solidFill>
                            <a:srgbClr val="273F50"/>
                          </a:solidFill>
                          <a:latin typeface="Liberation Sans"/>
                          <a:ea typeface="Liberation Sans"/>
                          <a:cs typeface="Liberation Sans"/>
                        </a:rPr>
                        <a:t>1100</a:t>
                      </a:r>
                    </a:p>
                  </a:txBody>
                  <a:tcPr marL="114300" marR="95250" marT="66675" marB="66675">
                    <a:solidFill>
                      <a:srgbClr val="DDF2EE"/>
                    </a:solidFill>
                  </a:tcPr>
                </a:tc>
              </a:tr>
            </a:tbl>
          </a:graphicData>
        </a:graphic>
      </p:graphicFrame>
      <p:graphicFrame>
        <p:nvGraphicFramePr>
          <p:cNvPr id="7" name="Chart">
            <a:extLst xmlns:a="http://schemas.openxmlformats.org/drawingml/2006/main">
              <a:ext uri="{FF2B5EF4-FFF2-40B4-BE49-F238E27FC236}">
                <a16:creationId xmlns:a16="http://schemas.microsoft.com/office/drawing/2014/main" id="{ECAEB407-6B47-4B9E-B400-46D465772A0D}"/>
              </a:ext>
            </a:extLst>
          </p:cNvPr>
          <p:cNvGraphicFramePr/>
          <p:nvPr/>
        </p:nvGraphicFramePr>
        <p:xfrm>
          <a:off xmlns:a="http://schemas.openxmlformats.org/drawingml/2006/main" x="9620250" y="1695450"/>
          <a:ext xmlns:a="http://schemas.openxmlformats.org/drawingml/2006/main" cx="5162550" cy="2876550"/>
        </p:xfrm>
        <a:graphic xmlns:a="http://schemas.openxmlformats.org/drawingml/2006/main">
          <a:graphicData uri="http://schemas.openxmlformats.org/drawingml/2006/chart">
            <c:chart xmlns:r="http://schemas.openxmlformats.org/officeDocument/2006/relationships" xmlns:c="http://schemas.openxmlformats.org/drawingml/2006/chart" r:id="Ra7eb649ecdfd4837"/>
          </a:graphicData>
        </a:graphic>
      </p:graphicFrame>
      <p:sp>
        <p:nvSpPr>
          <p:cNvPr id="8" name="budget-summary">
            <a:extLst xmlns:a="http://schemas.openxmlformats.org/drawingml/2006/main">
              <a:ext uri="{FF2B5EF4-FFF2-40B4-BE49-F238E27FC236}">
                <a16:creationId xmlns:a16="http://schemas.microsoft.com/office/drawing/2014/main" id="{0816276C-83CB-4E7B-B877-6EEC4C2B6C3F}"/>
              </a:ext>
            </a:extLst>
          </p:cNvPr>
          <p:cNvSpPr>
            <a:spLocks xmlns:a="http://schemas.openxmlformats.org/drawingml/2006/main" noGrp="1"/>
          </p:cNvSpPr>
          <p:nvPr/>
        </p:nvSpPr>
        <p:spPr>
          <a:xfrm xmlns:a="http://schemas.openxmlformats.org/drawingml/2006/main">
            <a:off x="457200" y="4752975"/>
            <a:ext cx="143256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008E86"/>
                </a:solidFill>
                <a:latin typeface="Liberation Sans"/>
                <a:ea typeface="Liberation Sans"/>
                <a:cs typeface="Liberation Sans"/>
              </a:defRPr>
            </a:defPPr>
          </a:lstStyle>
          <a:p xmlns:a="http://schemas.openxmlformats.org/drawingml/2006/main">
            <a:pPr algn="l">
              <a:defRPr sz="2175" b="1">
                <a:solidFill>
                  <a:srgbClr val="008E86"/>
                </a:solidFill>
                <a:latin typeface="Liberation Sans"/>
                <a:ea typeface="Liberation Sans"/>
                <a:cs typeface="Liberation Sans"/>
              </a:defRPr>
            </a:pPr>
            <a:r>
              <a:rPr sz="2175" b="1">
                <a:solidFill>
                  <a:srgbClr val="008E86"/>
                </a:solidFill>
                <a:latin typeface="Liberation Sans"/>
                <a:ea typeface="Liberation Sans"/>
                <a:cs typeface="Liberation Sans"/>
              </a:rPr>
              <a:t>Bütçe: 1.200 bin TL     Tahmini toplam: 1.100 bin TL     Öngörülen bütçe payı: 100 bin TL</a:t>
            </a:r>
          </a:p>
        </p:txBody>
      </p:sp>
      <p:sp>
        <p:nvSpPr>
          <p:cNvPr id="9" name="risk-title">
            <a:extLst xmlns:a="http://schemas.openxmlformats.org/drawingml/2006/main">
              <a:ext uri="{FF2B5EF4-FFF2-40B4-BE49-F238E27FC236}">
                <a16:creationId xmlns:a16="http://schemas.microsoft.com/office/drawing/2014/main" id="{36AE7728-BCC6-4938-B722-3FF876A205BF}"/>
              </a:ext>
            </a:extLst>
          </p:cNvPr>
          <p:cNvSpPr>
            <a:spLocks xmlns:a="http://schemas.openxmlformats.org/drawingml/2006/main" noGrp="1"/>
          </p:cNvSpPr>
          <p:nvPr/>
        </p:nvSpPr>
        <p:spPr>
          <a:xfrm xmlns:a="http://schemas.openxmlformats.org/drawingml/2006/main">
            <a:off x="457200" y="5391150"/>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4344B"/>
                </a:solidFill>
                <a:latin typeface="Liberation Sans"/>
                <a:ea typeface="Liberation Sans"/>
                <a:cs typeface="Liberation Sans"/>
              </a:defRPr>
            </a:defPPr>
          </a:lstStyle>
          <a:p xmlns:a="http://schemas.openxmlformats.org/drawingml/2006/main">
            <a:pPr algn="l">
              <a:defRPr sz="2025" b="1">
                <a:solidFill>
                  <a:srgbClr val="14344B"/>
                </a:solidFill>
                <a:latin typeface="Liberation Sans"/>
                <a:ea typeface="Liberation Sans"/>
                <a:cs typeface="Liberation Sans"/>
              </a:defRPr>
            </a:pPr>
            <a:r>
              <a:rPr sz="2025" b="1">
                <a:solidFill>
                  <a:srgbClr val="14344B"/>
                </a:solidFill>
                <a:latin typeface="Liberation Sans"/>
                <a:ea typeface="Liberation Sans"/>
                <a:cs typeface="Liberation Sans"/>
              </a:rPr>
              <a:t>Riskler ve önlemler</a:t>
            </a:r>
          </a:p>
        </p:txBody>
      </p:sp>
      <p:graphicFrame>
        <p:nvGraphicFramePr>
          <p:cNvPr id="10" name="">
            <a:extLst xmlns:a="http://schemas.openxmlformats.org/drawingml/2006/main">
              <a:ext uri="{FF2B5EF4-FFF2-40B4-BE49-F238E27FC236}">
                <a16:creationId xmlns:a16="http://schemas.microsoft.com/office/drawing/2014/main" id="{967736CE-5BEC-43CA-A5AC-D272F425AFC1}"/>
              </a:ext>
            </a:extLst>
          </p:cNvPr>
          <p:cNvGraphicFramePr/>
          <p:nvPr/>
        </p:nvGraphicFramePr>
        <p:xfrm>
          <a:off xmlns:a="http://schemas.openxmlformats.org/drawingml/2006/main" x="457200" y="5810250"/>
          <a:ext xmlns:a="http://schemas.openxmlformats.org/drawingml/2006/main" cx="7620000" cy="2400300"/>
        </p:xfrm>
        <a:graphic xmlns:a="http://schemas.openxmlformats.org/drawingml/2006/main">
          <a:graphicData uri="http://schemas.openxmlformats.org/drawingml/2006/table">
            <a:tbl>
              <a:tblPr firstRow="0" bandRow="0"/>
              <a:tblGrid>
                <a:gridCol w="2476500"/>
                <a:gridCol w="5143500"/>
              </a:tblGrid>
              <a:tr h="419100">
                <a:tc>
                  <a:txBody>
                    <a:bodyPr wrap="square" anchor="ctr">
                      <a:noAutofit/>
                    </a:bodyPr>
                    <a:lstStyle/>
                    <a:p>
                      <a:pPr algn="l"/>
                      <a:r>
                        <a:rPr sz="1725" b="1">
                          <a:solidFill>
                            <a:srgbClr val="FFFFFF"/>
                          </a:solidFill>
                          <a:latin typeface="Liberation Sans"/>
                          <a:ea typeface="Liberation Sans"/>
                          <a:cs typeface="Liberation Sans"/>
                        </a:rPr>
                        <a:t>Risk / seviye / etki</a:t>
                      </a:r>
                    </a:p>
                  </a:txBody>
                  <a:tcPr marL="114300" marR="95250" marT="66675" marB="66675">
                    <a:solidFill>
                      <a:srgbClr val="14344B"/>
                    </a:solidFill>
                  </a:tcPr>
                </a:tc>
                <a:tc>
                  <a:txBody>
                    <a:bodyPr wrap="square" anchor="ctr">
                      <a:noAutofit/>
                    </a:bodyPr>
                    <a:lstStyle/>
                    <a:p>
                      <a:pPr algn="l"/>
                      <a:r>
                        <a:rPr sz="1725" b="1">
                          <a:solidFill>
                            <a:srgbClr val="FFFFFF"/>
                          </a:solidFill>
                          <a:latin typeface="Liberation Sans"/>
                          <a:ea typeface="Liberation Sans"/>
                          <a:cs typeface="Liberation Sans"/>
                        </a:rPr>
                        <a:t>Önlem / sorumlu / tarih</a:t>
                      </a:r>
                    </a:p>
                  </a:txBody>
                  <a:tcPr marL="114300" marR="95250" marT="66675" marB="66675">
                    <a:solidFill>
                      <a:srgbClr val="14344B"/>
                    </a:solidFill>
                  </a:tcPr>
                </a:tc>
              </a:tr>
              <a:tr h="990600">
                <a:tc>
                  <a:txBody>
                    <a:bodyPr wrap="square" anchor="ctr">
                      <a:noAutofit/>
                    </a:bodyPr>
                    <a:lstStyle/>
                    <a:p>
                      <a:pPr algn="l"/>
                      <a:r>
                        <a:rPr sz="1875" b="1">
                          <a:solidFill>
                            <a:srgbClr val="B43D3A"/>
                          </a:solidFill>
                          <a:latin typeface="Liberation Sans"/>
                          <a:ea typeface="Liberation Sans"/>
                          <a:cs typeface="Liberation Sans"/>
                        </a:rPr>
                        <a:t>Motor tedariki</a:t>
                      </a:r>
                    </a:p>
                    <a:p>
                      <a:pPr algn="l"/>
                      <a:r>
                        <a:rPr sz="1875" b="1">
                          <a:solidFill>
                            <a:srgbClr val="B43D3A"/>
                          </a:solidFill>
                          <a:latin typeface="Liberation Sans"/>
                          <a:ea typeface="Liberation Sans"/>
                          <a:cs typeface="Liberation Sans"/>
                        </a:rPr>
                        <a:t>Yüksek, +7 gün</a:t>
                      </a:r>
                    </a:p>
                  </a:txBody>
                  <a:tcPr marL="114300" marR="95250" marT="66675" marB="66675">
                    <a:solidFill>
                      <a:srgbClr val="FBE7E6"/>
                    </a:solidFill>
                  </a:tcPr>
                </a:tc>
                <a:tc>
                  <a:txBody>
                    <a:bodyPr wrap="square" anchor="ctr">
                      <a:noAutofit/>
                    </a:bodyPr>
                    <a:lstStyle/>
                    <a:p>
                      <a:pPr algn="l"/>
                      <a:r>
                        <a:rPr sz="1875" b="0">
                          <a:solidFill>
                            <a:srgbClr val="273F50"/>
                          </a:solidFill>
                          <a:latin typeface="Liberation Sans"/>
                          <a:ea typeface="Liberation Sans"/>
                          <a:cs typeface="Liberation Sans"/>
                        </a:rPr>
                        <a:t>Alternatif teklifi kesinleştir.</a:t>
                      </a:r>
                    </a:p>
                    <a:p>
                      <a:pPr algn="l"/>
                      <a:r>
                        <a:rPr sz="1875" b="0">
                          <a:solidFill>
                            <a:srgbClr val="273F50"/>
                          </a:solidFill>
                          <a:latin typeface="Liberation Sans"/>
                          <a:ea typeface="Liberation Sans"/>
                          <a:cs typeface="Liberation Sans"/>
                        </a:rPr>
                        <a:t>Satın alma, 16.10</a:t>
                      </a:r>
                    </a:p>
                  </a:txBody>
                  <a:tcPr marL="114300" marR="95250" marT="66675" marB="66675">
                    <a:solidFill>
                      <a:srgbClr val="FFFFFF"/>
                    </a:solidFill>
                  </a:tcPr>
                </a:tc>
              </a:tr>
              <a:tr h="990600">
                <a:tc>
                  <a:txBody>
                    <a:bodyPr wrap="square" anchor="ctr">
                      <a:noAutofit/>
                    </a:bodyPr>
                    <a:lstStyle/>
                    <a:p>
                      <a:pPr algn="l"/>
                      <a:r>
                        <a:rPr sz="1875" b="1">
                          <a:solidFill>
                            <a:srgbClr val="D97B0A"/>
                          </a:solidFill>
                          <a:latin typeface="Liberation Sans"/>
                          <a:ea typeface="Liberation Sans"/>
                          <a:cs typeface="Liberation Sans"/>
                        </a:rPr>
                        <a:t>Saha kapasitesi</a:t>
                      </a:r>
                    </a:p>
                    <a:p>
                      <a:pPr algn="l"/>
                      <a:r>
                        <a:rPr sz="1875" b="1">
                          <a:solidFill>
                            <a:srgbClr val="D97B0A"/>
                          </a:solidFill>
                          <a:latin typeface="Liberation Sans"/>
                          <a:ea typeface="Liberation Sans"/>
                          <a:cs typeface="Liberation Sans"/>
                        </a:rPr>
                        <a:t>Orta, testte +2 gün</a:t>
                      </a:r>
                    </a:p>
                  </a:txBody>
                  <a:tcPr marL="114300" marR="95250" marT="66675" marB="66675">
                    <a:solidFill>
                      <a:srgbClr val="FFF0D6"/>
                    </a:solidFill>
                  </a:tcPr>
                </a:tc>
                <a:tc>
                  <a:txBody>
                    <a:bodyPr wrap="square" anchor="ctr">
                      <a:noAutofit/>
                    </a:bodyPr>
                    <a:lstStyle/>
                    <a:p>
                      <a:pPr algn="l"/>
                      <a:r>
                        <a:rPr sz="1875" b="0">
                          <a:solidFill>
                            <a:srgbClr val="273F50"/>
                          </a:solidFill>
                          <a:latin typeface="Liberation Sans"/>
                          <a:ea typeface="Liberation Sans"/>
                          <a:cs typeface="Liberation Sans"/>
                        </a:rPr>
                        <a:t>2 üretim personelini ayır.</a:t>
                      </a:r>
                    </a:p>
                    <a:p>
                      <a:pPr algn="l"/>
                      <a:r>
                        <a:rPr sz="1875" b="0">
                          <a:solidFill>
                            <a:srgbClr val="273F50"/>
                          </a:solidFill>
                          <a:latin typeface="Liberation Sans"/>
                          <a:ea typeface="Liberation Sans"/>
                          <a:cs typeface="Liberation Sans"/>
                        </a:rPr>
                        <a:t>Üretim, 19.10</a:t>
                      </a:r>
                    </a:p>
                  </a:txBody>
                  <a:tcPr marL="114300" marR="95250" marT="66675" marB="66675">
                    <a:solidFill>
                      <a:srgbClr val="F1F6FA"/>
                    </a:solidFill>
                  </a:tcPr>
                </a:tc>
              </a:tr>
            </a:tbl>
          </a:graphicData>
        </a:graphic>
      </p:graphicFrame>
      <p:sp>
        <p:nvSpPr>
          <p:cNvPr id="11" name="work-title">
            <a:extLst xmlns:a="http://schemas.openxmlformats.org/drawingml/2006/main">
              <a:ext uri="{FF2B5EF4-FFF2-40B4-BE49-F238E27FC236}">
                <a16:creationId xmlns:a16="http://schemas.microsoft.com/office/drawing/2014/main" id="{90D7F315-FC63-46B6-976E-D4F02FAFD26F}"/>
              </a:ext>
            </a:extLst>
          </p:cNvPr>
          <p:cNvSpPr>
            <a:spLocks xmlns:a="http://schemas.openxmlformats.org/drawingml/2006/main" noGrp="1"/>
          </p:cNvSpPr>
          <p:nvPr/>
        </p:nvSpPr>
        <p:spPr>
          <a:xfrm xmlns:a="http://schemas.openxmlformats.org/drawingml/2006/main">
            <a:off x="8686800" y="539115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1">
                <a:solidFill>
                  <a:srgbClr val="14344B"/>
                </a:solidFill>
                <a:latin typeface="Liberation Sans"/>
                <a:ea typeface="Liberation Sans"/>
                <a:cs typeface="Liberation Sans"/>
              </a:defRPr>
            </a:defPPr>
          </a:lstStyle>
          <a:p xmlns:a="http://schemas.openxmlformats.org/drawingml/2006/main">
            <a:pPr algn="l">
              <a:defRPr sz="2025" b="1">
                <a:solidFill>
                  <a:srgbClr val="14344B"/>
                </a:solidFill>
                <a:latin typeface="Liberation Sans"/>
                <a:ea typeface="Liberation Sans"/>
                <a:cs typeface="Liberation Sans"/>
              </a:defRPr>
            </a:pPr>
            <a:r>
              <a:rPr sz="2025" b="1">
                <a:solidFill>
                  <a:srgbClr val="14344B"/>
                </a:solidFill>
                <a:latin typeface="Liberation Sans"/>
                <a:ea typeface="Liberation Sans"/>
                <a:cs typeface="Liberation Sans"/>
              </a:rPr>
              <a:t>Yapılanlar / yapılacaklar</a:t>
            </a:r>
          </a:p>
        </p:txBody>
      </p:sp>
      <p:graphicFrame>
        <p:nvGraphicFramePr>
          <p:cNvPr id="12" name="">
            <a:extLst xmlns:a="http://schemas.openxmlformats.org/drawingml/2006/main">
              <a:ext uri="{FF2B5EF4-FFF2-40B4-BE49-F238E27FC236}">
                <a16:creationId xmlns:a16="http://schemas.microsoft.com/office/drawing/2014/main" id="{235FA6A9-9322-47EF-A028-DC249AD908F2}"/>
              </a:ext>
            </a:extLst>
          </p:cNvPr>
          <p:cNvGraphicFramePr/>
          <p:nvPr/>
        </p:nvGraphicFramePr>
        <p:xfrm>
          <a:off xmlns:a="http://schemas.openxmlformats.org/drawingml/2006/main" x="8686800" y="5810250"/>
          <a:ext xmlns:a="http://schemas.openxmlformats.org/drawingml/2006/main" cx="6096000" cy="2419350"/>
        </p:xfrm>
        <a:graphic xmlns:a="http://schemas.openxmlformats.org/drawingml/2006/main">
          <a:graphicData uri="http://schemas.openxmlformats.org/drawingml/2006/table">
            <a:tbl>
              <a:tblPr firstRow="0" bandRow="0"/>
              <a:tblGrid>
                <a:gridCol w="1428750"/>
                <a:gridCol w="4667250"/>
              </a:tblGrid>
              <a:tr h="419100">
                <a:tc>
                  <a:txBody>
                    <a:bodyPr wrap="square" anchor="ctr">
                      <a:noAutofit/>
                    </a:bodyPr>
                    <a:lstStyle/>
                    <a:p>
                      <a:pPr algn="l"/>
                      <a:r>
                        <a:rPr sz="1725" b="1">
                          <a:solidFill>
                            <a:srgbClr val="FFFFFF"/>
                          </a:solidFill>
                          <a:latin typeface="Liberation Sans"/>
                          <a:ea typeface="Liberation Sans"/>
                          <a:cs typeface="Liberation Sans"/>
                        </a:rPr>
                        <a:t>Durum</a:t>
                      </a:r>
                    </a:p>
                  </a:txBody>
                  <a:tcPr marL="114300" marR="95250" marT="57150" marB="57150">
                    <a:solidFill>
                      <a:srgbClr val="14344B"/>
                    </a:solidFill>
                  </a:tcPr>
                </a:tc>
                <a:tc>
                  <a:txBody>
                    <a:bodyPr wrap="square" anchor="ctr">
                      <a:noAutofit/>
                    </a:bodyPr>
                    <a:lstStyle/>
                    <a:p>
                      <a:pPr algn="l"/>
                      <a:r>
                        <a:rPr sz="1725" b="1">
                          <a:solidFill>
                            <a:srgbClr val="FFFFFF"/>
                          </a:solidFill>
                          <a:latin typeface="Liberation Sans"/>
                          <a:ea typeface="Liberation Sans"/>
                          <a:cs typeface="Liberation Sans"/>
                        </a:rPr>
                        <a:t>İş / tarih ve sorumlu</a:t>
                      </a:r>
                    </a:p>
                  </a:txBody>
                  <a:tcPr marL="114300" marR="95250" marT="57150" marB="57150">
                    <a:solidFill>
                      <a:srgbClr val="14344B"/>
                    </a:solidFill>
                  </a:tcPr>
                </a:tc>
              </a:tr>
              <a:tr h="666750">
                <a:tc>
                  <a:txBody>
                    <a:bodyPr wrap="square" anchor="ctr">
                      <a:noAutofit/>
                    </a:bodyPr>
                    <a:lstStyle/>
                    <a:p>
                      <a:pPr algn="l"/>
                      <a:r>
                        <a:rPr sz="1800" b="1">
                          <a:solidFill>
                            <a:srgbClr val="008E86"/>
                          </a:solidFill>
                          <a:latin typeface="Liberation Sans"/>
                          <a:ea typeface="Liberation Sans"/>
                          <a:cs typeface="Liberation Sans"/>
                        </a:rPr>
                        <a:t>Yapıldı</a:t>
                      </a:r>
                    </a:p>
                  </a:txBody>
                  <a:tcPr marL="114300" marR="95250" marT="57150" marB="57150">
                    <a:solidFill>
                      <a:srgbClr val="DDF2EE"/>
                    </a:solidFill>
                  </a:tcPr>
                </a:tc>
                <a:tc>
                  <a:txBody>
                    <a:bodyPr wrap="square" anchor="ctr">
                      <a:noAutofit/>
                    </a:bodyPr>
                    <a:lstStyle/>
                    <a:p>
                      <a:pPr algn="l"/>
                      <a:r>
                        <a:rPr sz="1800" b="0">
                          <a:solidFill>
                            <a:srgbClr val="273F50"/>
                          </a:solidFill>
                          <a:latin typeface="Liberation Sans"/>
                          <a:ea typeface="Liberation Sans"/>
                          <a:cs typeface="Liberation Sans"/>
                        </a:rPr>
                        <a:t>Tasarım onayı alındı.</a:t>
                      </a:r>
                    </a:p>
                    <a:p>
                      <a:pPr algn="l"/>
                      <a:r>
                        <a:rPr sz="1800" b="0">
                          <a:solidFill>
                            <a:srgbClr val="273F50"/>
                          </a:solidFill>
                          <a:latin typeface="Liberation Sans"/>
                          <a:ea typeface="Liberation Sans"/>
                          <a:cs typeface="Liberation Sans"/>
                        </a:rPr>
                        <a:t>09.10, Mühendislik</a:t>
                      </a:r>
                    </a:p>
                  </a:txBody>
                  <a:tcPr marL="114300" marR="95250" marT="57150" marB="57150">
                    <a:solidFill>
                      <a:srgbClr val="FFFFFF"/>
                    </a:solidFill>
                  </a:tcPr>
                </a:tc>
              </a:tr>
              <a:tr h="666750">
                <a:tc>
                  <a:txBody>
                    <a:bodyPr wrap="square" anchor="ctr">
                      <a:noAutofit/>
                    </a:bodyPr>
                    <a:lstStyle/>
                    <a:p>
                      <a:pPr algn="l"/>
                      <a:r>
                        <a:rPr sz="1800" b="1">
                          <a:solidFill>
                            <a:srgbClr val="D97B0A"/>
                          </a:solidFill>
                          <a:latin typeface="Liberation Sans"/>
                          <a:ea typeface="Liberation Sans"/>
                          <a:cs typeface="Liberation Sans"/>
                        </a:rPr>
                        <a:t>Sıradaki</a:t>
                      </a:r>
                    </a:p>
                  </a:txBody>
                  <a:tcPr marL="114300" marR="95250" marT="57150" marB="57150">
                    <a:solidFill>
                      <a:srgbClr val="FFF0D6"/>
                    </a:solidFill>
                  </a:tcPr>
                </a:tc>
                <a:tc>
                  <a:txBody>
                    <a:bodyPr wrap="square" anchor="ctr">
                      <a:noAutofit/>
                    </a:bodyPr>
                    <a:lstStyle/>
                    <a:p>
                      <a:pPr algn="l"/>
                      <a:r>
                        <a:rPr sz="1800" b="0">
                          <a:solidFill>
                            <a:srgbClr val="273F50"/>
                          </a:solidFill>
                          <a:latin typeface="Liberation Sans"/>
                          <a:ea typeface="Liberation Sans"/>
                          <a:cs typeface="Liberation Sans"/>
                        </a:rPr>
                        <a:t>Motor siparişini kesinleştir.</a:t>
                      </a:r>
                    </a:p>
                    <a:p>
                      <a:pPr algn="l"/>
                      <a:r>
                        <a:rPr sz="1800" b="0">
                          <a:solidFill>
                            <a:srgbClr val="273F50"/>
                          </a:solidFill>
                          <a:latin typeface="Liberation Sans"/>
                          <a:ea typeface="Liberation Sans"/>
                          <a:cs typeface="Liberation Sans"/>
                        </a:rPr>
                        <a:t>16.10, Satın alma</a:t>
                      </a:r>
                    </a:p>
                  </a:txBody>
                  <a:tcPr marL="114300" marR="95250" marT="57150" marB="57150">
                    <a:solidFill>
                      <a:srgbClr val="F1F6FA"/>
                    </a:solidFill>
                  </a:tcPr>
                </a:tc>
              </a:tr>
              <a:tr h="666750">
                <a:tc>
                  <a:txBody>
                    <a:bodyPr wrap="square" anchor="ctr">
                      <a:noAutofit/>
                    </a:bodyPr>
                    <a:lstStyle/>
                    <a:p>
                      <a:pPr algn="l"/>
                      <a:r>
                        <a:rPr sz="1800" b="1">
                          <a:solidFill>
                            <a:srgbClr val="D97B0A"/>
                          </a:solidFill>
                          <a:latin typeface="Liberation Sans"/>
                          <a:ea typeface="Liberation Sans"/>
                          <a:cs typeface="Liberation Sans"/>
                        </a:rPr>
                        <a:t>Sıradaki</a:t>
                      </a:r>
                    </a:p>
                  </a:txBody>
                  <a:tcPr marL="114300" marR="95250" marT="57150" marB="57150">
                    <a:solidFill>
                      <a:srgbClr val="FFF0D6"/>
                    </a:solidFill>
                  </a:tcPr>
                </a:tc>
                <a:tc>
                  <a:txBody>
                    <a:bodyPr wrap="square" anchor="ctr">
                      <a:noAutofit/>
                    </a:bodyPr>
                    <a:lstStyle/>
                    <a:p>
                      <a:pPr algn="l"/>
                      <a:r>
                        <a:rPr sz="1800" b="0">
                          <a:solidFill>
                            <a:srgbClr val="273F50"/>
                          </a:solidFill>
                          <a:latin typeface="Liberation Sans"/>
                          <a:ea typeface="Liberation Sans"/>
                          <a:cs typeface="Liberation Sans"/>
                        </a:rPr>
                        <a:t>Kurulum ekibini ayır.</a:t>
                      </a:r>
                    </a:p>
                    <a:p>
                      <a:pPr algn="l"/>
                      <a:r>
                        <a:rPr sz="1800" b="0">
                          <a:solidFill>
                            <a:srgbClr val="273F50"/>
                          </a:solidFill>
                          <a:latin typeface="Liberation Sans"/>
                          <a:ea typeface="Liberation Sans"/>
                          <a:cs typeface="Liberation Sans"/>
                        </a:rPr>
                        <a:t>19.10, Üretim</a:t>
                      </a:r>
                    </a:p>
                  </a:txBody>
                  <a:tcPr marL="114300" marR="95250" marT="57150" marB="57150">
                    <a:solidFill>
                      <a:srgbClr val="FFFFFF"/>
                    </a:solidFill>
                  </a:tcPr>
                </a:tc>
              </a:tr>
            </a:tbl>
          </a:graphicData>
        </a:graphic>
      </p:graphicFrame>
    </p:spTree>
    <p:extLst>
      <p:ext uri="{BB962C8B-B14F-4D97-AF65-F5344CB8AC3E}">
        <p14:creationId xmlns:p14="http://schemas.microsoft.com/office/powerpoint/2010/main" val="16798740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2026-10-15T12:31:24.9670000Z</dcterms:created>
  <dcterms:modified xsi:type="dcterms:W3CDTF">2026-10-15T12:31:24.9680000Z</dcterms:modified>
</coreProperties>
</file>
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notesSlides/notesSlide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fbe8a91c699407c" /><Relationship Type="http://schemas.openxmlformats.org/officeDocument/2006/relationships/extended-properties" Target="/docProps/app.xml" Id="R06246fad05b84a6c" /><Relationship Type="http://schemas.openxmlformats.org/officeDocument/2006/relationships/officeDocument" Target="/ppt/presentation.xml" Id="R4c921f30be87431f" /></Relationships>
</file>

<file path=ppt/presentation.xml><?xml version="1.0" encoding="utf-8"?>
<p:presentation xmlns:p="http://schemas.openxmlformats.org/presentationml/2006/main">
  <p:sldMasterIdLst>
    <p:sldMasterId xmlns:r="http://schemas.openxmlformats.org/officeDocument/2006/relationships" id="2147483648" r:id="Rfcb06edbabfc4324"/>
  </p:sldMasterIdLst>
  <p:notesMasterIdLst>
    <p:notesMasterId xmlns:r="http://schemas.openxmlformats.org/officeDocument/2006/relationships" r:id="Rb6ca07abe75c44bd"/>
  </p:notesMasterIdLst>
  <p:sldIdLst>
    <p:sldId xmlns:r="http://schemas.openxmlformats.org/officeDocument/2006/relationships" id="256" r:id="R3e8a0e2c743c42ff"/>
    <p:sldId xmlns:r="http://schemas.openxmlformats.org/officeDocument/2006/relationships" id="257" r:id="R7839592aa95547f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b8b1d86e854fea" /><Relationship Type="http://schemas.openxmlformats.org/officeDocument/2006/relationships/slideMaster" Target="/ppt/slideMasters/slideMaster1.xml" Id="Rfcb06edbabfc4324" /><Relationship Type="http://schemas.openxmlformats.org/officeDocument/2006/relationships/notesMaster" Target="/ppt/notesMasters/notesMaster1.xml" Id="Rb6ca07abe75c44bd" /><Relationship Type="http://schemas.openxmlformats.org/officeDocument/2006/relationships/presProps" Target="/ppt/presProps.xml" Id="R53acaf4a42744e09" /><Relationship Type="http://schemas.openxmlformats.org/officeDocument/2006/relationships/tableStyles" Target="/ppt/tableStyles.xml" Id="Rf4813debac7144ac" /><Relationship Type="http://schemas.openxmlformats.org/officeDocument/2006/relationships/slide" Target="/ppt/slides/slide1.xml" Id="R3e8a0e2c743c42ff" /><Relationship Type="http://schemas.openxmlformats.org/officeDocument/2006/relationships/slide" Target="/ppt/slides/slide2.xml" Id="R7839592aa95547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1e86ab13b541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952efd500b4b34" /><Relationship Type="http://schemas.openxmlformats.org/officeDocument/2006/relationships/notesMaster" Target="/ppt/notesMasters/notesMaster1.xml" Id="R64ed48f409a84d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15bba70e934657" /><Relationship Type="http://schemas.openxmlformats.org/officeDocument/2006/relationships/notesMaster" Target="/ppt/notesMasters/notesMaster1.xml" Id="R21a0ee84d88149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Tek proje yöneticisinin üç projelik haftalık özeti. Üretim Hattı yüzde 30 tamamlanması önceki kullanıcı örneğidir. Diğer oranlar, tüm tarihler, ekipler ve finans tutarları örnek veridir. Takvim sütunları 2026 yılındaki pazartesi hafta başlangıçlarını gösterir. Turuncu hücreler kritik teslimat veya testin bulunduğu haftalardır, gerçekleşmiş gecikme ölçüsü değildir. Üretim 10 yüzde puanı geride ve güncel bitişi 7 gün geçtir. Portal 5 yüzde puanı ileride ve güncel bitişi 3 gün erkendir. Depo planındadır. Her projede departman kişi ve saatleri toplanmıştır; aynı çalışan birden fazla projede çalışabileceği için projelerin kişi sayılarını benzersiz portföy kişi sayısı olarak toplamayın. Sıfır departman katkısı uzun çizgiyle gösterilir. Bilgi tekn. Bilgi Teknolojileri, Proje yön. Proje Yönetimidir. Geliş. geliştirme, Enteg. entegrasyondur. Efor saatleri rapor tarihine kadar birikimlidir.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Tüm tutarlar örnek veri, bin TL, KDV hariçtir. Tahmini toplam = gerçek efor + alınan malzeme + kalan efor + alınacak malzeme. Üretim 240+180+360+320=1100, bütçesi1200, fark100. Portal220+60+270+300=850,bütçesi800,fark-50. Depo160+220+240+280=900,bütçesi950,fark50. Portföy tahmini toplam2850,bütçe2950,fark100. Pozitif bütçe farkı bütçe payı, negatif fark beklenen aşım anlamına gelir. Risk etkileri olası takvim etkisini belirtir; tüm risk etkilerini mevcut bitiş sapmasına otomatik eklemeyin. BT, Bilgi Teknolojileridir. Her projede bir tamamlanan iş ve bir tarihli/sorumlulu sıradaki iş gösterilir.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d496f2433049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bd7d4a5e414a1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cca40f02b594e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af08832435042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2f86f7528404c6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09b976c49248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1A161F-0F44-4559-BA71-DC4897594132}"/>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033E58B-BB53-4D1E-B6DB-7F32A56BB555}"/>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EA3348A-F3D1-4296-8CAA-4077C88F6853}"/>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52CB86-E2E2-4F83-ABFB-F3240EEFDBC8}"/>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467617B-0784-49D2-B94C-87EBEE28D804}"/>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9020DD8-437A-46C9-A3FA-75A4E42743B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7E1A18-06E4-410C-9FBF-A4D3C9FCA96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9BBED1-66CC-48CF-9AA3-2ADF3C1FD21C}"/>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9F99E7-7626-42DE-8AF2-6A6F4831275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014B71-0CEC-46B1-9FD4-99986C91F64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501616d9b241b5" /><Relationship Type="http://schemas.openxmlformats.org/officeDocument/2006/relationships/slideLayout" Target="/ppt/slideLayouts/slideLayout1.xml" Id="Rc15a8717f2b54dd4" /><Relationship Type="http://schemas.openxmlformats.org/officeDocument/2006/relationships/slideLayout" Target="/ppt/slideLayouts/slideLayout2.xml" Id="Ra285c93d8c5a4ca6" /><Relationship Type="http://schemas.openxmlformats.org/officeDocument/2006/relationships/slideLayout" Target="/ppt/slideLayouts/slideLayout3.xml" Id="Rf8b56b74d3a049d7" /><Relationship Type="http://schemas.openxmlformats.org/officeDocument/2006/relationships/slideLayout" Target="/ppt/slideLayouts/slideLayout4.xml" Id="Rd996ca57fede4e65" /><Relationship Type="http://schemas.openxmlformats.org/officeDocument/2006/relationships/slideLayout" Target="/ppt/slideLayouts/slideLayout5.xml" Id="Rf3cc42f6b9ec4512" /><Relationship Type="http://schemas.openxmlformats.org/officeDocument/2006/relationships/slideLayout" Target="/ppt/slideLayouts/slideLayout6.xml" Id="R0773a9f8944644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5a8717f2b54dd4"/>
    <p:sldLayoutId xmlns:r="http://schemas.openxmlformats.org/officeDocument/2006/relationships" id="2147483650" r:id="Ra285c93d8c5a4ca6"/>
    <p:sldLayoutId xmlns:r="http://schemas.openxmlformats.org/officeDocument/2006/relationships" id="2147483651" r:id="Rf8b56b74d3a049d7"/>
    <p:sldLayoutId xmlns:r="http://schemas.openxmlformats.org/officeDocument/2006/relationships" id="2147483652" r:id="Rd996ca57fede4e65"/>
    <p:sldLayoutId xmlns:r="http://schemas.openxmlformats.org/officeDocument/2006/relationships" id="2147483653" r:id="Rf3cc42f6b9ec4512"/>
    <p:sldLayoutId xmlns:r="http://schemas.openxmlformats.org/officeDocument/2006/relationships" id="2147483654" r:id="R0773a9f8944644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e8af30d279b40d0" /><Relationship Type="http://schemas.openxmlformats.org/officeDocument/2006/relationships/chart" Target="/ppt/slides/charts/chart1.xml" Id="R8d45016084b0491f" /><Relationship Type="http://schemas.openxmlformats.org/officeDocument/2006/relationships/notesSlide" Target="/ppt/notesSlides/notesSlide1.xml" Id="Ra63553d94a5846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1c17a3a2c5b42c1" /><Relationship Type="http://schemas.openxmlformats.org/officeDocument/2006/relationships/chart" Target="/ppt/slides/charts/chart2.xml" Id="Rc77d35e1849b4420" /><Relationship Type="http://schemas.openxmlformats.org/officeDocument/2006/relationships/notesSlide" Target="/ppt/notesSlides/notesSlide2.xml" Id="Rb5de7a9f0d2248a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4344B"/>
                </a:solidFill>
                <a:latin typeface="Liberation Sans"/>
                <a:ea typeface="Liberation Sans"/>
                <a:cs typeface="Liberation Sans"/>
              </a:rPr>
              <a:t>Tamamlanma: gerçek ve plan</a:t>
            </a:r>
          </a:p>
        </c:rich>
      </c:tx>
      <c:overlay val="0"/>
      <c:txPr>
        <a:bodyPr xmlns:a="http://schemas.openxmlformats.org/drawingml/2006/main" anchorCtr="1"/>
        <a:lstStyle xmlns:a="http://schemas.openxmlformats.org/drawingml/2006/main"/>
        <a:p xmlns:a="http://schemas.openxmlformats.org/drawingml/2006/main">
          <a:pPr>
            <a:defRPr sz="1875" b="1">
              <a:solidFill>
                <a:srgbClr val="14344B"/>
              </a:solidFill>
              <a:latin typeface="Liberation Sans"/>
              <a:ea typeface="Liberation Sans"/>
              <a:cs typeface="Liberation Sans"/>
            </a:defRPr>
          </a:pPr>
        </a:p>
      </c:txPr>
    </c:title>
    <c:plotArea>
      <c:barChart>
        <c:barDir val="bar"/>
        <c:grouping val="clustered"/>
        <c:varyColors val="0"/>
        <c:ser>
          <c:idx val="0"/>
          <c:order val="0"/>
          <c:tx>
            <c:v>Gerçek</c:v>
          </c:tx>
          <c:spPr>
            <a:solidFill xmlns:a="http://schemas.openxmlformats.org/drawingml/2006/main">
              <a:srgbClr val="2563EB"/>
            </a:solidFill>
          </c:spPr>
          <c:cat>
            <c:strRef>
              <c:f>'Chart Data'!$A$2:$A$4</c:f>
              <c:strCache>
                <c:ptCount val="3"/>
                <c:pt idx="0">
                  <c:v>Üretim Hattı</c:v>
                </c:pt>
                <c:pt idx="1">
                  <c:v>Müşteri Portalı</c:v>
                </c:pt>
                <c:pt idx="2">
                  <c:v>Depo Otomasyonu</c:v>
                </c:pt>
              </c:strCache>
            </c:strRef>
          </c:cat>
          <c:val>
            <c:numRef>
              <c:f>'Chart Data'!$B$2:$B$4</c:f>
              <c:numCache>
                <c:formatCode>0"%"</c:formatCode>
                <c:ptCount val="3"/>
                <c:pt idx="0">
                  <c:v>30</c:v>
                </c:pt>
                <c:pt idx="1">
                  <c:v>65</c:v>
                </c:pt>
                <c:pt idx="2">
                  <c:v>45</c:v>
                </c:pt>
              </c:numCache>
            </c:numRef>
          </c:val>
        </c:ser>
        <c:ser>
          <c:idx val="1"/>
          <c:order val="1"/>
          <c:tx>
            <c:v>Plan</c:v>
          </c:tx>
          <c:spPr>
            <a:solidFill xmlns:a="http://schemas.openxmlformats.org/drawingml/2006/main">
              <a:srgbClr val="B8CEF0"/>
            </a:solidFill>
          </c:spPr>
          <c:cat>
            <c:strRef>
              <c:f>'Chart Data'!$C$2:$C$4</c:f>
              <c:strCache>
                <c:ptCount val="3"/>
                <c:pt idx="0">
                  <c:v>Üretim Hattı</c:v>
                </c:pt>
                <c:pt idx="1">
                  <c:v>Müşteri Portalı</c:v>
                </c:pt>
                <c:pt idx="2">
                  <c:v>Depo Otomasyonu</c:v>
                </c:pt>
              </c:strCache>
            </c:strRef>
          </c:cat>
          <c:val>
            <c:numRef>
              <c:f>'Chart Data'!$D$2:$D$4</c:f>
              <c:numCache>
                <c:formatCode>0"%"</c:formatCode>
                <c:ptCount val="3"/>
                <c:pt idx="0">
                  <c:v>40</c:v>
                </c:pt>
                <c:pt idx="1">
                  <c:v>60</c:v>
                </c:pt>
                <c:pt idx="2">
                  <c:v>45</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1500" b="1">
                  <a:solidFill>
                    <a:srgbClr val="14344B"/>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273F50"/>
                </a:solidFill>
                <a:latin typeface="Liberation Sans"/>
                <a:ea typeface="Liberation Sans"/>
                <a:cs typeface="Liberation Sans"/>
              </a:defRPr>
            </a:pPr>
          </a:p>
        </c:txPr>
        <c:crossAx val="48672768"/>
      </c:catAx>
      <c:valAx>
        <c:axId val="48672768"/>
        <c:scaling>
          <c:orientation val="minMax"/>
          <c:max val="100"/>
          <c:min val="0"/>
        </c:scaling>
        <c:delete val="0"/>
        <c:axPos val="b"/>
        <c:majorGridlines>
          <c:spPr>
            <a:ln xmlns:a="http://schemas.openxmlformats.org/drawingml/2006/main" w="9525">
              <a:solidFill>
                <a:srgbClr val="DCE5EB"/>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1778A"/>
                </a:solidFill>
                <a:latin typeface="Liberation Sans"/>
                <a:ea typeface="Liberation Sans"/>
                <a:cs typeface="Liberation Sans"/>
              </a:defRPr>
            </a:pPr>
          </a:p>
        </c:txPr>
        <c:crossAx val="48650112"/>
        <c:crossBetween val="between"/>
        <c:majorUnit val="2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61778A"/>
              </a:solidFill>
              <a:latin typeface="Liberation Sans"/>
              <a:ea typeface="Liberation Sans"/>
              <a:cs typeface="Liberation Sans"/>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4344B"/>
                </a:solidFill>
                <a:latin typeface="Liberation Sans"/>
                <a:ea typeface="Liberation Sans"/>
                <a:cs typeface="Liberation Sans"/>
              </a:rPr>
              <a:t>Maliyet / bütçe (bin TL)</a:t>
            </a:r>
          </a:p>
        </c:rich>
      </c:tx>
      <c:overlay val="0"/>
      <c:txPr>
        <a:bodyPr xmlns:a="http://schemas.openxmlformats.org/drawingml/2006/main" anchorCtr="1"/>
        <a:lstStyle xmlns:a="http://schemas.openxmlformats.org/drawingml/2006/main"/>
        <a:p xmlns:a="http://schemas.openxmlformats.org/drawingml/2006/main">
          <a:pPr>
            <a:defRPr sz="1800" b="1">
              <a:solidFill>
                <a:srgbClr val="14344B"/>
              </a:solidFill>
              <a:latin typeface="Liberation Sans"/>
              <a:ea typeface="Liberation Sans"/>
              <a:cs typeface="Liberation Sans"/>
            </a:defRPr>
          </a:pPr>
        </a:p>
      </c:txPr>
    </c:title>
    <c:plotArea>
      <c:barChart>
        <c:barDir val="bar"/>
        <c:grouping val="clustered"/>
        <c:varyColors val="0"/>
        <c:ser>
          <c:idx val="0"/>
          <c:order val="0"/>
          <c:tx>
            <c:v>Tahmin</c:v>
          </c:tx>
          <c:spPr>
            <a:solidFill xmlns:a="http://schemas.openxmlformats.org/drawingml/2006/main">
              <a:srgbClr val="D97B0A"/>
            </a:solidFill>
          </c:spPr>
          <c:cat>
            <c:strRef>
              <c:f>'Chart Data'!$A$2:$A$4</c:f>
              <c:strCache>
                <c:ptCount val="3"/>
                <c:pt idx="0">
                  <c:v>Üretim</c:v>
                </c:pt>
                <c:pt idx="1">
                  <c:v>Portal</c:v>
                </c:pt>
                <c:pt idx="2">
                  <c:v>Depo</c:v>
                </c:pt>
              </c:strCache>
            </c:strRef>
          </c:cat>
          <c:val>
            <c:numRef>
              <c:f>'Chart Data'!$B$2:$B$4</c:f>
              <c:numCache>
                <c:formatCode>0</c:formatCode>
                <c:ptCount val="3"/>
                <c:pt idx="0">
                  <c:v>1100</c:v>
                </c:pt>
                <c:pt idx="1">
                  <c:v>850</c:v>
                </c:pt>
                <c:pt idx="2">
                  <c:v>900</c:v>
                </c:pt>
              </c:numCache>
            </c:numRef>
          </c:val>
        </c:ser>
        <c:ser>
          <c:idx val="1"/>
          <c:order val="1"/>
          <c:tx>
            <c:v>Bütçe</c:v>
          </c:tx>
          <c:spPr>
            <a:solidFill xmlns:a="http://schemas.openxmlformats.org/drawingml/2006/main">
              <a:srgbClr val="008E86"/>
            </a:solidFill>
          </c:spPr>
          <c:cat>
            <c:strRef>
              <c:f>'Chart Data'!$C$2:$C$4</c:f>
              <c:strCache>
                <c:ptCount val="3"/>
                <c:pt idx="0">
                  <c:v>Üretim</c:v>
                </c:pt>
                <c:pt idx="1">
                  <c:v>Portal</c:v>
                </c:pt>
                <c:pt idx="2">
                  <c:v>Depo</c:v>
                </c:pt>
              </c:strCache>
            </c:strRef>
          </c:cat>
          <c:val>
            <c:numRef>
              <c:f>'Chart Data'!$D$2:$D$4</c:f>
              <c:numCache>
                <c:formatCode>0</c:formatCode>
                <c:ptCount val="3"/>
                <c:pt idx="0">
                  <c:v>1200</c:v>
                </c:pt>
                <c:pt idx="1">
                  <c:v>800</c:v>
                </c:pt>
                <c:pt idx="2">
                  <c:v>950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b="1">
                  <a:solidFill>
                    <a:srgbClr val="14344B"/>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70"/>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650">
                <a:solidFill>
                  <a:srgbClr val="273F50"/>
                </a:solidFill>
                <a:latin typeface="Liberation Sans"/>
                <a:ea typeface="Liberation Sans"/>
                <a:cs typeface="Liberation Sans"/>
              </a:defRPr>
            </a:pPr>
          </a:p>
        </c:txPr>
        <c:crossAx val="48672768"/>
      </c:catAx>
      <c:valAx>
        <c:axId val="48672768"/>
        <c:scaling>
          <c:orientation val="minMax"/>
          <c:max val="1500"/>
          <c:min val="0"/>
        </c:scaling>
        <c:delete val="0"/>
        <c:axPos val="b"/>
        <c:majorGridlines>
          <c:spPr>
            <a:ln xmlns:a="http://schemas.openxmlformats.org/drawingml/2006/main" w="9525">
              <a:solidFill>
                <a:srgbClr val="DCE5EB"/>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1778A"/>
                </a:solidFill>
                <a:latin typeface="Liberation Sans"/>
                <a:ea typeface="Liberation Sans"/>
                <a:cs typeface="Liberation Sans"/>
              </a:defRPr>
            </a:pPr>
          </a:p>
        </c:txPr>
        <c:crossAx val="48650112"/>
        <c:crossBetween val="between"/>
        <c:majorUnit val="5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61778A"/>
              </a:solidFill>
              <a:latin typeface="Liberation Sans"/>
              <a:ea typeface="Liberation Sans"/>
              <a:cs typeface="Liberation San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9E59638F-EFA4-4A91-916E-335D27E8AF37}"/>
              </a:ext>
            </a:extLst>
          </p:cNvPr>
          <p:cNvSpPr>
            <a:spLocks xmlns:a="http://schemas.openxmlformats.org/drawingml/2006/main" noGrp="1"/>
          </p:cNvSpPr>
          <p:nvPr/>
        </p:nvSpPr>
        <p:spPr>
          <a:xfrm xmlns:a="http://schemas.openxmlformats.org/drawingml/2006/main">
            <a:off x="457200" y="266700"/>
            <a:ext cx="1432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300" b="1">
                <a:solidFill>
                  <a:srgbClr val="14344B"/>
                </a:solidFill>
                <a:latin typeface="Liberation Sans"/>
                <a:ea typeface="Liberation Sans"/>
                <a:cs typeface="Liberation Sans"/>
              </a:defRPr>
            </a:defPPr>
          </a:lstStyle>
          <a:p xmlns:a="http://schemas.openxmlformats.org/drawingml/2006/main">
            <a:pPr algn="l">
              <a:buNone/>
              <a:defRPr sz="3300" b="1">
                <a:solidFill>
                  <a:srgbClr val="14344B"/>
                </a:solidFill>
                <a:latin typeface="Liberation Sans"/>
                <a:ea typeface="Liberation Sans"/>
                <a:cs typeface="Liberation Sans"/>
              </a:defRPr>
            </a:pPr>
            <a:r>
              <a:rPr sz="3300" b="1">
                <a:solidFill>
                  <a:srgbClr val="14344B"/>
                </a:solidFill>
                <a:latin typeface="Liberation Sans"/>
                <a:ea typeface="Liberation Sans"/>
                <a:cs typeface="Liberation Sans"/>
              </a:rPr>
              <a:t>Projelerimin haftalık takvimi</a:t>
            </a:r>
          </a:p>
        </p:txBody>
      </p:sp>
      <p:sp>
        <p:nvSpPr>
          <p:cNvPr id="2" name="project">
            <a:extLst xmlns:a="http://schemas.openxmlformats.org/drawingml/2006/main">
              <a:ext uri="{FF2B5EF4-FFF2-40B4-BE49-F238E27FC236}">
                <a16:creationId xmlns:a16="http://schemas.microsoft.com/office/drawing/2014/main" id="{F8B49C8A-80C9-4740-9F43-36BBD99A9C7F}"/>
              </a:ext>
            </a:extLst>
          </p:cNvPr>
          <p:cNvSpPr>
            <a:spLocks xmlns:a="http://schemas.openxmlformats.org/drawingml/2006/main" noGrp="1"/>
          </p:cNvSpPr>
          <p:nvPr/>
        </p:nvSpPr>
        <p:spPr>
          <a:xfrm xmlns:a="http://schemas.openxmlformats.org/drawingml/2006/main">
            <a:off x="457200" y="847725"/>
            <a:ext cx="1276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61778A"/>
                </a:solidFill>
                <a:latin typeface="Liberation Sans"/>
                <a:ea typeface="Liberation Sans"/>
                <a:cs typeface="Liberation Sans"/>
              </a:defRPr>
            </a:defPPr>
          </a:lstStyle>
          <a:p xmlns:a="http://schemas.openxmlformats.org/drawingml/2006/main">
            <a:pPr algn="l">
              <a:buNone/>
              <a:defRPr sz="1725" b="0">
                <a:solidFill>
                  <a:srgbClr val="61778A"/>
                </a:solidFill>
                <a:latin typeface="Liberation Sans"/>
                <a:ea typeface="Liberation Sans"/>
                <a:cs typeface="Liberation Sans"/>
              </a:defRPr>
            </a:pPr>
            <a:r>
              <a:rPr sz="1725" b="0">
                <a:solidFill>
                  <a:srgbClr val="61778A"/>
                </a:solidFill>
                <a:latin typeface="Liberation Sans"/>
                <a:ea typeface="Liberation Sans"/>
                <a:cs typeface="Liberation Sans"/>
              </a:rPr>
              <a:t>Proje yöneticisi: [Ad Soyad]     Rapor: 15 Ekim 2026     3 örnek proje</a:t>
            </a:r>
          </a:p>
        </p:txBody>
      </p:sp>
      <p:sp>
        <p:nvSpPr>
          <p:cNvPr id="4" name="page">
            <a:extLst xmlns:a="http://schemas.openxmlformats.org/drawingml/2006/main">
              <a:ext uri="{FF2B5EF4-FFF2-40B4-BE49-F238E27FC236}">
                <a16:creationId xmlns:a16="http://schemas.microsoft.com/office/drawing/2014/main" id="{33430B21-B858-4169-86EC-D62F7BE3B6E3}"/>
              </a:ext>
            </a:extLst>
          </p:cNvPr>
          <p:cNvSpPr>
            <a:spLocks xmlns:a="http://schemas.openxmlformats.org/drawingml/2006/main" noGrp="1"/>
          </p:cNvSpPr>
          <p:nvPr/>
        </p:nvSpPr>
        <p:spPr>
          <a:xfrm xmlns:a="http://schemas.openxmlformats.org/drawingml/2006/main">
            <a:off x="13811250" y="847725"/>
            <a:ext cx="97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650" b="0">
                <a:solidFill>
                  <a:srgbClr val="61778A"/>
                </a:solidFill>
                <a:latin typeface="Liberation Sans"/>
                <a:ea typeface="Liberation Sans"/>
                <a:cs typeface="Liberation Sans"/>
              </a:defRPr>
            </a:defPPr>
          </a:lstStyle>
          <a:p xmlns:a="http://schemas.openxmlformats.org/drawingml/2006/main">
            <a:pPr algn="r">
              <a:buNone/>
              <a:defRPr sz="1650" b="0">
                <a:solidFill>
                  <a:srgbClr val="61778A"/>
                </a:solidFill>
                <a:latin typeface="Liberation Sans"/>
                <a:ea typeface="Liberation Sans"/>
                <a:cs typeface="Liberation Sans"/>
              </a:defRPr>
            </a:pPr>
            <a:r>
              <a:rPr sz="1650" b="0">
                <a:solidFill>
                  <a:srgbClr val="61778A"/>
                </a:solidFill>
                <a:latin typeface="Liberation Sans"/>
                <a:ea typeface="Liberation Sans"/>
                <a:cs typeface="Liberation Sans"/>
              </a:rPr>
              <a:t>1 / 2</a:t>
            </a:r>
          </a:p>
        </p:txBody>
      </p:sp>
      <p:graphicFrame>
        <p:nvGraphicFramePr>
          <p:cNvPr id="15" name="Chart">
            <a:extLst xmlns:a="http://schemas.openxmlformats.org/drawingml/2006/main">
              <a:ext uri="{FF2B5EF4-FFF2-40B4-BE49-F238E27FC236}">
                <a16:creationId xmlns:a16="http://schemas.microsoft.com/office/drawing/2014/main" id="{250B37D8-7671-4FD2-A6F3-4DD281CB34F1}"/>
              </a:ext>
            </a:extLst>
          </p:cNvPr>
          <p:cNvGraphicFramePr/>
          <p:nvPr/>
        </p:nvGraphicFramePr>
        <p:xfrm>
          <a:off xmlns:a="http://schemas.openxmlformats.org/drawingml/2006/main" x="457200" y="1371600"/>
          <a:ext xmlns:a="http://schemas.openxmlformats.org/drawingml/2006/main" cx="6019800" cy="2095500"/>
        </p:xfrm>
        <a:graphic xmlns:a="http://schemas.openxmlformats.org/drawingml/2006/main">
          <a:graphicData uri="http://schemas.openxmlformats.org/drawingml/2006/chart">
            <c:chart xmlns:r="http://schemas.openxmlformats.org/officeDocument/2006/relationships" xmlns:c="http://schemas.openxmlformats.org/drawingml/2006/chart" r:id="R8d45016084b0491f"/>
          </a:graphicData>
        </a:graphic>
      </p:graphicFrame>
      <p:sp>
        <p:nvSpPr>
          <p:cNvPr id="16" name="calendar-heading">
            <a:extLst xmlns:a="http://schemas.openxmlformats.org/drawingml/2006/main">
              <a:ext uri="{FF2B5EF4-FFF2-40B4-BE49-F238E27FC236}">
                <a16:creationId xmlns:a16="http://schemas.microsoft.com/office/drawing/2014/main" id="{A2A92A14-F162-4258-84B2-F99B7ADB5E9B}"/>
              </a:ext>
            </a:extLst>
          </p:cNvPr>
          <p:cNvSpPr>
            <a:spLocks xmlns:a="http://schemas.openxmlformats.org/drawingml/2006/main" noGrp="1"/>
          </p:cNvSpPr>
          <p:nvPr/>
        </p:nvSpPr>
        <p:spPr>
          <a:xfrm xmlns:a="http://schemas.openxmlformats.org/drawingml/2006/main">
            <a:off x="6858000" y="1371600"/>
            <a:ext cx="792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4344B"/>
                </a:solidFill>
                <a:latin typeface="Liberation Sans"/>
                <a:ea typeface="Liberation Sans"/>
                <a:cs typeface="Liberation Sans"/>
              </a:defRPr>
            </a:defPPr>
          </a:lstStyle>
          <a:p xmlns:a="http://schemas.openxmlformats.org/drawingml/2006/main">
            <a:pPr algn="l">
              <a:defRPr sz="1875" b="1">
                <a:solidFill>
                  <a:srgbClr val="14344B"/>
                </a:solidFill>
                <a:latin typeface="Liberation Sans"/>
                <a:ea typeface="Liberation Sans"/>
                <a:cs typeface="Liberation Sans"/>
              </a:defRPr>
            </a:pPr>
            <a:r>
              <a:rPr sz="1875" b="1">
                <a:solidFill>
                  <a:srgbClr val="14344B"/>
                </a:solidFill>
                <a:latin typeface="Liberation Sans"/>
                <a:ea typeface="Liberation Sans"/>
                <a:cs typeface="Liberation Sans"/>
              </a:rPr>
              <a:t>Güncel haftalık takvim (turuncu: kritik)</a:t>
            </a:r>
          </a:p>
        </p:txBody>
      </p:sp>
      <p:graphicFrame>
        <p:nvGraphicFramePr>
          <p:cNvPr id="17" name="">
            <a:extLst xmlns:a="http://schemas.openxmlformats.org/drawingml/2006/main">
              <a:ext uri="{FF2B5EF4-FFF2-40B4-BE49-F238E27FC236}">
                <a16:creationId xmlns:a16="http://schemas.microsoft.com/office/drawing/2014/main" id="{4D09BA0E-0EA0-487A-896C-230424FAEB6F}"/>
              </a:ext>
            </a:extLst>
          </p:cNvPr>
          <p:cNvGraphicFramePr/>
          <p:nvPr/>
        </p:nvGraphicFramePr>
        <p:xfrm>
          <a:off xmlns:a="http://schemas.openxmlformats.org/drawingml/2006/main" x="6858000" y="1752600"/>
          <a:ext xmlns:a="http://schemas.openxmlformats.org/drawingml/2006/main" cx="7924800" cy="1695450"/>
        </p:xfrm>
        <a:graphic xmlns:a="http://schemas.openxmlformats.org/drawingml/2006/main">
          <a:graphicData uri="http://schemas.openxmlformats.org/drawingml/2006/table">
            <a:tbl>
              <a:tblPr firstRow="0" bandRow="0"/>
              <a:tblGrid>
                <a:gridCol w="1257300"/>
                <a:gridCol w="952500"/>
                <a:gridCol w="952500"/>
                <a:gridCol w="952500"/>
                <a:gridCol w="952500"/>
                <a:gridCol w="952500"/>
                <a:gridCol w="952500"/>
                <a:gridCol w="952500"/>
              </a:tblGrid>
              <a:tr h="495300">
                <a:tc>
                  <a:txBody>
                    <a:bodyPr wrap="square" anchor="ctr">
                      <a:noAutofit/>
                    </a:bodyPr>
                    <a:lstStyle/>
                    <a:p>
                      <a:pPr algn="l"/>
                      <a:r>
                        <a:rPr sz="1500" b="1">
                          <a:solidFill>
                            <a:srgbClr val="FFFFFF"/>
                          </a:solidFill>
                          <a:latin typeface="Liberation Sans"/>
                          <a:ea typeface="Liberation Sans"/>
                          <a:cs typeface="Liberation Sans"/>
                        </a:rPr>
                        <a:t>Proje</a:t>
                      </a:r>
                    </a:p>
                  </a:txBody>
                  <a:tcPr marL="19050" marR="19050" marT="19050" marB="19050">
                    <a:solidFill>
                      <a:srgbClr val="14344B"/>
                    </a:solidFill>
                  </a:tcPr>
                </a:tc>
                <a:tc>
                  <a:txBody>
                    <a:bodyPr wrap="square" anchor="ctr">
                      <a:noAutofit/>
                    </a:bodyPr>
                    <a:lstStyle/>
                    <a:p>
                      <a:pPr algn="ctr"/>
                      <a:r>
                        <a:rPr sz="1500" b="1">
                          <a:solidFill>
                            <a:srgbClr val="FFFFFF"/>
                          </a:solidFill>
                          <a:latin typeface="Liberation Sans"/>
                          <a:ea typeface="Liberation Sans"/>
                          <a:cs typeface="Liberation Sans"/>
                        </a:rPr>
                        <a:t>12.10</a:t>
                      </a:r>
                    </a:p>
                    <a:p>
                      <a:pPr algn="ctr"/>
                      <a:r>
                        <a:rPr sz="1500" b="1">
                          <a:solidFill>
                            <a:srgbClr val="FFFFFF"/>
                          </a:solidFill>
                          <a:latin typeface="Liberation Sans"/>
                          <a:ea typeface="Liberation Sans"/>
                          <a:cs typeface="Liberation Sans"/>
                        </a:rPr>
                        <a:t>Bu hafta</a:t>
                      </a:r>
                    </a:p>
                  </a:txBody>
                  <a:tcPr marL="19050" marR="19050" marT="19050" marB="19050">
                    <a:solidFill>
                      <a:srgbClr val="008E86"/>
                    </a:solidFill>
                  </a:tcPr>
                </a:tc>
                <a:tc>
                  <a:txBody>
                    <a:bodyPr wrap="square" anchor="ctr">
                      <a:noAutofit/>
                    </a:bodyPr>
                    <a:lstStyle/>
                    <a:p>
                      <a:pPr algn="ctr"/>
                      <a:r>
                        <a:rPr sz="1500" b="1">
                          <a:solidFill>
                            <a:srgbClr val="FFFFFF"/>
                          </a:solidFill>
                          <a:latin typeface="Liberation Sans"/>
                          <a:ea typeface="Liberation Sans"/>
                          <a:cs typeface="Liberation Sans"/>
                        </a:rPr>
                        <a:t>19.10</a:t>
                      </a:r>
                    </a:p>
                  </a:txBody>
                  <a:tcPr marL="19050" marR="19050" marT="19050" marB="19050">
                    <a:solidFill>
                      <a:srgbClr val="14344B"/>
                    </a:solidFill>
                  </a:tcPr>
                </a:tc>
                <a:tc>
                  <a:txBody>
                    <a:bodyPr wrap="square" anchor="ctr">
                      <a:noAutofit/>
                    </a:bodyPr>
                    <a:lstStyle/>
                    <a:p>
                      <a:pPr algn="ctr"/>
                      <a:r>
                        <a:rPr sz="1500" b="1">
                          <a:solidFill>
                            <a:srgbClr val="FFFFFF"/>
                          </a:solidFill>
                          <a:latin typeface="Liberation Sans"/>
                          <a:ea typeface="Liberation Sans"/>
                          <a:cs typeface="Liberation Sans"/>
                        </a:rPr>
                        <a:t>26.10</a:t>
                      </a:r>
                    </a:p>
                  </a:txBody>
                  <a:tcPr marL="19050" marR="19050" marT="19050" marB="19050">
                    <a:solidFill>
                      <a:srgbClr val="14344B"/>
                    </a:solidFill>
                  </a:tcPr>
                </a:tc>
                <a:tc>
                  <a:txBody>
                    <a:bodyPr wrap="square" anchor="ctr">
                      <a:noAutofit/>
                    </a:bodyPr>
                    <a:lstStyle/>
                    <a:p>
                      <a:pPr algn="ctr"/>
                      <a:r>
                        <a:rPr sz="1500" b="1">
                          <a:solidFill>
                            <a:srgbClr val="FFFFFF"/>
                          </a:solidFill>
                          <a:latin typeface="Liberation Sans"/>
                          <a:ea typeface="Liberation Sans"/>
                          <a:cs typeface="Liberation Sans"/>
                        </a:rPr>
                        <a:t>02.11</a:t>
                      </a:r>
                    </a:p>
                  </a:txBody>
                  <a:tcPr marL="19050" marR="19050" marT="19050" marB="19050">
                    <a:solidFill>
                      <a:srgbClr val="14344B"/>
                    </a:solidFill>
                  </a:tcPr>
                </a:tc>
                <a:tc>
                  <a:txBody>
                    <a:bodyPr wrap="square" anchor="ctr">
                      <a:noAutofit/>
                    </a:bodyPr>
                    <a:lstStyle/>
                    <a:p>
                      <a:pPr algn="ctr"/>
                      <a:r>
                        <a:rPr sz="1500" b="1">
                          <a:solidFill>
                            <a:srgbClr val="FFFFFF"/>
                          </a:solidFill>
                          <a:latin typeface="Liberation Sans"/>
                          <a:ea typeface="Liberation Sans"/>
                          <a:cs typeface="Liberation Sans"/>
                        </a:rPr>
                        <a:t>09.11</a:t>
                      </a:r>
                    </a:p>
                  </a:txBody>
                  <a:tcPr marL="19050" marR="19050" marT="19050" marB="19050">
                    <a:solidFill>
                      <a:srgbClr val="14344B"/>
                    </a:solidFill>
                  </a:tcPr>
                </a:tc>
                <a:tc>
                  <a:txBody>
                    <a:bodyPr wrap="square" anchor="ctr">
                      <a:noAutofit/>
                    </a:bodyPr>
                    <a:lstStyle/>
                    <a:p>
                      <a:pPr algn="ctr"/>
                      <a:r>
                        <a:rPr sz="1500" b="1">
                          <a:solidFill>
                            <a:srgbClr val="FFFFFF"/>
                          </a:solidFill>
                          <a:latin typeface="Liberation Sans"/>
                          <a:ea typeface="Liberation Sans"/>
                          <a:cs typeface="Liberation Sans"/>
                        </a:rPr>
                        <a:t>16.11</a:t>
                      </a:r>
                    </a:p>
                  </a:txBody>
                  <a:tcPr marL="19050" marR="19050" marT="19050" marB="19050">
                    <a:solidFill>
                      <a:srgbClr val="14344B"/>
                    </a:solidFill>
                  </a:tcPr>
                </a:tc>
                <a:tc>
                  <a:txBody>
                    <a:bodyPr wrap="square" anchor="ctr">
                      <a:noAutofit/>
                    </a:bodyPr>
                    <a:lstStyle/>
                    <a:p>
                      <a:pPr algn="ctr"/>
                      <a:r>
                        <a:rPr sz="1500" b="1">
                          <a:solidFill>
                            <a:srgbClr val="FFFFFF"/>
                          </a:solidFill>
                          <a:latin typeface="Liberation Sans"/>
                          <a:ea typeface="Liberation Sans"/>
                          <a:cs typeface="Liberation Sans"/>
                        </a:rPr>
                        <a:t>23.11</a:t>
                      </a:r>
                    </a:p>
                  </a:txBody>
                  <a:tcPr marL="19050" marR="19050" marT="19050" marB="19050">
                    <a:solidFill>
                      <a:srgbClr val="14344B"/>
                    </a:solidFill>
                  </a:tcPr>
                </a:tc>
              </a:tr>
              <a:tr h="400050">
                <a:tc>
                  <a:txBody>
                    <a:bodyPr wrap="square" anchor="ctr">
                      <a:noAutofit/>
                    </a:bodyPr>
                    <a:lstStyle/>
                    <a:p>
                      <a:pPr algn="l"/>
                      <a:r>
                        <a:rPr sz="1575" b="1">
                          <a:solidFill>
                            <a:srgbClr val="273F50"/>
                          </a:solidFill>
                          <a:latin typeface="Liberation Sans"/>
                          <a:ea typeface="Liberation Sans"/>
                          <a:cs typeface="Liberation Sans"/>
                        </a:rPr>
                        <a:t>Üretim</a:t>
                      </a:r>
                    </a:p>
                  </a:txBody>
                  <a:tcPr marL="19050" marR="19050" marT="19050" marB="19050">
                    <a:solidFill>
                      <a:srgbClr val="FFFFFF"/>
                    </a:solidFill>
                  </a:tcPr>
                </a:tc>
                <a:tc>
                  <a:txBody>
                    <a:bodyPr wrap="square" anchor="ctr">
                      <a:noAutofit/>
                    </a:bodyPr>
                    <a:lstStyle/>
                    <a:p>
                      <a:pPr algn="ctr"/>
                      <a:r>
                        <a:rPr sz="1575" b="1">
                          <a:solidFill>
                            <a:srgbClr val="FFFFFF"/>
                          </a:solidFill>
                          <a:latin typeface="Liberation Sans"/>
                          <a:ea typeface="Liberation Sans"/>
                          <a:cs typeface="Liberation Sans"/>
                        </a:rPr>
                        <a:t>Tedarik</a:t>
                      </a:r>
                    </a:p>
                  </a:txBody>
                  <a:tcPr marL="19050" marR="19050" marT="19050" marB="19050">
                    <a:solidFill>
                      <a:srgbClr val="008E86"/>
                    </a:solidFill>
                  </a:tcPr>
                </a:tc>
                <a:tc>
                  <a:txBody>
                    <a:bodyPr wrap="square" anchor="ctr">
                      <a:noAutofit/>
                    </a:bodyPr>
                    <a:lstStyle/>
                    <a:p>
                      <a:pPr algn="ctr"/>
                      <a:r>
                        <a:rPr sz="1575" b="0">
                          <a:solidFill>
                            <a:srgbClr val="2563EB"/>
                          </a:solidFill>
                          <a:latin typeface="Liberation Sans"/>
                          <a:ea typeface="Liberation Sans"/>
                          <a:cs typeface="Liberation Sans"/>
                        </a:rPr>
                        <a:t>Tedarik</a:t>
                      </a:r>
                    </a:p>
                  </a:txBody>
                  <a:tcPr marL="19050" marR="19050" marT="19050" marB="19050">
                    <a:solidFill>
                      <a:srgbClr val="E0EBFF"/>
                    </a:solidFill>
                  </a:tcPr>
                </a:tc>
                <a:tc>
                  <a:txBody>
                    <a:bodyPr wrap="square" anchor="ctr">
                      <a:noAutofit/>
                    </a:bodyPr>
                    <a:lstStyle/>
                    <a:p>
                      <a:pPr algn="ctr"/>
                      <a:r>
                        <a:rPr sz="1575" b="1">
                          <a:solidFill>
                            <a:srgbClr val="D97B0A"/>
                          </a:solidFill>
                          <a:latin typeface="Liberation Sans"/>
                          <a:ea typeface="Liberation Sans"/>
                          <a:cs typeface="Liberation Sans"/>
                        </a:rPr>
                        <a:t>Motor</a:t>
                      </a:r>
                    </a:p>
                  </a:txBody>
                  <a:tcPr marL="19050" marR="19050" marT="19050" marB="19050">
                    <a:solidFill>
                      <a:srgbClr val="FFF0D6"/>
                    </a:solidFill>
                  </a:tcPr>
                </a:tc>
                <a:tc>
                  <a:txBody>
                    <a:bodyPr wrap="square" anchor="ctr">
                      <a:noAutofit/>
                    </a:bodyPr>
                    <a:lstStyle/>
                    <a:p>
                      <a:pPr algn="ctr"/>
                      <a:r>
                        <a:rPr sz="1575" b="0">
                          <a:solidFill>
                            <a:srgbClr val="2563EB"/>
                          </a:solidFill>
                          <a:latin typeface="Liberation Sans"/>
                          <a:ea typeface="Liberation Sans"/>
                          <a:cs typeface="Liberation Sans"/>
                        </a:rPr>
                        <a:t>Kurulum</a:t>
                      </a:r>
                    </a:p>
                  </a:txBody>
                  <a:tcPr marL="19050" marR="19050" marT="19050" marB="19050">
                    <a:solidFill>
                      <a:srgbClr val="E0EBFF"/>
                    </a:solidFill>
                  </a:tcPr>
                </a:tc>
                <a:tc>
                  <a:txBody>
                    <a:bodyPr wrap="square" anchor="ctr">
                      <a:noAutofit/>
                    </a:bodyPr>
                    <a:lstStyle/>
                    <a:p>
                      <a:pPr algn="ctr"/>
                      <a:r>
                        <a:rPr sz="1575" b="0">
                          <a:solidFill>
                            <a:srgbClr val="2563EB"/>
                          </a:solidFill>
                          <a:latin typeface="Liberation Sans"/>
                          <a:ea typeface="Liberation Sans"/>
                          <a:cs typeface="Liberation Sans"/>
                        </a:rPr>
                        <a:t>Kurulum</a:t>
                      </a:r>
                    </a:p>
                  </a:txBody>
                  <a:tcPr marL="19050" marR="19050" marT="19050" marB="19050">
                    <a:solidFill>
                      <a:srgbClr val="E0EBFF"/>
                    </a:solidFill>
                  </a:tcPr>
                </a:tc>
                <a:tc>
                  <a:txBody>
                    <a:bodyPr wrap="square" anchor="ctr">
                      <a:noAutofit/>
                    </a:bodyPr>
                    <a:lstStyle/>
                    <a:p>
                      <a:pPr algn="ctr"/>
                      <a:r>
                        <a:rPr sz="1575" b="0">
                          <a:solidFill>
                            <a:srgbClr val="2563EB"/>
                          </a:solidFill>
                          <a:latin typeface="Liberation Sans"/>
                          <a:ea typeface="Liberation Sans"/>
                          <a:cs typeface="Liberation Sans"/>
                        </a:rPr>
                        <a:t>Kabul</a:t>
                      </a:r>
                    </a:p>
                  </a:txBody>
                  <a:tcPr marL="19050" marR="19050" marT="19050" marB="19050">
                    <a:solidFill>
                      <a:srgbClr val="E0EBFF"/>
                    </a:solidFill>
                  </a:tcPr>
                </a:tc>
                <a:tc>
                  <a:txBody>
                    <a:bodyPr wrap="square" anchor="ctr">
                      <a:noAutofit/>
                    </a:bodyPr>
                    <a:lstStyle/>
                    <a:p>
                      <a:pPr algn="ctr"/>
                      <a:r>
                        <a:rPr sz="1575" b="0">
                          <a:solidFill>
                            <a:srgbClr val="2563EB"/>
                          </a:solidFill>
                          <a:latin typeface="Liberation Sans"/>
                          <a:ea typeface="Liberation Sans"/>
                          <a:cs typeface="Liberation Sans"/>
                        </a:rPr>
                        <a:t/>
                      </a:r>
                    </a:p>
                  </a:txBody>
                  <a:tcPr marL="19050" marR="19050" marT="19050" marB="19050">
                    <a:solidFill>
                      <a:srgbClr val="FFFFFF"/>
                    </a:solidFill>
                  </a:tcPr>
                </a:tc>
              </a:tr>
              <a:tr h="400050">
                <a:tc>
                  <a:txBody>
                    <a:bodyPr wrap="square" anchor="ctr">
                      <a:noAutofit/>
                    </a:bodyPr>
                    <a:lstStyle/>
                    <a:p>
                      <a:pPr algn="l"/>
                      <a:r>
                        <a:rPr sz="1575" b="1">
                          <a:solidFill>
                            <a:srgbClr val="273F50"/>
                          </a:solidFill>
                          <a:latin typeface="Liberation Sans"/>
                          <a:ea typeface="Liberation Sans"/>
                          <a:cs typeface="Liberation Sans"/>
                        </a:rPr>
                        <a:t>Portal</a:t>
                      </a:r>
                    </a:p>
                  </a:txBody>
                  <a:tcPr marL="19050" marR="19050" marT="19050" marB="19050">
                    <a:solidFill>
                      <a:srgbClr val="F1F6FA"/>
                    </a:solidFill>
                  </a:tcPr>
                </a:tc>
                <a:tc>
                  <a:txBody>
                    <a:bodyPr wrap="square" anchor="ctr">
                      <a:noAutofit/>
                    </a:bodyPr>
                    <a:lstStyle/>
                    <a:p>
                      <a:pPr algn="ctr"/>
                      <a:r>
                        <a:rPr sz="1575" b="1">
                          <a:solidFill>
                            <a:srgbClr val="FFFFFF"/>
                          </a:solidFill>
                          <a:latin typeface="Liberation Sans"/>
                          <a:ea typeface="Liberation Sans"/>
                          <a:cs typeface="Liberation Sans"/>
                        </a:rPr>
                        <a:t>Geliş.</a:t>
                      </a:r>
                    </a:p>
                  </a:txBody>
                  <a:tcPr marL="19050" marR="19050" marT="19050" marB="19050">
                    <a:solidFill>
                      <a:srgbClr val="008E86"/>
                    </a:solidFill>
                  </a:tcPr>
                </a:tc>
                <a:tc>
                  <a:txBody>
                    <a:bodyPr wrap="square" anchor="ctr">
                      <a:noAutofit/>
                    </a:bodyPr>
                    <a:lstStyle/>
                    <a:p>
                      <a:pPr algn="ctr"/>
                      <a:r>
                        <a:rPr sz="1575" b="1">
                          <a:solidFill>
                            <a:srgbClr val="D97B0A"/>
                          </a:solidFill>
                          <a:latin typeface="Liberation Sans"/>
                          <a:ea typeface="Liberation Sans"/>
                          <a:cs typeface="Liberation Sans"/>
                        </a:rPr>
                        <a:t>Test</a:t>
                      </a:r>
                    </a:p>
                  </a:txBody>
                  <a:tcPr marL="19050" marR="19050" marT="19050" marB="19050">
                    <a:solidFill>
                      <a:srgbClr val="FFF0D6"/>
                    </a:solidFill>
                  </a:tcPr>
                </a:tc>
                <a:tc>
                  <a:txBody>
                    <a:bodyPr wrap="square" anchor="ctr">
                      <a:noAutofit/>
                    </a:bodyPr>
                    <a:lstStyle/>
                    <a:p>
                      <a:pPr algn="ctr"/>
                      <a:r>
                        <a:rPr sz="1575" b="0">
                          <a:solidFill>
                            <a:srgbClr val="2563EB"/>
                          </a:solidFill>
                          <a:latin typeface="Liberation Sans"/>
                          <a:ea typeface="Liberation Sans"/>
                          <a:cs typeface="Liberation Sans"/>
                        </a:rPr>
                        <a:t>Pilot</a:t>
                      </a:r>
                    </a:p>
                  </a:txBody>
                  <a:tcPr marL="19050" marR="19050" marT="19050" marB="19050">
                    <a:solidFill>
                      <a:srgbClr val="E0EBFF"/>
                    </a:solidFill>
                  </a:tcPr>
                </a:tc>
                <a:tc>
                  <a:txBody>
                    <a:bodyPr wrap="square" anchor="ctr">
                      <a:noAutofit/>
                    </a:bodyPr>
                    <a:lstStyle/>
                    <a:p>
                      <a:pPr algn="ctr"/>
                      <a:r>
                        <a:rPr sz="1575" b="0">
                          <a:solidFill>
                            <a:srgbClr val="2563EB"/>
                          </a:solidFill>
                          <a:latin typeface="Liberation Sans"/>
                          <a:ea typeface="Liberation Sans"/>
                          <a:cs typeface="Liberation Sans"/>
                        </a:rPr>
                        <a:t>Canlı</a:t>
                      </a:r>
                    </a:p>
                  </a:txBody>
                  <a:tcPr marL="19050" marR="19050" marT="19050" marB="19050">
                    <a:solidFill>
                      <a:srgbClr val="E0EBFF"/>
                    </a:solidFill>
                  </a:tcPr>
                </a:tc>
                <a:tc>
                  <a:txBody>
                    <a:bodyPr wrap="square" anchor="ctr">
                      <a:noAutofit/>
                    </a:bodyPr>
                    <a:lstStyle/>
                    <a:p>
                      <a:pPr algn="ctr"/>
                      <a:r>
                        <a:rPr sz="1575" b="0">
                          <a:solidFill>
                            <a:srgbClr val="2563EB"/>
                          </a:solidFill>
                          <a:latin typeface="Liberation Sans"/>
                          <a:ea typeface="Liberation Sans"/>
                          <a:cs typeface="Liberation Sans"/>
                        </a:rPr>
                        <a:t/>
                      </a:r>
                    </a:p>
                  </a:txBody>
                  <a:tcPr marL="19050" marR="19050" marT="19050" marB="19050">
                    <a:solidFill>
                      <a:srgbClr val="FFFFFF"/>
                    </a:solidFill>
                  </a:tcPr>
                </a:tc>
                <a:tc>
                  <a:txBody>
                    <a:bodyPr wrap="square" anchor="ctr">
                      <a:noAutofit/>
                    </a:bodyPr>
                    <a:lstStyle/>
                    <a:p>
                      <a:pPr algn="ctr"/>
                      <a:r>
                        <a:rPr sz="1575" b="0">
                          <a:solidFill>
                            <a:srgbClr val="2563EB"/>
                          </a:solidFill>
                          <a:latin typeface="Liberation Sans"/>
                          <a:ea typeface="Liberation Sans"/>
                          <a:cs typeface="Liberation Sans"/>
                        </a:rPr>
                        <a:t/>
                      </a:r>
                    </a:p>
                  </a:txBody>
                  <a:tcPr marL="19050" marR="19050" marT="19050" marB="19050">
                    <a:solidFill>
                      <a:srgbClr val="FFFFFF"/>
                    </a:solidFill>
                  </a:tcPr>
                </a:tc>
                <a:tc>
                  <a:txBody>
                    <a:bodyPr wrap="square" anchor="ctr">
                      <a:noAutofit/>
                    </a:bodyPr>
                    <a:lstStyle/>
                    <a:p>
                      <a:pPr algn="ctr"/>
                      <a:r>
                        <a:rPr sz="1575" b="0">
                          <a:solidFill>
                            <a:srgbClr val="2563EB"/>
                          </a:solidFill>
                          <a:latin typeface="Liberation Sans"/>
                          <a:ea typeface="Liberation Sans"/>
                          <a:cs typeface="Liberation Sans"/>
                        </a:rPr>
                        <a:t/>
                      </a:r>
                    </a:p>
                  </a:txBody>
                  <a:tcPr marL="19050" marR="19050" marT="19050" marB="19050">
                    <a:solidFill>
                      <a:srgbClr val="FFFFFF"/>
                    </a:solidFill>
                  </a:tcPr>
                </a:tc>
              </a:tr>
              <a:tr h="400050">
                <a:tc>
                  <a:txBody>
                    <a:bodyPr wrap="square" anchor="ctr">
                      <a:noAutofit/>
                    </a:bodyPr>
                    <a:lstStyle/>
                    <a:p>
                      <a:pPr algn="l"/>
                      <a:r>
                        <a:rPr sz="1575" b="1">
                          <a:solidFill>
                            <a:srgbClr val="273F50"/>
                          </a:solidFill>
                          <a:latin typeface="Liberation Sans"/>
                          <a:ea typeface="Liberation Sans"/>
                          <a:cs typeface="Liberation Sans"/>
                        </a:rPr>
                        <a:t>Depo</a:t>
                      </a:r>
                    </a:p>
                  </a:txBody>
                  <a:tcPr marL="19050" marR="19050" marT="19050" marB="19050">
                    <a:solidFill>
                      <a:srgbClr val="FFFFFF"/>
                    </a:solidFill>
                  </a:tcPr>
                </a:tc>
                <a:tc>
                  <a:txBody>
                    <a:bodyPr wrap="square" anchor="ctr">
                      <a:noAutofit/>
                    </a:bodyPr>
                    <a:lstStyle/>
                    <a:p>
                      <a:pPr algn="ctr"/>
                      <a:r>
                        <a:rPr sz="1575" b="1">
                          <a:solidFill>
                            <a:srgbClr val="FFFFFF"/>
                          </a:solidFill>
                          <a:latin typeface="Liberation Sans"/>
                          <a:ea typeface="Liberation Sans"/>
                          <a:cs typeface="Liberation Sans"/>
                        </a:rPr>
                        <a:t>Analiz</a:t>
                      </a:r>
                    </a:p>
                  </a:txBody>
                  <a:tcPr marL="19050" marR="19050" marT="19050" marB="19050">
                    <a:solidFill>
                      <a:srgbClr val="008E86"/>
                    </a:solidFill>
                  </a:tcPr>
                </a:tc>
                <a:tc>
                  <a:txBody>
                    <a:bodyPr wrap="square" anchor="ctr">
                      <a:noAutofit/>
                    </a:bodyPr>
                    <a:lstStyle/>
                    <a:p>
                      <a:pPr algn="ctr"/>
                      <a:r>
                        <a:rPr sz="1575" b="1">
                          <a:solidFill>
                            <a:srgbClr val="D97B0A"/>
                          </a:solidFill>
                          <a:latin typeface="Liberation Sans"/>
                          <a:ea typeface="Liberation Sans"/>
                          <a:cs typeface="Liberation Sans"/>
                        </a:rPr>
                        <a:t>Yazılım</a:t>
                      </a:r>
                    </a:p>
                  </a:txBody>
                  <a:tcPr marL="19050" marR="19050" marT="19050" marB="19050">
                    <a:solidFill>
                      <a:srgbClr val="FFF0D6"/>
                    </a:solidFill>
                  </a:tcPr>
                </a:tc>
                <a:tc>
                  <a:txBody>
                    <a:bodyPr wrap="square" anchor="ctr">
                      <a:noAutofit/>
                    </a:bodyPr>
                    <a:lstStyle/>
                    <a:p>
                      <a:pPr algn="ctr"/>
                      <a:r>
                        <a:rPr sz="1575" b="0">
                          <a:solidFill>
                            <a:srgbClr val="2563EB"/>
                          </a:solidFill>
                          <a:latin typeface="Liberation Sans"/>
                          <a:ea typeface="Liberation Sans"/>
                          <a:cs typeface="Liberation Sans"/>
                        </a:rPr>
                        <a:t>Yazılım</a:t>
                      </a:r>
                    </a:p>
                  </a:txBody>
                  <a:tcPr marL="19050" marR="19050" marT="19050" marB="19050">
                    <a:solidFill>
                      <a:srgbClr val="E0EBFF"/>
                    </a:solidFill>
                  </a:tcPr>
                </a:tc>
                <a:tc>
                  <a:txBody>
                    <a:bodyPr wrap="square" anchor="ctr">
                      <a:noAutofit/>
                    </a:bodyPr>
                    <a:lstStyle/>
                    <a:p>
                      <a:pPr algn="ctr"/>
                      <a:r>
                        <a:rPr sz="1575" b="0">
                          <a:solidFill>
                            <a:srgbClr val="2563EB"/>
                          </a:solidFill>
                          <a:latin typeface="Liberation Sans"/>
                          <a:ea typeface="Liberation Sans"/>
                          <a:cs typeface="Liberation Sans"/>
                        </a:rPr>
                        <a:t>Enteg.</a:t>
                      </a:r>
                    </a:p>
                  </a:txBody>
                  <a:tcPr marL="19050" marR="19050" marT="19050" marB="19050">
                    <a:solidFill>
                      <a:srgbClr val="E0EBFF"/>
                    </a:solidFill>
                  </a:tcPr>
                </a:tc>
                <a:tc>
                  <a:txBody>
                    <a:bodyPr wrap="square" anchor="ctr">
                      <a:noAutofit/>
                    </a:bodyPr>
                    <a:lstStyle/>
                    <a:p>
                      <a:pPr algn="ctr"/>
                      <a:r>
                        <a:rPr sz="1575" b="0">
                          <a:solidFill>
                            <a:srgbClr val="2563EB"/>
                          </a:solidFill>
                          <a:latin typeface="Liberation Sans"/>
                          <a:ea typeface="Liberation Sans"/>
                          <a:cs typeface="Liberation Sans"/>
                        </a:rPr>
                        <a:t>Test</a:t>
                      </a:r>
                    </a:p>
                  </a:txBody>
                  <a:tcPr marL="19050" marR="19050" marT="19050" marB="19050">
                    <a:solidFill>
                      <a:srgbClr val="E0EBFF"/>
                    </a:solidFill>
                  </a:tcPr>
                </a:tc>
                <a:tc>
                  <a:txBody>
                    <a:bodyPr wrap="square" anchor="ctr">
                      <a:noAutofit/>
                    </a:bodyPr>
                    <a:lstStyle/>
                    <a:p>
                      <a:pPr algn="ctr"/>
                      <a:r>
                        <a:rPr sz="1575" b="0">
                          <a:solidFill>
                            <a:srgbClr val="2563EB"/>
                          </a:solidFill>
                          <a:latin typeface="Liberation Sans"/>
                          <a:ea typeface="Liberation Sans"/>
                          <a:cs typeface="Liberation Sans"/>
                        </a:rPr>
                        <a:t>Pilot</a:t>
                      </a:r>
                    </a:p>
                  </a:txBody>
                  <a:tcPr marL="19050" marR="19050" marT="19050" marB="19050">
                    <a:solidFill>
                      <a:srgbClr val="E0EBFF"/>
                    </a:solidFill>
                  </a:tcPr>
                </a:tc>
                <a:tc>
                  <a:txBody>
                    <a:bodyPr wrap="square" anchor="ctr">
                      <a:noAutofit/>
                    </a:bodyPr>
                    <a:lstStyle/>
                    <a:p>
                      <a:pPr algn="ctr"/>
                      <a:r>
                        <a:rPr sz="1575" b="0">
                          <a:solidFill>
                            <a:srgbClr val="2563EB"/>
                          </a:solidFill>
                          <a:latin typeface="Liberation Sans"/>
                          <a:ea typeface="Liberation Sans"/>
                          <a:cs typeface="Liberation Sans"/>
                        </a:rPr>
                        <a:t>Kabul</a:t>
                      </a:r>
                    </a:p>
                  </a:txBody>
                  <a:tcPr marL="19050" marR="19050" marT="19050" marB="19050">
                    <a:solidFill>
                      <a:srgbClr val="E0EBFF"/>
                    </a:solidFill>
                  </a:tcPr>
                </a:tc>
              </a:tr>
            </a:tbl>
          </a:graphicData>
        </a:graphic>
      </p:graphicFrame>
      <p:graphicFrame>
        <p:nvGraphicFramePr>
          <p:cNvPr id="18" name="">
            <a:extLst xmlns:a="http://schemas.openxmlformats.org/drawingml/2006/main">
              <a:ext uri="{FF2B5EF4-FFF2-40B4-BE49-F238E27FC236}">
                <a16:creationId xmlns:a16="http://schemas.microsoft.com/office/drawing/2014/main" id="{9777E873-A976-4708-AC03-5AC80171342A}"/>
              </a:ext>
            </a:extLst>
          </p:cNvPr>
          <p:cNvGraphicFramePr/>
          <p:nvPr/>
        </p:nvGraphicFramePr>
        <p:xfrm>
          <a:off xmlns:a="http://schemas.openxmlformats.org/drawingml/2006/main" x="457200" y="3581400"/>
          <a:ext xmlns:a="http://schemas.openxmlformats.org/drawingml/2006/main" cx="14325600" cy="2133600"/>
        </p:xfrm>
        <a:graphic xmlns:a="http://schemas.openxmlformats.org/drawingml/2006/main">
          <a:graphicData uri="http://schemas.openxmlformats.org/drawingml/2006/table">
            <a:tbl>
              <a:tblPr firstRow="0" bandRow="0"/>
              <a:tblGrid>
                <a:gridCol w="2190750"/>
                <a:gridCol w="1619250"/>
                <a:gridCol w="1428750"/>
                <a:gridCol w="1428750"/>
                <a:gridCol w="2000250"/>
                <a:gridCol w="5657850"/>
              </a:tblGrid>
              <a:tr h="419100">
                <a:tc>
                  <a:txBody>
                    <a:bodyPr wrap="square" anchor="ctr">
                      <a:noAutofit/>
                    </a:bodyPr>
                    <a:lstStyle/>
                    <a:p>
                      <a:pPr algn="l"/>
                      <a:r>
                        <a:rPr sz="1650" b="1">
                          <a:solidFill>
                            <a:srgbClr val="FFFFFF"/>
                          </a:solidFill>
                          <a:latin typeface="Liberation Sans"/>
                          <a:ea typeface="Liberation Sans"/>
                          <a:cs typeface="Liberation Sans"/>
                        </a:rPr>
                        <a:t>Proje</a:t>
                      </a:r>
                    </a:p>
                  </a:txBody>
                  <a:tcPr marL="76200" marR="76200" marT="19050" marB="19050">
                    <a:solidFill>
                      <a:srgbClr val="14344B"/>
                    </a:solidFill>
                  </a:tcPr>
                </a:tc>
                <a:tc>
                  <a:txBody>
                    <a:bodyPr wrap="square" anchor="ctr">
                      <a:noAutofit/>
                    </a:bodyPr>
                    <a:lstStyle/>
                    <a:p>
                      <a:pPr algn="l"/>
                      <a:r>
                        <a:rPr sz="1650" b="1">
                          <a:solidFill>
                            <a:srgbClr val="FFFFFF"/>
                          </a:solidFill>
                          <a:latin typeface="Liberation Sans"/>
                          <a:ea typeface="Liberation Sans"/>
                          <a:cs typeface="Liberation Sans"/>
                        </a:rPr>
                        <a:t>Mevcut aşama</a:t>
                      </a:r>
                    </a:p>
                  </a:txBody>
                  <a:tcPr marL="76200" marR="76200" marT="19050" marB="19050">
                    <a:solidFill>
                      <a:srgbClr val="14344B"/>
                    </a:solidFill>
                  </a:tcPr>
                </a:tc>
                <a:tc>
                  <a:txBody>
                    <a:bodyPr wrap="square" anchor="ctr">
                      <a:noAutofit/>
                    </a:bodyPr>
                    <a:lstStyle/>
                    <a:p>
                      <a:pPr algn="l"/>
                      <a:r>
                        <a:rPr sz="1650" b="1">
                          <a:solidFill>
                            <a:srgbClr val="FFFFFF"/>
                          </a:solidFill>
                          <a:latin typeface="Liberation Sans"/>
                          <a:ea typeface="Liberation Sans"/>
                          <a:cs typeface="Liberation Sans"/>
                        </a:rPr>
                        <a:t>Plan bitiş</a:t>
                      </a:r>
                    </a:p>
                  </a:txBody>
                  <a:tcPr marL="76200" marR="76200" marT="19050" marB="19050">
                    <a:solidFill>
                      <a:srgbClr val="14344B"/>
                    </a:solidFill>
                  </a:tcPr>
                </a:tc>
                <a:tc>
                  <a:txBody>
                    <a:bodyPr wrap="square" anchor="ctr">
                      <a:noAutofit/>
                    </a:bodyPr>
                    <a:lstStyle/>
                    <a:p>
                      <a:pPr algn="l"/>
                      <a:r>
                        <a:rPr sz="1650" b="1">
                          <a:solidFill>
                            <a:srgbClr val="FFFFFF"/>
                          </a:solidFill>
                          <a:latin typeface="Liberation Sans"/>
                          <a:ea typeface="Liberation Sans"/>
                          <a:cs typeface="Liberation Sans"/>
                        </a:rPr>
                        <a:t>Güncel bitiş</a:t>
                      </a:r>
                    </a:p>
                  </a:txBody>
                  <a:tcPr marL="76200" marR="76200" marT="19050" marB="19050">
                    <a:solidFill>
                      <a:srgbClr val="14344B"/>
                    </a:solidFill>
                  </a:tcPr>
                </a:tc>
                <a:tc>
                  <a:txBody>
                    <a:bodyPr wrap="square" anchor="ctr">
                      <a:noAutofit/>
                    </a:bodyPr>
                    <a:lstStyle/>
                    <a:p>
                      <a:pPr algn="l"/>
                      <a:r>
                        <a:rPr sz="1650" b="1">
                          <a:solidFill>
                            <a:srgbClr val="FFFFFF"/>
                          </a:solidFill>
                          <a:latin typeface="Liberation Sans"/>
                          <a:ea typeface="Liberation Sans"/>
                          <a:cs typeface="Liberation Sans"/>
                        </a:rPr>
                        <a:t>Plana göre</a:t>
                      </a:r>
                    </a:p>
                  </a:txBody>
                  <a:tcPr marL="76200" marR="76200" marT="19050" marB="19050">
                    <a:solidFill>
                      <a:srgbClr val="14344B"/>
                    </a:solidFill>
                  </a:tcPr>
                </a:tc>
                <a:tc>
                  <a:txBody>
                    <a:bodyPr wrap="square" anchor="ctr">
                      <a:noAutofit/>
                    </a:bodyPr>
                    <a:lstStyle/>
                    <a:p>
                      <a:pPr algn="l"/>
                      <a:r>
                        <a:rPr sz="1650" b="1">
                          <a:solidFill>
                            <a:srgbClr val="FFFFFF"/>
                          </a:solidFill>
                          <a:latin typeface="Liberation Sans"/>
                          <a:ea typeface="Liberation Sans"/>
                          <a:cs typeface="Liberation Sans"/>
                        </a:rPr>
                        <a:t>Kritik alan</a:t>
                      </a:r>
                    </a:p>
                  </a:txBody>
                  <a:tcPr marL="76200" marR="76200" marT="19050" marB="19050">
                    <a:solidFill>
                      <a:srgbClr val="14344B"/>
                    </a:solidFill>
                  </a:tcPr>
                </a:tc>
              </a:tr>
              <a:tr h="571500">
                <a:tc>
                  <a:txBody>
                    <a:bodyPr wrap="square" anchor="ctr">
                      <a:noAutofit/>
                    </a:bodyPr>
                    <a:lstStyle/>
                    <a:p>
                      <a:pPr algn="l"/>
                      <a:r>
                        <a:rPr sz="1725" b="1">
                          <a:solidFill>
                            <a:srgbClr val="273F50"/>
                          </a:solidFill>
                          <a:latin typeface="Liberation Sans"/>
                          <a:ea typeface="Liberation Sans"/>
                          <a:cs typeface="Liberation Sans"/>
                        </a:rPr>
                        <a:t>Üretim Hattı</a:t>
                      </a:r>
                    </a:p>
                  </a:txBody>
                  <a:tcPr marL="76200" marR="76200" marT="19050" marB="19050">
                    <a:solidFill>
                      <a:srgbClr val="FFFFFF"/>
                    </a:solidFill>
                  </a:tcPr>
                </a:tc>
                <a:tc>
                  <a:txBody>
                    <a:bodyPr wrap="square" anchor="ctr">
                      <a:noAutofit/>
                    </a:bodyPr>
                    <a:lstStyle/>
                    <a:p>
                      <a:pPr algn="l"/>
                      <a:r>
                        <a:rPr sz="1725" b="0">
                          <a:solidFill>
                            <a:srgbClr val="273F50"/>
                          </a:solidFill>
                          <a:latin typeface="Liberation Sans"/>
                          <a:ea typeface="Liberation Sans"/>
                          <a:cs typeface="Liberation Sans"/>
                        </a:rPr>
                        <a:t>Tedarik</a:t>
                      </a:r>
                    </a:p>
                  </a:txBody>
                  <a:tcPr marL="76200" marR="76200" marT="19050" marB="19050">
                    <a:solidFill>
                      <a:srgbClr val="FFFFFF"/>
                    </a:solidFill>
                  </a:tcPr>
                </a:tc>
                <a:tc>
                  <a:txBody>
                    <a:bodyPr wrap="square" anchor="ctr">
                      <a:noAutofit/>
                    </a:bodyPr>
                    <a:lstStyle/>
                    <a:p>
                      <a:pPr algn="l"/>
                      <a:r>
                        <a:rPr sz="1725" b="0">
                          <a:solidFill>
                            <a:srgbClr val="273F50"/>
                          </a:solidFill>
                          <a:latin typeface="Liberation Sans"/>
                          <a:ea typeface="Liberation Sans"/>
                          <a:cs typeface="Liberation Sans"/>
                        </a:rPr>
                        <a:t>13.11</a:t>
                      </a:r>
                    </a:p>
                  </a:txBody>
                  <a:tcPr marL="76200" marR="76200" marT="19050" marB="19050">
                    <a:solidFill>
                      <a:srgbClr val="FFFFFF"/>
                    </a:solidFill>
                  </a:tcPr>
                </a:tc>
                <a:tc>
                  <a:txBody>
                    <a:bodyPr wrap="square" anchor="ctr">
                      <a:noAutofit/>
                    </a:bodyPr>
                    <a:lstStyle/>
                    <a:p>
                      <a:pPr algn="l"/>
                      <a:r>
                        <a:rPr sz="1725" b="0">
                          <a:solidFill>
                            <a:srgbClr val="273F50"/>
                          </a:solidFill>
                          <a:latin typeface="Liberation Sans"/>
                          <a:ea typeface="Liberation Sans"/>
                          <a:cs typeface="Liberation Sans"/>
                        </a:rPr>
                        <a:t>20.11</a:t>
                      </a:r>
                    </a:p>
                  </a:txBody>
                  <a:tcPr marL="76200" marR="76200" marT="19050" marB="19050">
                    <a:solidFill>
                      <a:srgbClr val="FFFFFF"/>
                    </a:solidFill>
                  </a:tcPr>
                </a:tc>
                <a:tc>
                  <a:txBody>
                    <a:bodyPr wrap="square" anchor="ctr">
                      <a:noAutofit/>
                    </a:bodyPr>
                    <a:lstStyle/>
                    <a:p>
                      <a:pPr algn="l"/>
                      <a:r>
                        <a:rPr sz="1725" b="1">
                          <a:solidFill>
                            <a:srgbClr val="D97B0A"/>
                          </a:solidFill>
                          <a:latin typeface="Liberation Sans"/>
                          <a:ea typeface="Liberation Sans"/>
                          <a:cs typeface="Liberation Sans"/>
                        </a:rPr>
                        <a:t>10 puan geride</a:t>
                      </a:r>
                    </a:p>
                    <a:p>
                      <a:pPr algn="l"/>
                      <a:r>
                        <a:rPr sz="1725" b="1">
                          <a:solidFill>
                            <a:srgbClr val="D97B0A"/>
                          </a:solidFill>
                          <a:latin typeface="Liberation Sans"/>
                          <a:ea typeface="Liberation Sans"/>
                          <a:cs typeface="Liberation Sans"/>
                        </a:rPr>
                        <a:t>7 gün gecikme</a:t>
                      </a:r>
                    </a:p>
                  </a:txBody>
                  <a:tcPr marL="76200" marR="76200" marT="19050" marB="19050">
                    <a:solidFill>
                      <a:srgbClr val="FFF0D6"/>
                    </a:solidFill>
                  </a:tcPr>
                </a:tc>
                <a:tc>
                  <a:txBody>
                    <a:bodyPr wrap="square" anchor="ctr">
                      <a:noAutofit/>
                    </a:bodyPr>
                    <a:lstStyle/>
                    <a:p>
                      <a:pPr algn="l"/>
                      <a:r>
                        <a:rPr sz="1725" b="0">
                          <a:solidFill>
                            <a:srgbClr val="273F50"/>
                          </a:solidFill>
                          <a:latin typeface="Liberation Sans"/>
                          <a:ea typeface="Liberation Sans"/>
                          <a:cs typeface="Liberation Sans"/>
                        </a:rPr>
                        <a:t>Motor teslimi, 23.10 hedefi.</a:t>
                      </a:r>
                    </a:p>
                    <a:p>
                      <a:pPr algn="l"/>
                      <a:r>
                        <a:rPr sz="1725" b="0">
                          <a:solidFill>
                            <a:srgbClr val="273F50"/>
                          </a:solidFill>
                          <a:latin typeface="Liberation Sans"/>
                          <a:ea typeface="Liberation Sans"/>
                          <a:cs typeface="Liberation Sans"/>
                        </a:rPr>
                        <a:t>Alternatif tedarikçi gerekli.</a:t>
                      </a:r>
                    </a:p>
                  </a:txBody>
                  <a:tcPr marL="76200" marR="76200" marT="19050" marB="19050">
                    <a:solidFill>
                      <a:srgbClr val="FFFFFF"/>
                    </a:solidFill>
                  </a:tcPr>
                </a:tc>
              </a:tr>
              <a:tr h="571500">
                <a:tc>
                  <a:txBody>
                    <a:bodyPr wrap="square" anchor="ctr">
                      <a:noAutofit/>
                    </a:bodyPr>
                    <a:lstStyle/>
                    <a:p>
                      <a:pPr algn="l"/>
                      <a:r>
                        <a:rPr sz="1725" b="1">
                          <a:solidFill>
                            <a:srgbClr val="273F50"/>
                          </a:solidFill>
                          <a:latin typeface="Liberation Sans"/>
                          <a:ea typeface="Liberation Sans"/>
                          <a:cs typeface="Liberation Sans"/>
                        </a:rPr>
                        <a:t>Müşteri Portalı</a:t>
                      </a:r>
                    </a:p>
                  </a:txBody>
                  <a:tcPr marL="76200" marR="76200" marT="19050" marB="19050">
                    <a:solidFill>
                      <a:srgbClr val="F1F6FA"/>
                    </a:solidFill>
                  </a:tcPr>
                </a:tc>
                <a:tc>
                  <a:txBody>
                    <a:bodyPr wrap="square" anchor="ctr">
                      <a:noAutofit/>
                    </a:bodyPr>
                    <a:lstStyle/>
                    <a:p>
                      <a:pPr algn="l"/>
                      <a:r>
                        <a:rPr sz="1725" b="0">
                          <a:solidFill>
                            <a:srgbClr val="273F50"/>
                          </a:solidFill>
                          <a:latin typeface="Liberation Sans"/>
                          <a:ea typeface="Liberation Sans"/>
                          <a:cs typeface="Liberation Sans"/>
                        </a:rPr>
                        <a:t>Geliştirme</a:t>
                      </a:r>
                    </a:p>
                  </a:txBody>
                  <a:tcPr marL="76200" marR="76200" marT="19050" marB="19050">
                    <a:solidFill>
                      <a:srgbClr val="F1F6FA"/>
                    </a:solidFill>
                  </a:tcPr>
                </a:tc>
                <a:tc>
                  <a:txBody>
                    <a:bodyPr wrap="square" anchor="ctr">
                      <a:noAutofit/>
                    </a:bodyPr>
                    <a:lstStyle/>
                    <a:p>
                      <a:pPr algn="l"/>
                      <a:r>
                        <a:rPr sz="1725" b="0">
                          <a:solidFill>
                            <a:srgbClr val="273F50"/>
                          </a:solidFill>
                          <a:latin typeface="Liberation Sans"/>
                          <a:ea typeface="Liberation Sans"/>
                          <a:cs typeface="Liberation Sans"/>
                        </a:rPr>
                        <a:t>06.11</a:t>
                      </a:r>
                    </a:p>
                  </a:txBody>
                  <a:tcPr marL="76200" marR="76200" marT="19050" marB="19050">
                    <a:solidFill>
                      <a:srgbClr val="F1F6FA"/>
                    </a:solidFill>
                  </a:tcPr>
                </a:tc>
                <a:tc>
                  <a:txBody>
                    <a:bodyPr wrap="square" anchor="ctr">
                      <a:noAutofit/>
                    </a:bodyPr>
                    <a:lstStyle/>
                    <a:p>
                      <a:pPr algn="l"/>
                      <a:r>
                        <a:rPr sz="1725" b="0">
                          <a:solidFill>
                            <a:srgbClr val="273F50"/>
                          </a:solidFill>
                          <a:latin typeface="Liberation Sans"/>
                          <a:ea typeface="Liberation Sans"/>
                          <a:cs typeface="Liberation Sans"/>
                        </a:rPr>
                        <a:t>03.11</a:t>
                      </a:r>
                    </a:p>
                  </a:txBody>
                  <a:tcPr marL="76200" marR="76200" marT="19050" marB="19050">
                    <a:solidFill>
                      <a:srgbClr val="F1F6FA"/>
                    </a:solidFill>
                  </a:tcPr>
                </a:tc>
                <a:tc>
                  <a:txBody>
                    <a:bodyPr wrap="square" anchor="ctr">
                      <a:noAutofit/>
                    </a:bodyPr>
                    <a:lstStyle/>
                    <a:p>
                      <a:pPr algn="l"/>
                      <a:r>
                        <a:rPr sz="1725" b="1">
                          <a:solidFill>
                            <a:srgbClr val="008E86"/>
                          </a:solidFill>
                          <a:latin typeface="Liberation Sans"/>
                          <a:ea typeface="Liberation Sans"/>
                          <a:cs typeface="Liberation Sans"/>
                        </a:rPr>
                        <a:t>5 puan ileride</a:t>
                      </a:r>
                    </a:p>
                    <a:p>
                      <a:pPr algn="l"/>
                      <a:r>
                        <a:rPr sz="1725" b="1">
                          <a:solidFill>
                            <a:srgbClr val="008E86"/>
                          </a:solidFill>
                          <a:latin typeface="Liberation Sans"/>
                          <a:ea typeface="Liberation Sans"/>
                          <a:cs typeface="Liberation Sans"/>
                        </a:rPr>
                        <a:t>3 gün erken</a:t>
                      </a:r>
                    </a:p>
                  </a:txBody>
                  <a:tcPr marL="76200" marR="76200" marT="19050" marB="19050">
                    <a:solidFill>
                      <a:srgbClr val="DDF2EE"/>
                    </a:solidFill>
                  </a:tcPr>
                </a:tc>
                <a:tc>
                  <a:txBody>
                    <a:bodyPr wrap="square" anchor="ctr">
                      <a:noAutofit/>
                    </a:bodyPr>
                    <a:lstStyle/>
                    <a:p>
                      <a:pPr algn="l"/>
                      <a:r>
                        <a:rPr sz="1725" b="0">
                          <a:solidFill>
                            <a:srgbClr val="273F50"/>
                          </a:solidFill>
                          <a:latin typeface="Liberation Sans"/>
                          <a:ea typeface="Liberation Sans"/>
                          <a:cs typeface="Liberation Sans"/>
                        </a:rPr>
                        <a:t>Güvenlik testleri, 19.10.</a:t>
                      </a:r>
                    </a:p>
                    <a:p>
                      <a:pPr algn="l"/>
                      <a:r>
                        <a:rPr sz="1725" b="0">
                          <a:solidFill>
                            <a:srgbClr val="273F50"/>
                          </a:solidFill>
                          <a:latin typeface="Liberation Sans"/>
                          <a:ea typeface="Liberation Sans"/>
                          <a:cs typeface="Liberation Sans"/>
                        </a:rPr>
                        <a:t>Test ortamına erişim gerekli.</a:t>
                      </a:r>
                    </a:p>
                  </a:txBody>
                  <a:tcPr marL="76200" marR="76200" marT="19050" marB="19050">
                    <a:solidFill>
                      <a:srgbClr val="F1F6FA"/>
                    </a:solidFill>
                  </a:tcPr>
                </a:tc>
              </a:tr>
              <a:tr h="571500">
                <a:tc>
                  <a:txBody>
                    <a:bodyPr wrap="square" anchor="ctr">
                      <a:noAutofit/>
                    </a:bodyPr>
                    <a:lstStyle/>
                    <a:p>
                      <a:pPr algn="l"/>
                      <a:r>
                        <a:rPr sz="1725" b="1">
                          <a:solidFill>
                            <a:srgbClr val="273F50"/>
                          </a:solidFill>
                          <a:latin typeface="Liberation Sans"/>
                          <a:ea typeface="Liberation Sans"/>
                          <a:cs typeface="Liberation Sans"/>
                        </a:rPr>
                        <a:t>Depo Otomasyonu</a:t>
                      </a:r>
                    </a:p>
                  </a:txBody>
                  <a:tcPr marL="76200" marR="76200" marT="19050" marB="19050">
                    <a:solidFill>
                      <a:srgbClr val="FFFFFF"/>
                    </a:solidFill>
                  </a:tcPr>
                </a:tc>
                <a:tc>
                  <a:txBody>
                    <a:bodyPr wrap="square" anchor="ctr">
                      <a:noAutofit/>
                    </a:bodyPr>
                    <a:lstStyle/>
                    <a:p>
                      <a:pPr algn="l"/>
                      <a:r>
                        <a:rPr sz="1725" b="0">
                          <a:solidFill>
                            <a:srgbClr val="273F50"/>
                          </a:solidFill>
                          <a:latin typeface="Liberation Sans"/>
                          <a:ea typeface="Liberation Sans"/>
                          <a:cs typeface="Liberation Sans"/>
                        </a:rPr>
                        <a:t>Analiz</a:t>
                      </a:r>
                    </a:p>
                  </a:txBody>
                  <a:tcPr marL="76200" marR="76200" marT="19050" marB="19050">
                    <a:solidFill>
                      <a:srgbClr val="FFFFFF"/>
                    </a:solidFill>
                  </a:tcPr>
                </a:tc>
                <a:tc>
                  <a:txBody>
                    <a:bodyPr wrap="square" anchor="ctr">
                      <a:noAutofit/>
                    </a:bodyPr>
                    <a:lstStyle/>
                    <a:p>
                      <a:pPr algn="l"/>
                      <a:r>
                        <a:rPr sz="1725" b="0">
                          <a:solidFill>
                            <a:srgbClr val="273F50"/>
                          </a:solidFill>
                          <a:latin typeface="Liberation Sans"/>
                          <a:ea typeface="Liberation Sans"/>
                          <a:cs typeface="Liberation Sans"/>
                        </a:rPr>
                        <a:t>27.11</a:t>
                      </a:r>
                    </a:p>
                  </a:txBody>
                  <a:tcPr marL="76200" marR="76200" marT="19050" marB="19050">
                    <a:solidFill>
                      <a:srgbClr val="FFFFFF"/>
                    </a:solidFill>
                  </a:tcPr>
                </a:tc>
                <a:tc>
                  <a:txBody>
                    <a:bodyPr wrap="square" anchor="ctr">
                      <a:noAutofit/>
                    </a:bodyPr>
                    <a:lstStyle/>
                    <a:p>
                      <a:pPr algn="l"/>
                      <a:r>
                        <a:rPr sz="1725" b="0">
                          <a:solidFill>
                            <a:srgbClr val="273F50"/>
                          </a:solidFill>
                          <a:latin typeface="Liberation Sans"/>
                          <a:ea typeface="Liberation Sans"/>
                          <a:cs typeface="Liberation Sans"/>
                        </a:rPr>
                        <a:t>27.11</a:t>
                      </a:r>
                    </a:p>
                  </a:txBody>
                  <a:tcPr marL="76200" marR="76200" marT="19050" marB="19050">
                    <a:solidFill>
                      <a:srgbClr val="FFFFFF"/>
                    </a:solidFill>
                  </a:tcPr>
                </a:tc>
                <a:tc>
                  <a:txBody>
                    <a:bodyPr wrap="square" anchor="ctr">
                      <a:noAutofit/>
                    </a:bodyPr>
                    <a:lstStyle/>
                    <a:p>
                      <a:pPr algn="l"/>
                      <a:r>
                        <a:rPr sz="1725" b="1">
                          <a:solidFill>
                            <a:srgbClr val="008E86"/>
                          </a:solidFill>
                          <a:latin typeface="Liberation Sans"/>
                          <a:ea typeface="Liberation Sans"/>
                          <a:cs typeface="Liberation Sans"/>
                        </a:rPr>
                        <a:t>Planında</a:t>
                      </a:r>
                    </a:p>
                    <a:p>
                      <a:pPr algn="l"/>
                      <a:r>
                        <a:rPr sz="1725" b="1">
                          <a:solidFill>
                            <a:srgbClr val="008E86"/>
                          </a:solidFill>
                          <a:latin typeface="Liberation Sans"/>
                          <a:ea typeface="Liberation Sans"/>
                          <a:cs typeface="Liberation Sans"/>
                        </a:rPr>
                        <a:t>0 gün sapma</a:t>
                      </a:r>
                    </a:p>
                  </a:txBody>
                  <a:tcPr marL="76200" marR="76200" marT="19050" marB="19050">
                    <a:solidFill>
                      <a:srgbClr val="DDF2EE"/>
                    </a:solidFill>
                  </a:tcPr>
                </a:tc>
                <a:tc>
                  <a:txBody>
                    <a:bodyPr wrap="square" anchor="ctr">
                      <a:noAutofit/>
                    </a:bodyPr>
                    <a:lstStyle/>
                    <a:p>
                      <a:pPr algn="l"/>
                      <a:r>
                        <a:rPr sz="1725" b="0">
                          <a:solidFill>
                            <a:srgbClr val="273F50"/>
                          </a:solidFill>
                          <a:latin typeface="Liberation Sans"/>
                          <a:ea typeface="Liberation Sans"/>
                          <a:cs typeface="Liberation Sans"/>
                        </a:rPr>
                        <a:t>Yedek ağ bağlantısı, 20.10.</a:t>
                      </a:r>
                    </a:p>
                    <a:p>
                      <a:pPr algn="l"/>
                      <a:r>
                        <a:rPr sz="1725" b="0">
                          <a:solidFill>
                            <a:srgbClr val="273F50"/>
                          </a:solidFill>
                          <a:latin typeface="Liberation Sans"/>
                          <a:ea typeface="Liberation Sans"/>
                          <a:cs typeface="Liberation Sans"/>
                        </a:rPr>
                        <a:t>Saha erişimi doğrulanmalı.</a:t>
                      </a:r>
                    </a:p>
                  </a:txBody>
                  <a:tcPr marL="76200" marR="76200" marT="19050" marB="19050">
                    <a:solidFill>
                      <a:srgbClr val="FFFFFF"/>
                    </a:solidFill>
                  </a:tcPr>
                </a:tc>
              </a:tr>
            </a:tbl>
          </a:graphicData>
        </a:graphic>
      </p:graphicFrame>
      <p:sp>
        <p:nvSpPr>
          <p:cNvPr id="19" name="effort-heading">
            <a:extLst xmlns:a="http://schemas.openxmlformats.org/drawingml/2006/main">
              <a:ext uri="{FF2B5EF4-FFF2-40B4-BE49-F238E27FC236}">
                <a16:creationId xmlns:a16="http://schemas.microsoft.com/office/drawing/2014/main" id="{9D41F820-5F8A-4102-9116-314E4177494A}"/>
              </a:ext>
            </a:extLst>
          </p:cNvPr>
          <p:cNvSpPr>
            <a:spLocks xmlns:a="http://schemas.openxmlformats.org/drawingml/2006/main" noGrp="1"/>
          </p:cNvSpPr>
          <p:nvPr/>
        </p:nvSpPr>
        <p:spPr>
          <a:xfrm xmlns:a="http://schemas.openxmlformats.org/drawingml/2006/main">
            <a:off x="457200" y="5753100"/>
            <a:ext cx="14325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008E86"/>
                </a:solidFill>
                <a:latin typeface="Liberation Sans"/>
                <a:ea typeface="Liberation Sans"/>
                <a:cs typeface="Liberation Sans"/>
              </a:defRPr>
            </a:defPPr>
          </a:lstStyle>
          <a:p xmlns:a="http://schemas.openxmlformats.org/drawingml/2006/main">
            <a:pPr algn="l">
              <a:defRPr sz="2025" b="1">
                <a:solidFill>
                  <a:srgbClr val="008E86"/>
                </a:solidFill>
                <a:latin typeface="Liberation Sans"/>
                <a:ea typeface="Liberation Sans"/>
                <a:cs typeface="Liberation Sans"/>
              </a:defRPr>
            </a:pPr>
            <a:r>
              <a:rPr sz="2025" b="1">
                <a:solidFill>
                  <a:srgbClr val="008E86"/>
                </a:solidFill>
                <a:latin typeface="Liberation Sans"/>
                <a:ea typeface="Liberation Sans"/>
                <a:cs typeface="Liberation Sans"/>
              </a:rPr>
              <a:t>Departman bazında efor (kişi / rapor tarihine kadar saat)</a:t>
            </a:r>
          </a:p>
        </p:txBody>
      </p:sp>
      <p:graphicFrame>
        <p:nvGraphicFramePr>
          <p:cNvPr id="20" name="">
            <a:extLst xmlns:a="http://schemas.openxmlformats.org/drawingml/2006/main">
              <a:ext uri="{FF2B5EF4-FFF2-40B4-BE49-F238E27FC236}">
                <a16:creationId xmlns:a16="http://schemas.microsoft.com/office/drawing/2014/main" id="{AAD47A0B-090F-4838-A1A1-5574EADD162C}"/>
              </a:ext>
            </a:extLst>
          </p:cNvPr>
          <p:cNvGraphicFramePr/>
          <p:nvPr/>
        </p:nvGraphicFramePr>
        <p:xfrm>
          <a:off xmlns:a="http://schemas.openxmlformats.org/drawingml/2006/main" x="457200" y="6115050"/>
          <a:ext xmlns:a="http://schemas.openxmlformats.org/drawingml/2006/main" cx="14325600" cy="2209800"/>
        </p:xfrm>
        <a:graphic xmlns:a="http://schemas.openxmlformats.org/drawingml/2006/main">
          <a:graphicData uri="http://schemas.openxmlformats.org/drawingml/2006/table">
            <a:tbl>
              <a:tblPr firstRow="0" bandRow="0"/>
              <a:tblGrid>
                <a:gridCol w="2000250"/>
                <a:gridCol w="1524000"/>
                <a:gridCol w="1762125"/>
                <a:gridCol w="1666875"/>
                <a:gridCol w="1666875"/>
                <a:gridCol w="1666875"/>
                <a:gridCol w="1666875"/>
                <a:gridCol w="2371725"/>
              </a:tblGrid>
              <a:tr h="552450">
                <a:tc>
                  <a:txBody>
                    <a:bodyPr wrap="square" anchor="ctr">
                      <a:noAutofit/>
                    </a:bodyPr>
                    <a:lstStyle/>
                    <a:p>
                      <a:pPr algn="l"/>
                      <a:r>
                        <a:rPr sz="1650" b="1">
                          <a:solidFill>
                            <a:srgbClr val="FFFFFF"/>
                          </a:solidFill>
                          <a:latin typeface="Liberation Sans"/>
                          <a:ea typeface="Liberation Sans"/>
                          <a:cs typeface="Liberation Sans"/>
                        </a:rPr>
                        <a:t>Proje</a:t>
                      </a:r>
                    </a:p>
                  </a:txBody>
                  <a:tcPr marL="76200" marR="76200" marT="19050" marB="19050">
                    <a:solidFill>
                      <a:srgbClr val="008E86"/>
                    </a:solidFill>
                  </a:tcPr>
                </a:tc>
                <a:tc>
                  <a:txBody>
                    <a:bodyPr wrap="square" anchor="ctr">
                      <a:noAutofit/>
                    </a:bodyPr>
                    <a:lstStyle/>
                    <a:p>
                      <a:pPr algn="l"/>
                      <a:r>
                        <a:rPr sz="1650" b="1">
                          <a:solidFill>
                            <a:srgbClr val="FFFFFF"/>
                          </a:solidFill>
                          <a:latin typeface="Liberation Sans"/>
                          <a:ea typeface="Liberation Sans"/>
                          <a:cs typeface="Liberation Sans"/>
                        </a:rPr>
                        <a:t>Toplam</a:t>
                      </a:r>
                    </a:p>
                    <a:p>
                      <a:pPr algn="l"/>
                      <a:r>
                        <a:rPr sz="1650" b="1">
                          <a:solidFill>
                            <a:srgbClr val="FFFFFF"/>
                          </a:solidFill>
                          <a:latin typeface="Liberation Sans"/>
                          <a:ea typeface="Liberation Sans"/>
                          <a:cs typeface="Liberation Sans"/>
                        </a:rPr>
                        <a:t>kişi / saat</a:t>
                      </a:r>
                    </a:p>
                  </a:txBody>
                  <a:tcPr marL="76200" marR="76200" marT="19050" marB="19050">
                    <a:solidFill>
                      <a:srgbClr val="008E86"/>
                    </a:solidFill>
                  </a:tcPr>
                </a:tc>
                <a:tc>
                  <a:txBody>
                    <a:bodyPr wrap="square" anchor="ctr">
                      <a:noAutofit/>
                    </a:bodyPr>
                    <a:lstStyle/>
                    <a:p>
                      <a:pPr algn="l"/>
                      <a:r>
                        <a:rPr sz="1650" b="1">
                          <a:solidFill>
                            <a:srgbClr val="FFFFFF"/>
                          </a:solidFill>
                          <a:latin typeface="Liberation Sans"/>
                          <a:ea typeface="Liberation Sans"/>
                          <a:cs typeface="Liberation Sans"/>
                        </a:rPr>
                        <a:t>Mühendislik</a:t>
                      </a:r>
                    </a:p>
                  </a:txBody>
                  <a:tcPr marL="76200" marR="76200" marT="19050" marB="19050">
                    <a:solidFill>
                      <a:srgbClr val="008E86"/>
                    </a:solidFill>
                  </a:tcPr>
                </a:tc>
                <a:tc>
                  <a:txBody>
                    <a:bodyPr wrap="square" anchor="ctr">
                      <a:noAutofit/>
                    </a:bodyPr>
                    <a:lstStyle/>
                    <a:p>
                      <a:pPr algn="l"/>
                      <a:r>
                        <a:rPr sz="1650" b="1">
                          <a:solidFill>
                            <a:srgbClr val="FFFFFF"/>
                          </a:solidFill>
                          <a:latin typeface="Liberation Sans"/>
                          <a:ea typeface="Liberation Sans"/>
                          <a:cs typeface="Liberation Sans"/>
                        </a:rPr>
                        <a:t>Üretim</a:t>
                      </a:r>
                    </a:p>
                  </a:txBody>
                  <a:tcPr marL="76200" marR="76200" marT="19050" marB="19050">
                    <a:solidFill>
                      <a:srgbClr val="008E86"/>
                    </a:solidFill>
                  </a:tcPr>
                </a:tc>
                <a:tc>
                  <a:txBody>
                    <a:bodyPr wrap="square" anchor="ctr">
                      <a:noAutofit/>
                    </a:bodyPr>
                    <a:lstStyle/>
                    <a:p>
                      <a:pPr algn="l"/>
                      <a:r>
                        <a:rPr sz="1650" b="1">
                          <a:solidFill>
                            <a:srgbClr val="FFFFFF"/>
                          </a:solidFill>
                          <a:latin typeface="Liberation Sans"/>
                          <a:ea typeface="Liberation Sans"/>
                          <a:cs typeface="Liberation Sans"/>
                        </a:rPr>
                        <a:t>Satın alma</a:t>
                      </a:r>
                    </a:p>
                  </a:txBody>
                  <a:tcPr marL="76200" marR="76200" marT="19050" marB="19050">
                    <a:solidFill>
                      <a:srgbClr val="008E86"/>
                    </a:solidFill>
                  </a:tcPr>
                </a:tc>
                <a:tc>
                  <a:txBody>
                    <a:bodyPr wrap="square" anchor="ctr">
                      <a:noAutofit/>
                    </a:bodyPr>
                    <a:lstStyle/>
                    <a:p>
                      <a:pPr algn="l"/>
                      <a:r>
                        <a:rPr sz="1650" b="1">
                          <a:solidFill>
                            <a:srgbClr val="FFFFFF"/>
                          </a:solidFill>
                          <a:latin typeface="Liberation Sans"/>
                          <a:ea typeface="Liberation Sans"/>
                          <a:cs typeface="Liberation Sans"/>
                        </a:rPr>
                        <a:t>Kalite</a:t>
                      </a:r>
                    </a:p>
                  </a:txBody>
                  <a:tcPr marL="76200" marR="76200" marT="19050" marB="19050">
                    <a:solidFill>
                      <a:srgbClr val="008E86"/>
                    </a:solidFill>
                  </a:tcPr>
                </a:tc>
                <a:tc>
                  <a:txBody>
                    <a:bodyPr wrap="square" anchor="ctr">
                      <a:noAutofit/>
                    </a:bodyPr>
                    <a:lstStyle/>
                    <a:p>
                      <a:pPr algn="l"/>
                      <a:r>
                        <a:rPr sz="1650" b="1">
                          <a:solidFill>
                            <a:srgbClr val="FFFFFF"/>
                          </a:solidFill>
                          <a:latin typeface="Liberation Sans"/>
                          <a:ea typeface="Liberation Sans"/>
                          <a:cs typeface="Liberation Sans"/>
                        </a:rPr>
                        <a:t>Bilgi tekn.</a:t>
                      </a:r>
                    </a:p>
                  </a:txBody>
                  <a:tcPr marL="76200" marR="76200" marT="19050" marB="19050">
                    <a:solidFill>
                      <a:srgbClr val="008E86"/>
                    </a:solidFill>
                  </a:tcPr>
                </a:tc>
                <a:tc>
                  <a:txBody>
                    <a:bodyPr wrap="square" anchor="ctr">
                      <a:noAutofit/>
                    </a:bodyPr>
                    <a:lstStyle/>
                    <a:p>
                      <a:pPr algn="l"/>
                      <a:r>
                        <a:rPr sz="1650" b="1">
                          <a:solidFill>
                            <a:srgbClr val="FFFFFF"/>
                          </a:solidFill>
                          <a:latin typeface="Liberation Sans"/>
                          <a:ea typeface="Liberation Sans"/>
                          <a:cs typeface="Liberation Sans"/>
                        </a:rPr>
                        <a:t>Proje yön.</a:t>
                      </a:r>
                    </a:p>
                  </a:txBody>
                  <a:tcPr marL="76200" marR="76200" marT="19050" marB="19050">
                    <a:solidFill>
                      <a:srgbClr val="008E86"/>
                    </a:solidFill>
                  </a:tcPr>
                </a:tc>
              </a:tr>
              <a:tr h="552450">
                <a:tc>
                  <a:txBody>
                    <a:bodyPr wrap="square" anchor="ctr">
                      <a:noAutofit/>
                    </a:bodyPr>
                    <a:lstStyle/>
                    <a:p>
                      <a:pPr algn="l"/>
                      <a:r>
                        <a:rPr sz="1650" b="1">
                          <a:solidFill>
                            <a:srgbClr val="273F50"/>
                          </a:solidFill>
                          <a:latin typeface="Liberation Sans"/>
                          <a:ea typeface="Liberation Sans"/>
                          <a:cs typeface="Liberation Sans"/>
                        </a:rPr>
                        <a:t>Üretim Hattı</a:t>
                      </a:r>
                    </a:p>
                  </a:txBody>
                  <a:tcPr marL="76200" marR="76200" marT="19050" marB="19050">
                    <a:solidFill>
                      <a:srgbClr val="FFFFFF"/>
                    </a:solidFill>
                  </a:tcPr>
                </a:tc>
                <a:tc>
                  <a:txBody>
                    <a:bodyPr wrap="square" anchor="ctr">
                      <a:noAutofit/>
                    </a:bodyPr>
                    <a:lstStyle/>
                    <a:p>
                      <a:pPr algn="ctr"/>
                      <a:r>
                        <a:rPr sz="1650" b="1">
                          <a:solidFill>
                            <a:srgbClr val="273F50"/>
                          </a:solidFill>
                          <a:latin typeface="Liberation Sans"/>
                          <a:ea typeface="Liberation Sans"/>
                          <a:cs typeface="Liberation Sans"/>
                        </a:rPr>
                        <a:t>8 kişi</a:t>
                      </a:r>
                    </a:p>
                    <a:p>
                      <a:pPr algn="ctr"/>
                      <a:r>
                        <a:rPr sz="1650" b="1">
                          <a:solidFill>
                            <a:srgbClr val="273F50"/>
                          </a:solidFill>
                          <a:latin typeface="Liberation Sans"/>
                          <a:ea typeface="Liberation Sans"/>
                          <a:cs typeface="Liberation Sans"/>
                        </a:rPr>
                        <a:t>240 saat</a:t>
                      </a:r>
                    </a:p>
                  </a:txBody>
                  <a:tcPr marL="76200" marR="76200" marT="19050" marB="19050">
                    <a:solidFill>
                      <a:srgbClr val="DDF2EE"/>
                    </a:solidFill>
                  </a:tcPr>
                </a:tc>
                <a:tc>
                  <a:txBody>
                    <a:bodyPr wrap="square" anchor="ctr">
                      <a:noAutofit/>
                    </a:bodyPr>
                    <a:lstStyle/>
                    <a:p>
                      <a:pPr algn="ctr"/>
                      <a:r>
                        <a:rPr sz="1650" b="0">
                          <a:solidFill>
                            <a:srgbClr val="273F50"/>
                          </a:solidFill>
                          <a:latin typeface="Liberation Sans"/>
                          <a:ea typeface="Liberation Sans"/>
                          <a:cs typeface="Liberation Sans"/>
                        </a:rPr>
                        <a:t>3 kişi</a:t>
                      </a:r>
                    </a:p>
                    <a:p>
                      <a:pPr algn="ctr"/>
                      <a:r>
                        <a:rPr sz="1650" b="0">
                          <a:solidFill>
                            <a:srgbClr val="273F50"/>
                          </a:solidFill>
                          <a:latin typeface="Liberation Sans"/>
                          <a:ea typeface="Liberation Sans"/>
                          <a:cs typeface="Liberation Sans"/>
                        </a:rPr>
                        <a:t>96 saat</a:t>
                      </a:r>
                    </a:p>
                  </a:txBody>
                  <a:tcPr marL="76200" marR="76200" marT="19050" marB="19050">
                    <a:solidFill>
                      <a:srgbClr val="FFFFFF"/>
                    </a:solidFill>
                  </a:tcPr>
                </a:tc>
                <a:tc>
                  <a:txBody>
                    <a:bodyPr wrap="square" anchor="ctr">
                      <a:noAutofit/>
                    </a:bodyPr>
                    <a:lstStyle/>
                    <a:p>
                      <a:pPr algn="ctr"/>
                      <a:r>
                        <a:rPr sz="1650" b="0">
                          <a:solidFill>
                            <a:srgbClr val="273F50"/>
                          </a:solidFill>
                          <a:latin typeface="Liberation Sans"/>
                          <a:ea typeface="Liberation Sans"/>
                          <a:cs typeface="Liberation Sans"/>
                        </a:rPr>
                        <a:t>2 kişi</a:t>
                      </a:r>
                    </a:p>
                    <a:p>
                      <a:pPr algn="ctr"/>
                      <a:r>
                        <a:rPr sz="1650" b="0">
                          <a:solidFill>
                            <a:srgbClr val="273F50"/>
                          </a:solidFill>
                          <a:latin typeface="Liberation Sans"/>
                          <a:ea typeface="Liberation Sans"/>
                          <a:cs typeface="Liberation Sans"/>
                        </a:rPr>
                        <a:t>72 saat</a:t>
                      </a:r>
                    </a:p>
                  </a:txBody>
                  <a:tcPr marL="76200" marR="76200" marT="19050" marB="19050">
                    <a:solidFill>
                      <a:srgbClr val="FFFFFF"/>
                    </a:solidFill>
                  </a:tcPr>
                </a:tc>
                <a:tc>
                  <a:txBody>
                    <a:bodyPr wrap="square" anchor="ctr">
                      <a:noAutofit/>
                    </a:bodyPr>
                    <a:lstStyle/>
                    <a:p>
                      <a:pPr algn="ctr"/>
                      <a:r>
                        <a:rPr sz="1650" b="0">
                          <a:solidFill>
                            <a:srgbClr val="273F50"/>
                          </a:solidFill>
                          <a:latin typeface="Liberation Sans"/>
                          <a:ea typeface="Liberation Sans"/>
                          <a:cs typeface="Liberation Sans"/>
                        </a:rPr>
                        <a:t>1 kişi</a:t>
                      </a:r>
                    </a:p>
                    <a:p>
                      <a:pPr algn="ctr"/>
                      <a:r>
                        <a:rPr sz="1650" b="0">
                          <a:solidFill>
                            <a:srgbClr val="273F50"/>
                          </a:solidFill>
                          <a:latin typeface="Liberation Sans"/>
                          <a:ea typeface="Liberation Sans"/>
                          <a:cs typeface="Liberation Sans"/>
                        </a:rPr>
                        <a:t>24 saat</a:t>
                      </a:r>
                    </a:p>
                  </a:txBody>
                  <a:tcPr marL="76200" marR="76200" marT="19050" marB="19050">
                    <a:solidFill>
                      <a:srgbClr val="FFFFFF"/>
                    </a:solidFill>
                  </a:tcPr>
                </a:tc>
                <a:tc>
                  <a:txBody>
                    <a:bodyPr wrap="square" anchor="ctr">
                      <a:noAutofit/>
                    </a:bodyPr>
                    <a:lstStyle/>
                    <a:p>
                      <a:pPr algn="ctr"/>
                      <a:r>
                        <a:rPr sz="1650" b="0">
                          <a:solidFill>
                            <a:srgbClr val="273F50"/>
                          </a:solidFill>
                          <a:latin typeface="Liberation Sans"/>
                          <a:ea typeface="Liberation Sans"/>
                          <a:cs typeface="Liberation Sans"/>
                        </a:rPr>
                        <a:t>1 kişi</a:t>
                      </a:r>
                    </a:p>
                    <a:p>
                      <a:pPr algn="ctr"/>
                      <a:r>
                        <a:rPr sz="1650" b="0">
                          <a:solidFill>
                            <a:srgbClr val="273F50"/>
                          </a:solidFill>
                          <a:latin typeface="Liberation Sans"/>
                          <a:ea typeface="Liberation Sans"/>
                          <a:cs typeface="Liberation Sans"/>
                        </a:rPr>
                        <a:t>24 saat</a:t>
                      </a:r>
                    </a:p>
                  </a:txBody>
                  <a:tcPr marL="76200" marR="76200" marT="19050" marB="19050">
                    <a:solidFill>
                      <a:srgbClr val="FFFFFF"/>
                    </a:solidFill>
                  </a:tcPr>
                </a:tc>
                <a:tc>
                  <a:txBody>
                    <a:bodyPr wrap="square" anchor="ctr">
                      <a:noAutofit/>
                    </a:bodyPr>
                    <a:lstStyle/>
                    <a:p>
                      <a:pPr algn="ctr"/>
                      <a:r>
                        <a:rPr sz="1650" b="0">
                          <a:solidFill>
                            <a:srgbClr val="273F50"/>
                          </a:solidFill>
                          <a:latin typeface="Liberation Sans"/>
                          <a:ea typeface="Liberation Sans"/>
                          <a:cs typeface="Liberation Sans"/>
                        </a:rPr>
                        <a:t>—</a:t>
                      </a:r>
                    </a:p>
                  </a:txBody>
                  <a:tcPr marL="76200" marR="76200" marT="19050" marB="19050">
                    <a:solidFill>
                      <a:srgbClr val="FFFFFF"/>
                    </a:solidFill>
                  </a:tcPr>
                </a:tc>
                <a:tc>
                  <a:txBody>
                    <a:bodyPr wrap="square" anchor="ctr">
                      <a:noAutofit/>
                    </a:bodyPr>
                    <a:lstStyle/>
                    <a:p>
                      <a:pPr algn="ctr"/>
                      <a:r>
                        <a:rPr sz="1650" b="0">
                          <a:solidFill>
                            <a:srgbClr val="273F50"/>
                          </a:solidFill>
                          <a:latin typeface="Liberation Sans"/>
                          <a:ea typeface="Liberation Sans"/>
                          <a:cs typeface="Liberation Sans"/>
                        </a:rPr>
                        <a:t>1 kişi</a:t>
                      </a:r>
                    </a:p>
                    <a:p>
                      <a:pPr algn="ctr"/>
                      <a:r>
                        <a:rPr sz="1650" b="0">
                          <a:solidFill>
                            <a:srgbClr val="273F50"/>
                          </a:solidFill>
                          <a:latin typeface="Liberation Sans"/>
                          <a:ea typeface="Liberation Sans"/>
                          <a:cs typeface="Liberation Sans"/>
                        </a:rPr>
                        <a:t>24 saat</a:t>
                      </a:r>
                    </a:p>
                  </a:txBody>
                  <a:tcPr marL="76200" marR="76200" marT="19050" marB="19050">
                    <a:solidFill>
                      <a:srgbClr val="FFFFFF"/>
                    </a:solidFill>
                  </a:tcPr>
                </a:tc>
              </a:tr>
              <a:tr h="552450">
                <a:tc>
                  <a:txBody>
                    <a:bodyPr wrap="square" anchor="ctr">
                      <a:noAutofit/>
                    </a:bodyPr>
                    <a:lstStyle/>
                    <a:p>
                      <a:pPr algn="l"/>
                      <a:r>
                        <a:rPr sz="1650" b="1">
                          <a:solidFill>
                            <a:srgbClr val="273F50"/>
                          </a:solidFill>
                          <a:latin typeface="Liberation Sans"/>
                          <a:ea typeface="Liberation Sans"/>
                          <a:cs typeface="Liberation Sans"/>
                        </a:rPr>
                        <a:t>Müşteri Portalı</a:t>
                      </a:r>
                    </a:p>
                  </a:txBody>
                  <a:tcPr marL="76200" marR="76200" marT="19050" marB="19050">
                    <a:solidFill>
                      <a:srgbClr val="F1F6FA"/>
                    </a:solidFill>
                  </a:tcPr>
                </a:tc>
                <a:tc>
                  <a:txBody>
                    <a:bodyPr wrap="square" anchor="ctr">
                      <a:noAutofit/>
                    </a:bodyPr>
                    <a:lstStyle/>
                    <a:p>
                      <a:pPr algn="ctr"/>
                      <a:r>
                        <a:rPr sz="1650" b="1">
                          <a:solidFill>
                            <a:srgbClr val="273F50"/>
                          </a:solidFill>
                          <a:latin typeface="Liberation Sans"/>
                          <a:ea typeface="Liberation Sans"/>
                          <a:cs typeface="Liberation Sans"/>
                        </a:rPr>
                        <a:t>5 kişi</a:t>
                      </a:r>
                    </a:p>
                    <a:p>
                      <a:pPr algn="ctr"/>
                      <a:r>
                        <a:rPr sz="1650" b="1">
                          <a:solidFill>
                            <a:srgbClr val="273F50"/>
                          </a:solidFill>
                          <a:latin typeface="Liberation Sans"/>
                          <a:ea typeface="Liberation Sans"/>
                          <a:cs typeface="Liberation Sans"/>
                        </a:rPr>
                        <a:t>160 saat</a:t>
                      </a:r>
                    </a:p>
                  </a:txBody>
                  <a:tcPr marL="76200" marR="76200" marT="19050" marB="19050">
                    <a:solidFill>
                      <a:srgbClr val="DDF2EE"/>
                    </a:solidFill>
                  </a:tcPr>
                </a:tc>
                <a:tc>
                  <a:txBody>
                    <a:bodyPr wrap="square" anchor="ctr">
                      <a:noAutofit/>
                    </a:bodyPr>
                    <a:lstStyle/>
                    <a:p>
                      <a:pPr algn="ctr"/>
                      <a:r>
                        <a:rPr sz="1650" b="0">
                          <a:solidFill>
                            <a:srgbClr val="273F50"/>
                          </a:solidFill>
                          <a:latin typeface="Liberation Sans"/>
                          <a:ea typeface="Liberation Sans"/>
                          <a:cs typeface="Liberation Sans"/>
                        </a:rPr>
                        <a:t>—</a:t>
                      </a:r>
                    </a:p>
                  </a:txBody>
                  <a:tcPr marL="76200" marR="76200" marT="19050" marB="19050">
                    <a:solidFill>
                      <a:srgbClr val="F1F6FA"/>
                    </a:solidFill>
                  </a:tcPr>
                </a:tc>
                <a:tc>
                  <a:txBody>
                    <a:bodyPr wrap="square" anchor="ctr">
                      <a:noAutofit/>
                    </a:bodyPr>
                    <a:lstStyle/>
                    <a:p>
                      <a:pPr algn="ctr"/>
                      <a:r>
                        <a:rPr sz="1650" b="0">
                          <a:solidFill>
                            <a:srgbClr val="273F50"/>
                          </a:solidFill>
                          <a:latin typeface="Liberation Sans"/>
                          <a:ea typeface="Liberation Sans"/>
                          <a:cs typeface="Liberation Sans"/>
                        </a:rPr>
                        <a:t>—</a:t>
                      </a:r>
                    </a:p>
                  </a:txBody>
                  <a:tcPr marL="76200" marR="76200" marT="19050" marB="19050">
                    <a:solidFill>
                      <a:srgbClr val="F1F6FA"/>
                    </a:solidFill>
                  </a:tcPr>
                </a:tc>
                <a:tc>
                  <a:txBody>
                    <a:bodyPr wrap="square" anchor="ctr">
                      <a:noAutofit/>
                    </a:bodyPr>
                    <a:lstStyle/>
                    <a:p>
                      <a:pPr algn="ctr"/>
                      <a:r>
                        <a:rPr sz="1650" b="0">
                          <a:solidFill>
                            <a:srgbClr val="273F50"/>
                          </a:solidFill>
                          <a:latin typeface="Liberation Sans"/>
                          <a:ea typeface="Liberation Sans"/>
                          <a:cs typeface="Liberation Sans"/>
                        </a:rPr>
                        <a:t>—</a:t>
                      </a:r>
                    </a:p>
                  </a:txBody>
                  <a:tcPr marL="76200" marR="76200" marT="19050" marB="19050">
                    <a:solidFill>
                      <a:srgbClr val="F1F6FA"/>
                    </a:solidFill>
                  </a:tcPr>
                </a:tc>
                <a:tc>
                  <a:txBody>
                    <a:bodyPr wrap="square" anchor="ctr">
                      <a:noAutofit/>
                    </a:bodyPr>
                    <a:lstStyle/>
                    <a:p>
                      <a:pPr algn="ctr"/>
                      <a:r>
                        <a:rPr sz="1650" b="0">
                          <a:solidFill>
                            <a:srgbClr val="273F50"/>
                          </a:solidFill>
                          <a:latin typeface="Liberation Sans"/>
                          <a:ea typeface="Liberation Sans"/>
                          <a:cs typeface="Liberation Sans"/>
                        </a:rPr>
                        <a:t>1 kişi</a:t>
                      </a:r>
                    </a:p>
                    <a:p>
                      <a:pPr algn="ctr"/>
                      <a:r>
                        <a:rPr sz="1650" b="0">
                          <a:solidFill>
                            <a:srgbClr val="273F50"/>
                          </a:solidFill>
                          <a:latin typeface="Liberation Sans"/>
                          <a:ea typeface="Liberation Sans"/>
                          <a:cs typeface="Liberation Sans"/>
                        </a:rPr>
                        <a:t>24 saat</a:t>
                      </a:r>
                    </a:p>
                  </a:txBody>
                  <a:tcPr marL="76200" marR="76200" marT="19050" marB="19050">
                    <a:solidFill>
                      <a:srgbClr val="F1F6FA"/>
                    </a:solidFill>
                  </a:tcPr>
                </a:tc>
                <a:tc>
                  <a:txBody>
                    <a:bodyPr wrap="square" anchor="ctr">
                      <a:noAutofit/>
                    </a:bodyPr>
                    <a:lstStyle/>
                    <a:p>
                      <a:pPr algn="ctr"/>
                      <a:r>
                        <a:rPr sz="1650" b="0">
                          <a:solidFill>
                            <a:srgbClr val="273F50"/>
                          </a:solidFill>
                          <a:latin typeface="Liberation Sans"/>
                          <a:ea typeface="Liberation Sans"/>
                          <a:cs typeface="Liberation Sans"/>
                        </a:rPr>
                        <a:t>3 kişi</a:t>
                      </a:r>
                    </a:p>
                    <a:p>
                      <a:pPr algn="ctr"/>
                      <a:r>
                        <a:rPr sz="1650" b="0">
                          <a:solidFill>
                            <a:srgbClr val="273F50"/>
                          </a:solidFill>
                          <a:latin typeface="Liberation Sans"/>
                          <a:ea typeface="Liberation Sans"/>
                          <a:cs typeface="Liberation Sans"/>
                        </a:rPr>
                        <a:t>120 saat</a:t>
                      </a:r>
                    </a:p>
                  </a:txBody>
                  <a:tcPr marL="76200" marR="76200" marT="19050" marB="19050">
                    <a:solidFill>
                      <a:srgbClr val="F1F6FA"/>
                    </a:solidFill>
                  </a:tcPr>
                </a:tc>
                <a:tc>
                  <a:txBody>
                    <a:bodyPr wrap="square" anchor="ctr">
                      <a:noAutofit/>
                    </a:bodyPr>
                    <a:lstStyle/>
                    <a:p>
                      <a:pPr algn="ctr"/>
                      <a:r>
                        <a:rPr sz="1650" b="0">
                          <a:solidFill>
                            <a:srgbClr val="273F50"/>
                          </a:solidFill>
                          <a:latin typeface="Liberation Sans"/>
                          <a:ea typeface="Liberation Sans"/>
                          <a:cs typeface="Liberation Sans"/>
                        </a:rPr>
                        <a:t>1 kişi</a:t>
                      </a:r>
                    </a:p>
                    <a:p>
                      <a:pPr algn="ctr"/>
                      <a:r>
                        <a:rPr sz="1650" b="0">
                          <a:solidFill>
                            <a:srgbClr val="273F50"/>
                          </a:solidFill>
                          <a:latin typeface="Liberation Sans"/>
                          <a:ea typeface="Liberation Sans"/>
                          <a:cs typeface="Liberation Sans"/>
                        </a:rPr>
                        <a:t>16 saat</a:t>
                      </a:r>
                    </a:p>
                  </a:txBody>
                  <a:tcPr marL="76200" marR="76200" marT="19050" marB="19050">
                    <a:solidFill>
                      <a:srgbClr val="F1F6FA"/>
                    </a:solidFill>
                  </a:tcPr>
                </a:tc>
              </a:tr>
              <a:tr h="552450">
                <a:tc>
                  <a:txBody>
                    <a:bodyPr wrap="square" anchor="ctr">
                      <a:noAutofit/>
                    </a:bodyPr>
                    <a:lstStyle/>
                    <a:p>
                      <a:pPr algn="l"/>
                      <a:r>
                        <a:rPr sz="1650" b="1">
                          <a:solidFill>
                            <a:srgbClr val="273F50"/>
                          </a:solidFill>
                          <a:latin typeface="Liberation Sans"/>
                          <a:ea typeface="Liberation Sans"/>
                          <a:cs typeface="Liberation Sans"/>
                        </a:rPr>
                        <a:t>Depo Otomasyonu</a:t>
                      </a:r>
                    </a:p>
                  </a:txBody>
                  <a:tcPr marL="76200" marR="76200" marT="19050" marB="19050">
                    <a:solidFill>
                      <a:srgbClr val="FFFFFF"/>
                    </a:solidFill>
                  </a:tcPr>
                </a:tc>
                <a:tc>
                  <a:txBody>
                    <a:bodyPr wrap="square" anchor="ctr">
                      <a:noAutofit/>
                    </a:bodyPr>
                    <a:lstStyle/>
                    <a:p>
                      <a:pPr algn="ctr"/>
                      <a:r>
                        <a:rPr sz="1650" b="1">
                          <a:solidFill>
                            <a:srgbClr val="273F50"/>
                          </a:solidFill>
                          <a:latin typeface="Liberation Sans"/>
                          <a:ea typeface="Liberation Sans"/>
                          <a:cs typeface="Liberation Sans"/>
                        </a:rPr>
                        <a:t>8 kişi</a:t>
                      </a:r>
                    </a:p>
                    <a:p>
                      <a:pPr algn="ctr"/>
                      <a:r>
                        <a:rPr sz="1650" b="1">
                          <a:solidFill>
                            <a:srgbClr val="273F50"/>
                          </a:solidFill>
                          <a:latin typeface="Liberation Sans"/>
                          <a:ea typeface="Liberation Sans"/>
                          <a:cs typeface="Liberation Sans"/>
                        </a:rPr>
                        <a:t>192 saat</a:t>
                      </a:r>
                    </a:p>
                  </a:txBody>
                  <a:tcPr marL="76200" marR="76200" marT="19050" marB="19050">
                    <a:solidFill>
                      <a:srgbClr val="DDF2EE"/>
                    </a:solidFill>
                  </a:tcPr>
                </a:tc>
                <a:tc>
                  <a:txBody>
                    <a:bodyPr wrap="square" anchor="ctr">
                      <a:noAutofit/>
                    </a:bodyPr>
                    <a:lstStyle/>
                    <a:p>
                      <a:pPr algn="ctr"/>
                      <a:r>
                        <a:rPr sz="1650" b="0">
                          <a:solidFill>
                            <a:srgbClr val="273F50"/>
                          </a:solidFill>
                          <a:latin typeface="Liberation Sans"/>
                          <a:ea typeface="Liberation Sans"/>
                          <a:cs typeface="Liberation Sans"/>
                        </a:rPr>
                        <a:t>2 kişi</a:t>
                      </a:r>
                    </a:p>
                    <a:p>
                      <a:pPr algn="ctr"/>
                      <a:r>
                        <a:rPr sz="1650" b="0">
                          <a:solidFill>
                            <a:srgbClr val="273F50"/>
                          </a:solidFill>
                          <a:latin typeface="Liberation Sans"/>
                          <a:ea typeface="Liberation Sans"/>
                          <a:cs typeface="Liberation Sans"/>
                        </a:rPr>
                        <a:t>48 saat</a:t>
                      </a:r>
                    </a:p>
                  </a:txBody>
                  <a:tcPr marL="76200" marR="76200" marT="19050" marB="19050">
                    <a:solidFill>
                      <a:srgbClr val="FFFFFF"/>
                    </a:solidFill>
                  </a:tcPr>
                </a:tc>
                <a:tc>
                  <a:txBody>
                    <a:bodyPr wrap="square" anchor="ctr">
                      <a:noAutofit/>
                    </a:bodyPr>
                    <a:lstStyle/>
                    <a:p>
                      <a:pPr algn="ctr"/>
                      <a:r>
                        <a:rPr sz="1650" b="0">
                          <a:solidFill>
                            <a:srgbClr val="273F50"/>
                          </a:solidFill>
                          <a:latin typeface="Liberation Sans"/>
                          <a:ea typeface="Liberation Sans"/>
                          <a:cs typeface="Liberation Sans"/>
                        </a:rPr>
                        <a:t>1 kişi</a:t>
                      </a:r>
                    </a:p>
                    <a:p>
                      <a:pPr algn="ctr"/>
                      <a:r>
                        <a:rPr sz="1650" b="0">
                          <a:solidFill>
                            <a:srgbClr val="273F50"/>
                          </a:solidFill>
                          <a:latin typeface="Liberation Sans"/>
                          <a:ea typeface="Liberation Sans"/>
                          <a:cs typeface="Liberation Sans"/>
                        </a:rPr>
                        <a:t>24 saat</a:t>
                      </a:r>
                    </a:p>
                  </a:txBody>
                  <a:tcPr marL="76200" marR="76200" marT="19050" marB="19050">
                    <a:solidFill>
                      <a:srgbClr val="FFFFFF"/>
                    </a:solidFill>
                  </a:tcPr>
                </a:tc>
                <a:tc>
                  <a:txBody>
                    <a:bodyPr wrap="square" anchor="ctr">
                      <a:noAutofit/>
                    </a:bodyPr>
                    <a:lstStyle/>
                    <a:p>
                      <a:pPr algn="ctr"/>
                      <a:r>
                        <a:rPr sz="1650" b="0">
                          <a:solidFill>
                            <a:srgbClr val="273F50"/>
                          </a:solidFill>
                          <a:latin typeface="Liberation Sans"/>
                          <a:ea typeface="Liberation Sans"/>
                          <a:cs typeface="Liberation Sans"/>
                        </a:rPr>
                        <a:t>1 kişi</a:t>
                      </a:r>
                    </a:p>
                    <a:p>
                      <a:pPr algn="ctr"/>
                      <a:r>
                        <a:rPr sz="1650" b="0">
                          <a:solidFill>
                            <a:srgbClr val="273F50"/>
                          </a:solidFill>
                          <a:latin typeface="Liberation Sans"/>
                          <a:ea typeface="Liberation Sans"/>
                          <a:cs typeface="Liberation Sans"/>
                        </a:rPr>
                        <a:t>16 saat</a:t>
                      </a:r>
                    </a:p>
                  </a:txBody>
                  <a:tcPr marL="76200" marR="76200" marT="19050" marB="19050">
                    <a:solidFill>
                      <a:srgbClr val="FFFFFF"/>
                    </a:solidFill>
                  </a:tcPr>
                </a:tc>
                <a:tc>
                  <a:txBody>
                    <a:bodyPr wrap="square" anchor="ctr">
                      <a:noAutofit/>
                    </a:bodyPr>
                    <a:lstStyle/>
                    <a:p>
                      <a:pPr algn="ctr"/>
                      <a:r>
                        <a:rPr sz="1650" b="0">
                          <a:solidFill>
                            <a:srgbClr val="273F50"/>
                          </a:solidFill>
                          <a:latin typeface="Liberation Sans"/>
                          <a:ea typeface="Liberation Sans"/>
                          <a:cs typeface="Liberation Sans"/>
                        </a:rPr>
                        <a:t>1 kişi</a:t>
                      </a:r>
                    </a:p>
                    <a:p>
                      <a:pPr algn="ctr"/>
                      <a:r>
                        <a:rPr sz="1650" b="0">
                          <a:solidFill>
                            <a:srgbClr val="273F50"/>
                          </a:solidFill>
                          <a:latin typeface="Liberation Sans"/>
                          <a:ea typeface="Liberation Sans"/>
                          <a:cs typeface="Liberation Sans"/>
                        </a:rPr>
                        <a:t>24 saat</a:t>
                      </a:r>
                    </a:p>
                  </a:txBody>
                  <a:tcPr marL="76200" marR="76200" marT="19050" marB="19050">
                    <a:solidFill>
                      <a:srgbClr val="FFFFFF"/>
                    </a:solidFill>
                  </a:tcPr>
                </a:tc>
                <a:tc>
                  <a:txBody>
                    <a:bodyPr wrap="square" anchor="ctr">
                      <a:noAutofit/>
                    </a:bodyPr>
                    <a:lstStyle/>
                    <a:p>
                      <a:pPr algn="ctr"/>
                      <a:r>
                        <a:rPr sz="1650" b="0">
                          <a:solidFill>
                            <a:srgbClr val="273F50"/>
                          </a:solidFill>
                          <a:latin typeface="Liberation Sans"/>
                          <a:ea typeface="Liberation Sans"/>
                          <a:cs typeface="Liberation Sans"/>
                        </a:rPr>
                        <a:t>2 kişi</a:t>
                      </a:r>
                    </a:p>
                    <a:p>
                      <a:pPr algn="ctr"/>
                      <a:r>
                        <a:rPr sz="1650" b="0">
                          <a:solidFill>
                            <a:srgbClr val="273F50"/>
                          </a:solidFill>
                          <a:latin typeface="Liberation Sans"/>
                          <a:ea typeface="Liberation Sans"/>
                          <a:cs typeface="Liberation Sans"/>
                        </a:rPr>
                        <a:t>64 saat</a:t>
                      </a:r>
                    </a:p>
                  </a:txBody>
                  <a:tcPr marL="76200" marR="76200" marT="19050" marB="19050">
                    <a:solidFill>
                      <a:srgbClr val="FFFFFF"/>
                    </a:solidFill>
                  </a:tcPr>
                </a:tc>
                <a:tc>
                  <a:txBody>
                    <a:bodyPr wrap="square" anchor="ctr">
                      <a:noAutofit/>
                    </a:bodyPr>
                    <a:lstStyle/>
                    <a:p>
                      <a:pPr algn="ctr"/>
                      <a:r>
                        <a:rPr sz="1650" b="0">
                          <a:solidFill>
                            <a:srgbClr val="273F50"/>
                          </a:solidFill>
                          <a:latin typeface="Liberation Sans"/>
                          <a:ea typeface="Liberation Sans"/>
                          <a:cs typeface="Liberation Sans"/>
                        </a:rPr>
                        <a:t>1 kişi</a:t>
                      </a:r>
                    </a:p>
                    <a:p>
                      <a:pPr algn="ctr"/>
                      <a:r>
                        <a:rPr sz="1650" b="0">
                          <a:solidFill>
                            <a:srgbClr val="273F50"/>
                          </a:solidFill>
                          <a:latin typeface="Liberation Sans"/>
                          <a:ea typeface="Liberation Sans"/>
                          <a:cs typeface="Liberation Sans"/>
                        </a:rPr>
                        <a:t>16 saat</a:t>
                      </a:r>
                    </a:p>
                  </a:txBody>
                  <a:tcPr marL="76200" marR="76200" marT="19050" marB="19050">
                    <a:solidFill>
                      <a:srgbClr val="FFFFFF"/>
                    </a:solidFill>
                  </a:tcPr>
                </a:tc>
              </a:tr>
            </a:tbl>
          </a:graphicData>
        </a:graphic>
      </p:graphicFrame>
    </p:spTree>
    <p:extLst>
      <p:ext uri="{BB962C8B-B14F-4D97-AF65-F5344CB8AC3E}">
        <p14:creationId xmlns:p14="http://schemas.microsoft.com/office/powerpoint/2010/main" val="16671905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1E91A61D-51F8-4E33-824D-80CAB7065DA1}"/>
              </a:ext>
            </a:extLst>
          </p:cNvPr>
          <p:cNvSpPr>
            <a:spLocks xmlns:a="http://schemas.openxmlformats.org/drawingml/2006/main" noGrp="1"/>
          </p:cNvSpPr>
          <p:nvPr/>
        </p:nvSpPr>
        <p:spPr>
          <a:xfrm xmlns:a="http://schemas.openxmlformats.org/drawingml/2006/main">
            <a:off x="457200" y="266700"/>
            <a:ext cx="1432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300" b="1">
                <a:solidFill>
                  <a:srgbClr val="14344B"/>
                </a:solidFill>
                <a:latin typeface="Liberation Sans"/>
                <a:ea typeface="Liberation Sans"/>
                <a:cs typeface="Liberation Sans"/>
              </a:defRPr>
            </a:defPPr>
          </a:lstStyle>
          <a:p xmlns:a="http://schemas.openxmlformats.org/drawingml/2006/main">
            <a:pPr algn="l">
              <a:buNone/>
              <a:defRPr sz="3300" b="1">
                <a:solidFill>
                  <a:srgbClr val="14344B"/>
                </a:solidFill>
                <a:latin typeface="Liberation Sans"/>
                <a:ea typeface="Liberation Sans"/>
                <a:cs typeface="Liberation Sans"/>
              </a:defRPr>
            </a:pPr>
            <a:r>
              <a:rPr sz="3300" b="1">
                <a:solidFill>
                  <a:srgbClr val="14344B"/>
                </a:solidFill>
                <a:latin typeface="Liberation Sans"/>
                <a:ea typeface="Liberation Sans"/>
                <a:cs typeface="Liberation Sans"/>
              </a:rPr>
              <a:t>Projelerimin maliyet, risk ve işleri</a:t>
            </a:r>
          </a:p>
        </p:txBody>
      </p:sp>
      <p:sp>
        <p:nvSpPr>
          <p:cNvPr id="2" name="project">
            <a:extLst xmlns:a="http://schemas.openxmlformats.org/drawingml/2006/main">
              <a:ext uri="{FF2B5EF4-FFF2-40B4-BE49-F238E27FC236}">
                <a16:creationId xmlns:a16="http://schemas.microsoft.com/office/drawing/2014/main" id="{5AEA53D0-B629-48D8-9373-A5E9D3C7C6E8}"/>
              </a:ext>
            </a:extLst>
          </p:cNvPr>
          <p:cNvSpPr>
            <a:spLocks xmlns:a="http://schemas.openxmlformats.org/drawingml/2006/main" noGrp="1"/>
          </p:cNvSpPr>
          <p:nvPr/>
        </p:nvSpPr>
        <p:spPr>
          <a:xfrm xmlns:a="http://schemas.openxmlformats.org/drawingml/2006/main">
            <a:off x="457200" y="847725"/>
            <a:ext cx="1276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61778A"/>
                </a:solidFill>
                <a:latin typeface="Liberation Sans"/>
                <a:ea typeface="Liberation Sans"/>
                <a:cs typeface="Liberation Sans"/>
              </a:defRPr>
            </a:defPPr>
          </a:lstStyle>
          <a:p xmlns:a="http://schemas.openxmlformats.org/drawingml/2006/main">
            <a:pPr algn="l">
              <a:buNone/>
              <a:defRPr sz="1725" b="0">
                <a:solidFill>
                  <a:srgbClr val="61778A"/>
                </a:solidFill>
                <a:latin typeface="Liberation Sans"/>
                <a:ea typeface="Liberation Sans"/>
                <a:cs typeface="Liberation Sans"/>
              </a:defRPr>
            </a:pPr>
            <a:r>
              <a:rPr sz="1725" b="0">
                <a:solidFill>
                  <a:srgbClr val="61778A"/>
                </a:solidFill>
                <a:latin typeface="Liberation Sans"/>
                <a:ea typeface="Liberation Sans"/>
                <a:cs typeface="Liberation Sans"/>
              </a:rPr>
              <a:t>Proje yöneticisi: [Ad Soyad]     Rapor: 15 Ekim 2026     3 örnek proje</a:t>
            </a:r>
          </a:p>
        </p:txBody>
      </p:sp>
      <p:sp>
        <p:nvSpPr>
          <p:cNvPr id="4" name="page">
            <a:extLst xmlns:a="http://schemas.openxmlformats.org/drawingml/2006/main">
              <a:ext uri="{FF2B5EF4-FFF2-40B4-BE49-F238E27FC236}">
                <a16:creationId xmlns:a16="http://schemas.microsoft.com/office/drawing/2014/main" id="{F09F6247-7CD8-4FA0-AD4F-2678ABE04616}"/>
              </a:ext>
            </a:extLst>
          </p:cNvPr>
          <p:cNvSpPr>
            <a:spLocks xmlns:a="http://schemas.openxmlformats.org/drawingml/2006/main" noGrp="1"/>
          </p:cNvSpPr>
          <p:nvPr/>
        </p:nvSpPr>
        <p:spPr>
          <a:xfrm xmlns:a="http://schemas.openxmlformats.org/drawingml/2006/main">
            <a:off x="13811250" y="847725"/>
            <a:ext cx="97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650" b="0">
                <a:solidFill>
                  <a:srgbClr val="61778A"/>
                </a:solidFill>
                <a:latin typeface="Liberation Sans"/>
                <a:ea typeface="Liberation Sans"/>
                <a:cs typeface="Liberation Sans"/>
              </a:defRPr>
            </a:defPPr>
          </a:lstStyle>
          <a:p xmlns:a="http://schemas.openxmlformats.org/drawingml/2006/main">
            <a:pPr algn="r">
              <a:buNone/>
              <a:defRPr sz="1650" b="0">
                <a:solidFill>
                  <a:srgbClr val="61778A"/>
                </a:solidFill>
                <a:latin typeface="Liberation Sans"/>
                <a:ea typeface="Liberation Sans"/>
                <a:cs typeface="Liberation Sans"/>
              </a:defRPr>
            </a:pPr>
            <a:r>
              <a:rPr sz="1650" b="0">
                <a:solidFill>
                  <a:srgbClr val="61778A"/>
                </a:solidFill>
                <a:latin typeface="Liberation Sans"/>
                <a:ea typeface="Liberation Sans"/>
                <a:cs typeface="Liberation Sans"/>
              </a:rPr>
              <a:t>2 / 2</a:t>
            </a:r>
          </a:p>
        </p:txBody>
      </p:sp>
      <p:sp>
        <p:nvSpPr>
          <p:cNvPr id="14" name="cost-heading">
            <a:extLst xmlns:a="http://schemas.openxmlformats.org/drawingml/2006/main">
              <a:ext uri="{FF2B5EF4-FFF2-40B4-BE49-F238E27FC236}">
                <a16:creationId xmlns:a16="http://schemas.microsoft.com/office/drawing/2014/main" id="{EA5002CF-7E6C-4F89-9C7B-82835D79096A}"/>
              </a:ext>
            </a:extLst>
          </p:cNvPr>
          <p:cNvSpPr>
            <a:spLocks xmlns:a="http://schemas.openxmlformats.org/drawingml/2006/main" noGrp="1"/>
          </p:cNvSpPr>
          <p:nvPr/>
        </p:nvSpPr>
        <p:spPr>
          <a:xfrm xmlns:a="http://schemas.openxmlformats.org/drawingml/2006/main">
            <a:off x="457200" y="1371600"/>
            <a:ext cx="990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14344B"/>
                </a:solidFill>
                <a:latin typeface="Liberation Sans"/>
                <a:ea typeface="Liberation Sans"/>
                <a:cs typeface="Liberation Sans"/>
              </a:defRPr>
            </a:defPPr>
          </a:lstStyle>
          <a:p xmlns:a="http://schemas.openxmlformats.org/drawingml/2006/main">
            <a:pPr algn="l">
              <a:defRPr sz="2025" b="1">
                <a:solidFill>
                  <a:srgbClr val="14344B"/>
                </a:solidFill>
                <a:latin typeface="Liberation Sans"/>
                <a:ea typeface="Liberation Sans"/>
                <a:cs typeface="Liberation Sans"/>
              </a:defRPr>
            </a:pPr>
            <a:r>
              <a:rPr sz="2025" b="1">
                <a:solidFill>
                  <a:srgbClr val="14344B"/>
                </a:solidFill>
                <a:latin typeface="Liberation Sans"/>
                <a:ea typeface="Liberation Sans"/>
                <a:cs typeface="Liberation Sans"/>
              </a:rPr>
              <a:t>Maliyet ve bütçe (bin TL, KDV hariç)</a:t>
            </a:r>
          </a:p>
        </p:txBody>
      </p:sp>
      <p:graphicFrame>
        <p:nvGraphicFramePr>
          <p:cNvPr id="15" name="">
            <a:extLst xmlns:a="http://schemas.openxmlformats.org/drawingml/2006/main">
              <a:ext uri="{FF2B5EF4-FFF2-40B4-BE49-F238E27FC236}">
                <a16:creationId xmlns:a16="http://schemas.microsoft.com/office/drawing/2014/main" id="{53D24DC3-6151-48B4-874F-6325BDF599DB}"/>
              </a:ext>
            </a:extLst>
          </p:cNvPr>
          <p:cNvGraphicFramePr/>
          <p:nvPr/>
        </p:nvGraphicFramePr>
        <p:xfrm>
          <a:off xmlns:a="http://schemas.openxmlformats.org/drawingml/2006/main" x="457200" y="1752600"/>
          <a:ext xmlns:a="http://schemas.openxmlformats.org/drawingml/2006/main" cx="9906000" cy="2419350"/>
        </p:xfrm>
        <a:graphic xmlns:a="http://schemas.openxmlformats.org/drawingml/2006/main">
          <a:graphicData uri="http://schemas.openxmlformats.org/drawingml/2006/table">
            <a:tbl>
              <a:tblPr firstRow="0" bandRow="0"/>
              <a:tblGrid>
                <a:gridCol w="2000250"/>
                <a:gridCol w="1047750"/>
                <a:gridCol w="1047750"/>
                <a:gridCol w="1047750"/>
                <a:gridCol w="1047750"/>
                <a:gridCol w="1333500"/>
                <a:gridCol w="1143000"/>
                <a:gridCol w="1238250"/>
              </a:tblGrid>
              <a:tr h="514350">
                <a:tc>
                  <a:txBody>
                    <a:bodyPr wrap="square" anchor="ctr">
                      <a:noAutofit/>
                    </a:bodyPr>
                    <a:lstStyle/>
                    <a:p>
                      <a:pPr algn="l"/>
                      <a:r>
                        <a:rPr sz="1650" b="1">
                          <a:solidFill>
                            <a:srgbClr val="FFFFFF"/>
                          </a:solidFill>
                          <a:latin typeface="Liberation Sans"/>
                          <a:ea typeface="Liberation Sans"/>
                          <a:cs typeface="Liberation Sans"/>
                        </a:rPr>
                        <a:t>Proje</a:t>
                      </a:r>
                    </a:p>
                  </a:txBody>
                  <a:tcPr marL="76200" marR="76200" marT="19050" marB="19050">
                    <a:solidFill>
                      <a:srgbClr val="14344B"/>
                    </a:solidFill>
                  </a:tcPr>
                </a:tc>
                <a:tc>
                  <a:txBody>
                    <a:bodyPr wrap="square" anchor="ctr">
                      <a:noAutofit/>
                    </a:bodyPr>
                    <a:lstStyle/>
                    <a:p>
                      <a:pPr algn="l"/>
                      <a:r>
                        <a:rPr sz="1650" b="1">
                          <a:solidFill>
                            <a:srgbClr val="FFFFFF"/>
                          </a:solidFill>
                          <a:latin typeface="Liberation Sans"/>
                          <a:ea typeface="Liberation Sans"/>
                          <a:cs typeface="Liberation Sans"/>
                        </a:rPr>
                        <a:t>Gerçek</a:t>
                      </a:r>
                    </a:p>
                    <a:p>
                      <a:pPr algn="l"/>
                      <a:r>
                        <a:rPr sz="1650" b="1">
                          <a:solidFill>
                            <a:srgbClr val="FFFFFF"/>
                          </a:solidFill>
                          <a:latin typeface="Liberation Sans"/>
                          <a:ea typeface="Liberation Sans"/>
                          <a:cs typeface="Liberation Sans"/>
                        </a:rPr>
                        <a:t>efor</a:t>
                      </a:r>
                    </a:p>
                  </a:txBody>
                  <a:tcPr marL="76200" marR="76200" marT="19050" marB="19050">
                    <a:solidFill>
                      <a:srgbClr val="14344B"/>
                    </a:solidFill>
                  </a:tcPr>
                </a:tc>
                <a:tc>
                  <a:txBody>
                    <a:bodyPr wrap="square" anchor="ctr">
                      <a:noAutofit/>
                    </a:bodyPr>
                    <a:lstStyle/>
                    <a:p>
                      <a:pPr algn="l"/>
                      <a:r>
                        <a:rPr sz="1650" b="1">
                          <a:solidFill>
                            <a:srgbClr val="FFFFFF"/>
                          </a:solidFill>
                          <a:latin typeface="Liberation Sans"/>
                          <a:ea typeface="Liberation Sans"/>
                          <a:cs typeface="Liberation Sans"/>
                        </a:rPr>
                        <a:t>Alınan</a:t>
                      </a:r>
                    </a:p>
                    <a:p>
                      <a:pPr algn="l"/>
                      <a:r>
                        <a:rPr sz="1650" b="1">
                          <a:solidFill>
                            <a:srgbClr val="FFFFFF"/>
                          </a:solidFill>
                          <a:latin typeface="Liberation Sans"/>
                          <a:ea typeface="Liberation Sans"/>
                          <a:cs typeface="Liberation Sans"/>
                        </a:rPr>
                        <a:t>malz.</a:t>
                      </a:r>
                    </a:p>
                  </a:txBody>
                  <a:tcPr marL="76200" marR="76200" marT="19050" marB="19050">
                    <a:solidFill>
                      <a:srgbClr val="14344B"/>
                    </a:solidFill>
                  </a:tcPr>
                </a:tc>
                <a:tc>
                  <a:txBody>
                    <a:bodyPr wrap="square" anchor="ctr">
                      <a:noAutofit/>
                    </a:bodyPr>
                    <a:lstStyle/>
                    <a:p>
                      <a:pPr algn="l"/>
                      <a:r>
                        <a:rPr sz="1650" b="1">
                          <a:solidFill>
                            <a:srgbClr val="FFFFFF"/>
                          </a:solidFill>
                          <a:latin typeface="Liberation Sans"/>
                          <a:ea typeface="Liberation Sans"/>
                          <a:cs typeface="Liberation Sans"/>
                        </a:rPr>
                        <a:t>Kalan</a:t>
                      </a:r>
                    </a:p>
                    <a:p>
                      <a:pPr algn="l"/>
                      <a:r>
                        <a:rPr sz="1650" b="1">
                          <a:solidFill>
                            <a:srgbClr val="FFFFFF"/>
                          </a:solidFill>
                          <a:latin typeface="Liberation Sans"/>
                          <a:ea typeface="Liberation Sans"/>
                          <a:cs typeface="Liberation Sans"/>
                        </a:rPr>
                        <a:t>efor</a:t>
                      </a:r>
                    </a:p>
                  </a:txBody>
                  <a:tcPr marL="76200" marR="76200" marT="19050" marB="19050">
                    <a:solidFill>
                      <a:srgbClr val="14344B"/>
                    </a:solidFill>
                  </a:tcPr>
                </a:tc>
                <a:tc>
                  <a:txBody>
                    <a:bodyPr wrap="square" anchor="ctr">
                      <a:noAutofit/>
                    </a:bodyPr>
                    <a:lstStyle/>
                    <a:p>
                      <a:pPr algn="l"/>
                      <a:r>
                        <a:rPr sz="1650" b="1">
                          <a:solidFill>
                            <a:srgbClr val="FFFFFF"/>
                          </a:solidFill>
                          <a:latin typeface="Liberation Sans"/>
                          <a:ea typeface="Liberation Sans"/>
                          <a:cs typeface="Liberation Sans"/>
                        </a:rPr>
                        <a:t>Alınacak</a:t>
                      </a:r>
                    </a:p>
                    <a:p>
                      <a:pPr algn="l"/>
                      <a:r>
                        <a:rPr sz="1650" b="1">
                          <a:solidFill>
                            <a:srgbClr val="FFFFFF"/>
                          </a:solidFill>
                          <a:latin typeface="Liberation Sans"/>
                          <a:ea typeface="Liberation Sans"/>
                          <a:cs typeface="Liberation Sans"/>
                        </a:rPr>
                        <a:t>malz.</a:t>
                      </a:r>
                    </a:p>
                  </a:txBody>
                  <a:tcPr marL="76200" marR="76200" marT="19050" marB="19050">
                    <a:solidFill>
                      <a:srgbClr val="14344B"/>
                    </a:solidFill>
                  </a:tcPr>
                </a:tc>
                <a:tc>
                  <a:txBody>
                    <a:bodyPr wrap="square" anchor="ctr">
                      <a:noAutofit/>
                    </a:bodyPr>
                    <a:lstStyle/>
                    <a:p>
                      <a:pPr algn="l"/>
                      <a:r>
                        <a:rPr sz="1650" b="1">
                          <a:solidFill>
                            <a:srgbClr val="FFFFFF"/>
                          </a:solidFill>
                          <a:latin typeface="Liberation Sans"/>
                          <a:ea typeface="Liberation Sans"/>
                          <a:cs typeface="Liberation Sans"/>
                        </a:rPr>
                        <a:t>Tahmini</a:t>
                      </a:r>
                    </a:p>
                    <a:p>
                      <a:pPr algn="l"/>
                      <a:r>
                        <a:rPr sz="1650" b="1">
                          <a:solidFill>
                            <a:srgbClr val="FFFFFF"/>
                          </a:solidFill>
                          <a:latin typeface="Liberation Sans"/>
                          <a:ea typeface="Liberation Sans"/>
                          <a:cs typeface="Liberation Sans"/>
                        </a:rPr>
                        <a:t>toplam</a:t>
                      </a:r>
                    </a:p>
                  </a:txBody>
                  <a:tcPr marL="76200" marR="76200" marT="19050" marB="19050">
                    <a:solidFill>
                      <a:srgbClr val="14344B"/>
                    </a:solidFill>
                  </a:tcPr>
                </a:tc>
                <a:tc>
                  <a:txBody>
                    <a:bodyPr wrap="square" anchor="ctr">
                      <a:noAutofit/>
                    </a:bodyPr>
                    <a:lstStyle/>
                    <a:p>
                      <a:pPr algn="l"/>
                      <a:r>
                        <a:rPr sz="1650" b="1">
                          <a:solidFill>
                            <a:srgbClr val="FFFFFF"/>
                          </a:solidFill>
                          <a:latin typeface="Liberation Sans"/>
                          <a:ea typeface="Liberation Sans"/>
                          <a:cs typeface="Liberation Sans"/>
                        </a:rPr>
                        <a:t>Bütçe</a:t>
                      </a:r>
                    </a:p>
                  </a:txBody>
                  <a:tcPr marL="76200" marR="76200" marT="19050" marB="19050">
                    <a:solidFill>
                      <a:srgbClr val="14344B"/>
                    </a:solidFill>
                  </a:tcPr>
                </a:tc>
                <a:tc>
                  <a:txBody>
                    <a:bodyPr wrap="square" anchor="ctr">
                      <a:noAutofit/>
                    </a:bodyPr>
                    <a:lstStyle/>
                    <a:p>
                      <a:pPr algn="l"/>
                      <a:r>
                        <a:rPr sz="1650" b="1">
                          <a:solidFill>
                            <a:srgbClr val="FFFFFF"/>
                          </a:solidFill>
                          <a:latin typeface="Liberation Sans"/>
                          <a:ea typeface="Liberation Sans"/>
                          <a:cs typeface="Liberation Sans"/>
                        </a:rPr>
                        <a:t>Bütçe</a:t>
                      </a:r>
                    </a:p>
                    <a:p>
                      <a:pPr algn="l"/>
                      <a:r>
                        <a:rPr sz="1650" b="1">
                          <a:solidFill>
                            <a:srgbClr val="FFFFFF"/>
                          </a:solidFill>
                          <a:latin typeface="Liberation Sans"/>
                          <a:ea typeface="Liberation Sans"/>
                          <a:cs typeface="Liberation Sans"/>
                        </a:rPr>
                        <a:t>farkı</a:t>
                      </a:r>
                    </a:p>
                  </a:txBody>
                  <a:tcPr marL="76200" marR="76200" marT="19050" marB="19050">
                    <a:solidFill>
                      <a:srgbClr val="14344B"/>
                    </a:solidFill>
                  </a:tcPr>
                </a:tc>
              </a:tr>
              <a:tr h="495300">
                <a:tc>
                  <a:txBody>
                    <a:bodyPr wrap="square" anchor="ctr">
                      <a:noAutofit/>
                    </a:bodyPr>
                    <a:lstStyle/>
                    <a:p>
                      <a:pPr algn="l"/>
                      <a:r>
                        <a:rPr sz="1650" b="1">
                          <a:solidFill>
                            <a:srgbClr val="273F50"/>
                          </a:solidFill>
                          <a:latin typeface="Liberation Sans"/>
                          <a:ea typeface="Liberation Sans"/>
                          <a:cs typeface="Liberation Sans"/>
                        </a:rPr>
                        <a:t>Üretim Hattı</a:t>
                      </a:r>
                    </a:p>
                  </a:txBody>
                  <a:tcPr marL="76200" marR="76200" marT="19050" marB="19050">
                    <a:solidFill>
                      <a:srgbClr val="FFFFFF"/>
                    </a:solidFill>
                  </a:tcPr>
                </a:tc>
                <a:tc>
                  <a:txBody>
                    <a:bodyPr wrap="square" anchor="ctr">
                      <a:noAutofit/>
                    </a:bodyPr>
                    <a:lstStyle/>
                    <a:p>
                      <a:pPr algn="r"/>
                      <a:r>
                        <a:rPr sz="1800" b="0">
                          <a:solidFill>
                            <a:srgbClr val="273F50"/>
                          </a:solidFill>
                          <a:latin typeface="Liberation Sans"/>
                          <a:ea typeface="Liberation Sans"/>
                          <a:cs typeface="Liberation Sans"/>
                        </a:rPr>
                        <a:t>240</a:t>
                      </a:r>
                    </a:p>
                  </a:txBody>
                  <a:tcPr marL="76200" marR="76200" marT="19050" marB="19050">
                    <a:solidFill>
                      <a:srgbClr val="FFFFFF"/>
                    </a:solidFill>
                  </a:tcPr>
                </a:tc>
                <a:tc>
                  <a:txBody>
                    <a:bodyPr wrap="square" anchor="ctr">
                      <a:noAutofit/>
                    </a:bodyPr>
                    <a:lstStyle/>
                    <a:p>
                      <a:pPr algn="r"/>
                      <a:r>
                        <a:rPr sz="1800" b="0">
                          <a:solidFill>
                            <a:srgbClr val="273F50"/>
                          </a:solidFill>
                          <a:latin typeface="Liberation Sans"/>
                          <a:ea typeface="Liberation Sans"/>
                          <a:cs typeface="Liberation Sans"/>
                        </a:rPr>
                        <a:t>180</a:t>
                      </a:r>
                    </a:p>
                  </a:txBody>
                  <a:tcPr marL="76200" marR="76200" marT="19050" marB="19050">
                    <a:solidFill>
                      <a:srgbClr val="FFFFFF"/>
                    </a:solidFill>
                  </a:tcPr>
                </a:tc>
                <a:tc>
                  <a:txBody>
                    <a:bodyPr wrap="square" anchor="ctr">
                      <a:noAutofit/>
                    </a:bodyPr>
                    <a:lstStyle/>
                    <a:p>
                      <a:pPr algn="r"/>
                      <a:r>
                        <a:rPr sz="1800" b="0">
                          <a:solidFill>
                            <a:srgbClr val="273F50"/>
                          </a:solidFill>
                          <a:latin typeface="Liberation Sans"/>
                          <a:ea typeface="Liberation Sans"/>
                          <a:cs typeface="Liberation Sans"/>
                        </a:rPr>
                        <a:t>360</a:t>
                      </a:r>
                    </a:p>
                  </a:txBody>
                  <a:tcPr marL="76200" marR="76200" marT="19050" marB="19050">
                    <a:solidFill>
                      <a:srgbClr val="FFFFFF"/>
                    </a:solidFill>
                  </a:tcPr>
                </a:tc>
                <a:tc>
                  <a:txBody>
                    <a:bodyPr wrap="square" anchor="ctr">
                      <a:noAutofit/>
                    </a:bodyPr>
                    <a:lstStyle/>
                    <a:p>
                      <a:pPr algn="r"/>
                      <a:r>
                        <a:rPr sz="1800" b="0">
                          <a:solidFill>
                            <a:srgbClr val="273F50"/>
                          </a:solidFill>
                          <a:latin typeface="Liberation Sans"/>
                          <a:ea typeface="Liberation Sans"/>
                          <a:cs typeface="Liberation Sans"/>
                        </a:rPr>
                        <a:t>320</a:t>
                      </a:r>
                    </a:p>
                  </a:txBody>
                  <a:tcPr marL="76200" marR="76200" marT="19050" marB="19050">
                    <a:solidFill>
                      <a:srgbClr val="FFFFFF"/>
                    </a:solidFill>
                  </a:tcPr>
                </a:tc>
                <a:tc>
                  <a:txBody>
                    <a:bodyPr wrap="square" anchor="ctr">
                      <a:noAutofit/>
                    </a:bodyPr>
                    <a:lstStyle/>
                    <a:p>
                      <a:pPr algn="r"/>
                      <a:r>
                        <a:rPr sz="1800" b="0">
                          <a:solidFill>
                            <a:srgbClr val="273F50"/>
                          </a:solidFill>
                          <a:latin typeface="Liberation Sans"/>
                          <a:ea typeface="Liberation Sans"/>
                          <a:cs typeface="Liberation Sans"/>
                        </a:rPr>
                        <a:t>1100</a:t>
                      </a:r>
                    </a:p>
                  </a:txBody>
                  <a:tcPr marL="76200" marR="76200" marT="19050" marB="19050">
                    <a:solidFill>
                      <a:srgbClr val="FFFFFF"/>
                    </a:solidFill>
                  </a:tcPr>
                </a:tc>
                <a:tc>
                  <a:txBody>
                    <a:bodyPr wrap="square" anchor="ctr">
                      <a:noAutofit/>
                    </a:bodyPr>
                    <a:lstStyle/>
                    <a:p>
                      <a:pPr algn="r"/>
                      <a:r>
                        <a:rPr sz="1800" b="0">
                          <a:solidFill>
                            <a:srgbClr val="273F50"/>
                          </a:solidFill>
                          <a:latin typeface="Liberation Sans"/>
                          <a:ea typeface="Liberation Sans"/>
                          <a:cs typeface="Liberation Sans"/>
                        </a:rPr>
                        <a:t>1200</a:t>
                      </a:r>
                    </a:p>
                  </a:txBody>
                  <a:tcPr marL="76200" marR="76200" marT="19050" marB="19050">
                    <a:solidFill>
                      <a:srgbClr val="FFFFFF"/>
                    </a:solidFill>
                  </a:tcPr>
                </a:tc>
                <a:tc>
                  <a:txBody>
                    <a:bodyPr wrap="square" anchor="ctr">
                      <a:noAutofit/>
                    </a:bodyPr>
                    <a:lstStyle/>
                    <a:p>
                      <a:pPr algn="r"/>
                      <a:r>
                        <a:rPr sz="1800" b="0">
                          <a:solidFill>
                            <a:srgbClr val="273F50"/>
                          </a:solidFill>
                          <a:latin typeface="Liberation Sans"/>
                          <a:ea typeface="Liberation Sans"/>
                          <a:cs typeface="Liberation Sans"/>
                        </a:rPr>
                        <a:t>100</a:t>
                      </a:r>
                    </a:p>
                  </a:txBody>
                  <a:tcPr marL="76200" marR="76200" marT="19050" marB="19050">
                    <a:solidFill>
                      <a:srgbClr val="FFFFFF"/>
                    </a:solidFill>
                  </a:tcPr>
                </a:tc>
              </a:tr>
              <a:tr h="495300">
                <a:tc>
                  <a:txBody>
                    <a:bodyPr wrap="square" anchor="ctr">
                      <a:noAutofit/>
                    </a:bodyPr>
                    <a:lstStyle/>
                    <a:p>
                      <a:pPr algn="l"/>
                      <a:r>
                        <a:rPr sz="1650" b="1">
                          <a:solidFill>
                            <a:srgbClr val="273F50"/>
                          </a:solidFill>
                          <a:latin typeface="Liberation Sans"/>
                          <a:ea typeface="Liberation Sans"/>
                          <a:cs typeface="Liberation Sans"/>
                        </a:rPr>
                        <a:t>Müşteri Portalı</a:t>
                      </a:r>
                    </a:p>
                  </a:txBody>
                  <a:tcPr marL="76200" marR="76200" marT="19050" marB="19050">
                    <a:solidFill>
                      <a:srgbClr val="F1F6FA"/>
                    </a:solidFill>
                  </a:tcPr>
                </a:tc>
                <a:tc>
                  <a:txBody>
                    <a:bodyPr wrap="square" anchor="ctr">
                      <a:noAutofit/>
                    </a:bodyPr>
                    <a:lstStyle/>
                    <a:p>
                      <a:pPr algn="r"/>
                      <a:r>
                        <a:rPr sz="1800" b="0">
                          <a:solidFill>
                            <a:srgbClr val="273F50"/>
                          </a:solidFill>
                          <a:latin typeface="Liberation Sans"/>
                          <a:ea typeface="Liberation Sans"/>
                          <a:cs typeface="Liberation Sans"/>
                        </a:rPr>
                        <a:t>220</a:t>
                      </a:r>
                    </a:p>
                  </a:txBody>
                  <a:tcPr marL="76200" marR="76200" marT="19050" marB="19050">
                    <a:solidFill>
                      <a:srgbClr val="F1F6FA"/>
                    </a:solidFill>
                  </a:tcPr>
                </a:tc>
                <a:tc>
                  <a:txBody>
                    <a:bodyPr wrap="square" anchor="ctr">
                      <a:noAutofit/>
                    </a:bodyPr>
                    <a:lstStyle/>
                    <a:p>
                      <a:pPr algn="r"/>
                      <a:r>
                        <a:rPr sz="1800" b="0">
                          <a:solidFill>
                            <a:srgbClr val="273F50"/>
                          </a:solidFill>
                          <a:latin typeface="Liberation Sans"/>
                          <a:ea typeface="Liberation Sans"/>
                          <a:cs typeface="Liberation Sans"/>
                        </a:rPr>
                        <a:t>60</a:t>
                      </a:r>
                    </a:p>
                  </a:txBody>
                  <a:tcPr marL="76200" marR="76200" marT="19050" marB="19050">
                    <a:solidFill>
                      <a:srgbClr val="F1F6FA"/>
                    </a:solidFill>
                  </a:tcPr>
                </a:tc>
                <a:tc>
                  <a:txBody>
                    <a:bodyPr wrap="square" anchor="ctr">
                      <a:noAutofit/>
                    </a:bodyPr>
                    <a:lstStyle/>
                    <a:p>
                      <a:pPr algn="r"/>
                      <a:r>
                        <a:rPr sz="1800" b="0">
                          <a:solidFill>
                            <a:srgbClr val="273F50"/>
                          </a:solidFill>
                          <a:latin typeface="Liberation Sans"/>
                          <a:ea typeface="Liberation Sans"/>
                          <a:cs typeface="Liberation Sans"/>
                        </a:rPr>
                        <a:t>270</a:t>
                      </a:r>
                    </a:p>
                  </a:txBody>
                  <a:tcPr marL="76200" marR="76200" marT="19050" marB="19050">
                    <a:solidFill>
                      <a:srgbClr val="F1F6FA"/>
                    </a:solidFill>
                  </a:tcPr>
                </a:tc>
                <a:tc>
                  <a:txBody>
                    <a:bodyPr wrap="square" anchor="ctr">
                      <a:noAutofit/>
                    </a:bodyPr>
                    <a:lstStyle/>
                    <a:p>
                      <a:pPr algn="r"/>
                      <a:r>
                        <a:rPr sz="1800" b="0">
                          <a:solidFill>
                            <a:srgbClr val="273F50"/>
                          </a:solidFill>
                          <a:latin typeface="Liberation Sans"/>
                          <a:ea typeface="Liberation Sans"/>
                          <a:cs typeface="Liberation Sans"/>
                        </a:rPr>
                        <a:t>300</a:t>
                      </a:r>
                    </a:p>
                  </a:txBody>
                  <a:tcPr marL="76200" marR="76200" marT="19050" marB="19050">
                    <a:solidFill>
                      <a:srgbClr val="F1F6FA"/>
                    </a:solidFill>
                  </a:tcPr>
                </a:tc>
                <a:tc>
                  <a:txBody>
                    <a:bodyPr wrap="square" anchor="ctr">
                      <a:noAutofit/>
                    </a:bodyPr>
                    <a:lstStyle/>
                    <a:p>
                      <a:pPr algn="r"/>
                      <a:r>
                        <a:rPr sz="1800" b="0">
                          <a:solidFill>
                            <a:srgbClr val="273F50"/>
                          </a:solidFill>
                          <a:latin typeface="Liberation Sans"/>
                          <a:ea typeface="Liberation Sans"/>
                          <a:cs typeface="Liberation Sans"/>
                        </a:rPr>
                        <a:t>850</a:t>
                      </a:r>
                    </a:p>
                  </a:txBody>
                  <a:tcPr marL="76200" marR="76200" marT="19050" marB="19050">
                    <a:solidFill>
                      <a:srgbClr val="F1F6FA"/>
                    </a:solidFill>
                  </a:tcPr>
                </a:tc>
                <a:tc>
                  <a:txBody>
                    <a:bodyPr wrap="square" anchor="ctr">
                      <a:noAutofit/>
                    </a:bodyPr>
                    <a:lstStyle/>
                    <a:p>
                      <a:pPr algn="r"/>
                      <a:r>
                        <a:rPr sz="1800" b="0">
                          <a:solidFill>
                            <a:srgbClr val="273F50"/>
                          </a:solidFill>
                          <a:latin typeface="Liberation Sans"/>
                          <a:ea typeface="Liberation Sans"/>
                          <a:cs typeface="Liberation Sans"/>
                        </a:rPr>
                        <a:t>800</a:t>
                      </a:r>
                    </a:p>
                  </a:txBody>
                  <a:tcPr marL="76200" marR="76200" marT="19050" marB="19050">
                    <a:solidFill>
                      <a:srgbClr val="F1F6FA"/>
                    </a:solidFill>
                  </a:tcPr>
                </a:tc>
                <a:tc>
                  <a:txBody>
                    <a:bodyPr wrap="square" anchor="ctr">
                      <a:noAutofit/>
                    </a:bodyPr>
                    <a:lstStyle/>
                    <a:p>
                      <a:pPr algn="r"/>
                      <a:r>
                        <a:rPr sz="1800" b="1">
                          <a:solidFill>
                            <a:srgbClr val="B43D3A"/>
                          </a:solidFill>
                          <a:latin typeface="Liberation Sans"/>
                          <a:ea typeface="Liberation Sans"/>
                          <a:cs typeface="Liberation Sans"/>
                        </a:rPr>
                        <a:t>-50</a:t>
                      </a:r>
                    </a:p>
                  </a:txBody>
                  <a:tcPr marL="76200" marR="76200" marT="19050" marB="19050">
                    <a:solidFill>
                      <a:srgbClr val="FBE7E6"/>
                    </a:solidFill>
                  </a:tcPr>
                </a:tc>
              </a:tr>
              <a:tr h="495300">
                <a:tc>
                  <a:txBody>
                    <a:bodyPr wrap="square" anchor="ctr">
                      <a:noAutofit/>
                    </a:bodyPr>
                    <a:lstStyle/>
                    <a:p>
                      <a:pPr algn="l"/>
                      <a:r>
                        <a:rPr sz="1650" b="1">
                          <a:solidFill>
                            <a:srgbClr val="273F50"/>
                          </a:solidFill>
                          <a:latin typeface="Liberation Sans"/>
                          <a:ea typeface="Liberation Sans"/>
                          <a:cs typeface="Liberation Sans"/>
                        </a:rPr>
                        <a:t>Depo Otomasyonu</a:t>
                      </a:r>
                    </a:p>
                  </a:txBody>
                  <a:tcPr marL="76200" marR="76200" marT="19050" marB="19050">
                    <a:solidFill>
                      <a:srgbClr val="FFFFFF"/>
                    </a:solidFill>
                  </a:tcPr>
                </a:tc>
                <a:tc>
                  <a:txBody>
                    <a:bodyPr wrap="square" anchor="ctr">
                      <a:noAutofit/>
                    </a:bodyPr>
                    <a:lstStyle/>
                    <a:p>
                      <a:pPr algn="r"/>
                      <a:r>
                        <a:rPr sz="1800" b="0">
                          <a:solidFill>
                            <a:srgbClr val="273F50"/>
                          </a:solidFill>
                          <a:latin typeface="Liberation Sans"/>
                          <a:ea typeface="Liberation Sans"/>
                          <a:cs typeface="Liberation Sans"/>
                        </a:rPr>
                        <a:t>160</a:t>
                      </a:r>
                    </a:p>
                  </a:txBody>
                  <a:tcPr marL="76200" marR="76200" marT="19050" marB="19050">
                    <a:solidFill>
                      <a:srgbClr val="FFFFFF"/>
                    </a:solidFill>
                  </a:tcPr>
                </a:tc>
                <a:tc>
                  <a:txBody>
                    <a:bodyPr wrap="square" anchor="ctr">
                      <a:noAutofit/>
                    </a:bodyPr>
                    <a:lstStyle/>
                    <a:p>
                      <a:pPr algn="r"/>
                      <a:r>
                        <a:rPr sz="1800" b="0">
                          <a:solidFill>
                            <a:srgbClr val="273F50"/>
                          </a:solidFill>
                          <a:latin typeface="Liberation Sans"/>
                          <a:ea typeface="Liberation Sans"/>
                          <a:cs typeface="Liberation Sans"/>
                        </a:rPr>
                        <a:t>220</a:t>
                      </a:r>
                    </a:p>
                  </a:txBody>
                  <a:tcPr marL="76200" marR="76200" marT="19050" marB="19050">
                    <a:solidFill>
                      <a:srgbClr val="FFFFFF"/>
                    </a:solidFill>
                  </a:tcPr>
                </a:tc>
                <a:tc>
                  <a:txBody>
                    <a:bodyPr wrap="square" anchor="ctr">
                      <a:noAutofit/>
                    </a:bodyPr>
                    <a:lstStyle/>
                    <a:p>
                      <a:pPr algn="r"/>
                      <a:r>
                        <a:rPr sz="1800" b="0">
                          <a:solidFill>
                            <a:srgbClr val="273F50"/>
                          </a:solidFill>
                          <a:latin typeface="Liberation Sans"/>
                          <a:ea typeface="Liberation Sans"/>
                          <a:cs typeface="Liberation Sans"/>
                        </a:rPr>
                        <a:t>240</a:t>
                      </a:r>
                    </a:p>
                  </a:txBody>
                  <a:tcPr marL="76200" marR="76200" marT="19050" marB="19050">
                    <a:solidFill>
                      <a:srgbClr val="FFFFFF"/>
                    </a:solidFill>
                  </a:tcPr>
                </a:tc>
                <a:tc>
                  <a:txBody>
                    <a:bodyPr wrap="square" anchor="ctr">
                      <a:noAutofit/>
                    </a:bodyPr>
                    <a:lstStyle/>
                    <a:p>
                      <a:pPr algn="r"/>
                      <a:r>
                        <a:rPr sz="1800" b="0">
                          <a:solidFill>
                            <a:srgbClr val="273F50"/>
                          </a:solidFill>
                          <a:latin typeface="Liberation Sans"/>
                          <a:ea typeface="Liberation Sans"/>
                          <a:cs typeface="Liberation Sans"/>
                        </a:rPr>
                        <a:t>280</a:t>
                      </a:r>
                    </a:p>
                  </a:txBody>
                  <a:tcPr marL="76200" marR="76200" marT="19050" marB="19050">
                    <a:solidFill>
                      <a:srgbClr val="FFFFFF"/>
                    </a:solidFill>
                  </a:tcPr>
                </a:tc>
                <a:tc>
                  <a:txBody>
                    <a:bodyPr wrap="square" anchor="ctr">
                      <a:noAutofit/>
                    </a:bodyPr>
                    <a:lstStyle/>
                    <a:p>
                      <a:pPr algn="r"/>
                      <a:r>
                        <a:rPr sz="1800" b="0">
                          <a:solidFill>
                            <a:srgbClr val="273F50"/>
                          </a:solidFill>
                          <a:latin typeface="Liberation Sans"/>
                          <a:ea typeface="Liberation Sans"/>
                          <a:cs typeface="Liberation Sans"/>
                        </a:rPr>
                        <a:t>900</a:t>
                      </a:r>
                    </a:p>
                  </a:txBody>
                  <a:tcPr marL="76200" marR="76200" marT="19050" marB="19050">
                    <a:solidFill>
                      <a:srgbClr val="FFFFFF"/>
                    </a:solidFill>
                  </a:tcPr>
                </a:tc>
                <a:tc>
                  <a:txBody>
                    <a:bodyPr wrap="square" anchor="ctr">
                      <a:noAutofit/>
                    </a:bodyPr>
                    <a:lstStyle/>
                    <a:p>
                      <a:pPr algn="r"/>
                      <a:r>
                        <a:rPr sz="1800" b="0">
                          <a:solidFill>
                            <a:srgbClr val="273F50"/>
                          </a:solidFill>
                          <a:latin typeface="Liberation Sans"/>
                          <a:ea typeface="Liberation Sans"/>
                          <a:cs typeface="Liberation Sans"/>
                        </a:rPr>
                        <a:t>950</a:t>
                      </a:r>
                    </a:p>
                  </a:txBody>
                  <a:tcPr marL="76200" marR="76200" marT="19050" marB="19050">
                    <a:solidFill>
                      <a:srgbClr val="FFFFFF"/>
                    </a:solidFill>
                  </a:tcPr>
                </a:tc>
                <a:tc>
                  <a:txBody>
                    <a:bodyPr wrap="square" anchor="ctr">
                      <a:noAutofit/>
                    </a:bodyPr>
                    <a:lstStyle/>
                    <a:p>
                      <a:pPr algn="r"/>
                      <a:r>
                        <a:rPr sz="1800" b="0">
                          <a:solidFill>
                            <a:srgbClr val="273F50"/>
                          </a:solidFill>
                          <a:latin typeface="Liberation Sans"/>
                          <a:ea typeface="Liberation Sans"/>
                          <a:cs typeface="Liberation Sans"/>
                        </a:rPr>
                        <a:t>50</a:t>
                      </a:r>
                    </a:p>
                  </a:txBody>
                  <a:tcPr marL="76200" marR="76200" marT="19050" marB="19050">
                    <a:solidFill>
                      <a:srgbClr val="FFFFFF"/>
                    </a:solidFill>
                  </a:tcPr>
                </a:tc>
              </a:tr>
              <a:tr h="419100">
                <a:tc>
                  <a:txBody>
                    <a:bodyPr wrap="square" anchor="ctr">
                      <a:noAutofit/>
                    </a:bodyPr>
                    <a:lstStyle/>
                    <a:p>
                      <a:pPr algn="l"/>
                      <a:r>
                        <a:rPr sz="1800" b="1">
                          <a:solidFill>
                            <a:srgbClr val="273F50"/>
                          </a:solidFill>
                          <a:latin typeface="Liberation Sans"/>
                          <a:ea typeface="Liberation Sans"/>
                          <a:cs typeface="Liberation Sans"/>
                        </a:rPr>
                        <a:t>TOPLAM</a:t>
                      </a:r>
                    </a:p>
                  </a:txBody>
                  <a:tcPr marL="76200" marR="76200" marT="19050" marB="19050">
                    <a:solidFill>
                      <a:srgbClr val="DDF2EE"/>
                    </a:solidFill>
                  </a:tcPr>
                </a:tc>
                <a:tc>
                  <a:txBody>
                    <a:bodyPr wrap="square" anchor="ctr">
                      <a:noAutofit/>
                    </a:bodyPr>
                    <a:lstStyle/>
                    <a:p>
                      <a:pPr algn="r"/>
                      <a:r>
                        <a:rPr sz="1800" b="1">
                          <a:solidFill>
                            <a:srgbClr val="273F50"/>
                          </a:solidFill>
                          <a:latin typeface="Liberation Sans"/>
                          <a:ea typeface="Liberation Sans"/>
                          <a:cs typeface="Liberation Sans"/>
                        </a:rPr>
                        <a:t>620</a:t>
                      </a:r>
                    </a:p>
                  </a:txBody>
                  <a:tcPr marL="76200" marR="76200" marT="19050" marB="19050">
                    <a:solidFill>
                      <a:srgbClr val="DDF2EE"/>
                    </a:solidFill>
                  </a:tcPr>
                </a:tc>
                <a:tc>
                  <a:txBody>
                    <a:bodyPr wrap="square" anchor="ctr">
                      <a:noAutofit/>
                    </a:bodyPr>
                    <a:lstStyle/>
                    <a:p>
                      <a:pPr algn="r"/>
                      <a:r>
                        <a:rPr sz="1800" b="1">
                          <a:solidFill>
                            <a:srgbClr val="273F50"/>
                          </a:solidFill>
                          <a:latin typeface="Liberation Sans"/>
                          <a:ea typeface="Liberation Sans"/>
                          <a:cs typeface="Liberation Sans"/>
                        </a:rPr>
                        <a:t>460</a:t>
                      </a:r>
                    </a:p>
                  </a:txBody>
                  <a:tcPr marL="76200" marR="76200" marT="19050" marB="19050">
                    <a:solidFill>
                      <a:srgbClr val="DDF2EE"/>
                    </a:solidFill>
                  </a:tcPr>
                </a:tc>
                <a:tc>
                  <a:txBody>
                    <a:bodyPr wrap="square" anchor="ctr">
                      <a:noAutofit/>
                    </a:bodyPr>
                    <a:lstStyle/>
                    <a:p>
                      <a:pPr algn="r"/>
                      <a:r>
                        <a:rPr sz="1800" b="1">
                          <a:solidFill>
                            <a:srgbClr val="273F50"/>
                          </a:solidFill>
                          <a:latin typeface="Liberation Sans"/>
                          <a:ea typeface="Liberation Sans"/>
                          <a:cs typeface="Liberation Sans"/>
                        </a:rPr>
                        <a:t>870</a:t>
                      </a:r>
                    </a:p>
                  </a:txBody>
                  <a:tcPr marL="76200" marR="76200" marT="19050" marB="19050">
                    <a:solidFill>
                      <a:srgbClr val="DDF2EE"/>
                    </a:solidFill>
                  </a:tcPr>
                </a:tc>
                <a:tc>
                  <a:txBody>
                    <a:bodyPr wrap="square" anchor="ctr">
                      <a:noAutofit/>
                    </a:bodyPr>
                    <a:lstStyle/>
                    <a:p>
                      <a:pPr algn="r"/>
                      <a:r>
                        <a:rPr sz="1800" b="1">
                          <a:solidFill>
                            <a:srgbClr val="273F50"/>
                          </a:solidFill>
                          <a:latin typeface="Liberation Sans"/>
                          <a:ea typeface="Liberation Sans"/>
                          <a:cs typeface="Liberation Sans"/>
                        </a:rPr>
                        <a:t>900</a:t>
                      </a:r>
                    </a:p>
                  </a:txBody>
                  <a:tcPr marL="76200" marR="76200" marT="19050" marB="19050">
                    <a:solidFill>
                      <a:srgbClr val="DDF2EE"/>
                    </a:solidFill>
                  </a:tcPr>
                </a:tc>
                <a:tc>
                  <a:txBody>
                    <a:bodyPr wrap="square" anchor="ctr">
                      <a:noAutofit/>
                    </a:bodyPr>
                    <a:lstStyle/>
                    <a:p>
                      <a:pPr algn="r"/>
                      <a:r>
                        <a:rPr sz="1800" b="1">
                          <a:solidFill>
                            <a:srgbClr val="273F50"/>
                          </a:solidFill>
                          <a:latin typeface="Liberation Sans"/>
                          <a:ea typeface="Liberation Sans"/>
                          <a:cs typeface="Liberation Sans"/>
                        </a:rPr>
                        <a:t>2850</a:t>
                      </a:r>
                    </a:p>
                  </a:txBody>
                  <a:tcPr marL="76200" marR="76200" marT="19050" marB="19050">
                    <a:solidFill>
                      <a:srgbClr val="DDF2EE"/>
                    </a:solidFill>
                  </a:tcPr>
                </a:tc>
                <a:tc>
                  <a:txBody>
                    <a:bodyPr wrap="square" anchor="ctr">
                      <a:noAutofit/>
                    </a:bodyPr>
                    <a:lstStyle/>
                    <a:p>
                      <a:pPr algn="r"/>
                      <a:r>
                        <a:rPr sz="1800" b="1">
                          <a:solidFill>
                            <a:srgbClr val="273F50"/>
                          </a:solidFill>
                          <a:latin typeface="Liberation Sans"/>
                          <a:ea typeface="Liberation Sans"/>
                          <a:cs typeface="Liberation Sans"/>
                        </a:rPr>
                        <a:t>2950</a:t>
                      </a:r>
                    </a:p>
                  </a:txBody>
                  <a:tcPr marL="76200" marR="76200" marT="19050" marB="19050">
                    <a:solidFill>
                      <a:srgbClr val="DDF2EE"/>
                    </a:solidFill>
                  </a:tcPr>
                </a:tc>
                <a:tc>
                  <a:txBody>
                    <a:bodyPr wrap="square" anchor="ctr">
                      <a:noAutofit/>
                    </a:bodyPr>
                    <a:lstStyle/>
                    <a:p>
                      <a:pPr algn="r"/>
                      <a:r>
                        <a:rPr sz="1800" b="1">
                          <a:solidFill>
                            <a:srgbClr val="273F50"/>
                          </a:solidFill>
                          <a:latin typeface="Liberation Sans"/>
                          <a:ea typeface="Liberation Sans"/>
                          <a:cs typeface="Liberation Sans"/>
                        </a:rPr>
                        <a:t>100</a:t>
                      </a:r>
                    </a:p>
                  </a:txBody>
                  <a:tcPr marL="76200" marR="76200" marT="19050" marB="19050">
                    <a:solidFill>
                      <a:srgbClr val="DDF2EE"/>
                    </a:solidFill>
                  </a:tcPr>
                </a:tc>
              </a:tr>
            </a:tbl>
          </a:graphicData>
        </a:graphic>
      </p:graphicFrame>
      <p:graphicFrame>
        <p:nvGraphicFramePr>
          <p:cNvPr id="16" name="Chart">
            <a:extLst xmlns:a="http://schemas.openxmlformats.org/drawingml/2006/main">
              <a:ext uri="{FF2B5EF4-FFF2-40B4-BE49-F238E27FC236}">
                <a16:creationId xmlns:a16="http://schemas.microsoft.com/office/drawing/2014/main" id="{B7AC3229-CF53-4769-8671-F04192C21EEC}"/>
              </a:ext>
            </a:extLst>
          </p:cNvPr>
          <p:cNvGraphicFramePr/>
          <p:nvPr/>
        </p:nvGraphicFramePr>
        <p:xfrm>
          <a:off xmlns:a="http://schemas.openxmlformats.org/drawingml/2006/main" x="10763250" y="1371600"/>
          <a:ext xmlns:a="http://schemas.openxmlformats.org/drawingml/2006/main" cx="4019550" cy="2819400"/>
        </p:xfrm>
        <a:graphic xmlns:a="http://schemas.openxmlformats.org/drawingml/2006/main">
          <a:graphicData uri="http://schemas.openxmlformats.org/drawingml/2006/chart">
            <c:chart xmlns:r="http://schemas.openxmlformats.org/officeDocument/2006/relationships" xmlns:c="http://schemas.openxmlformats.org/drawingml/2006/chart" r:id="Rc77d35e1849b4420"/>
          </a:graphicData>
        </a:graphic>
      </p:graphicFrame>
      <p:sp>
        <p:nvSpPr>
          <p:cNvPr id="17" name="budget-attention">
            <a:extLst xmlns:a="http://schemas.openxmlformats.org/drawingml/2006/main">
              <a:ext uri="{FF2B5EF4-FFF2-40B4-BE49-F238E27FC236}">
                <a16:creationId xmlns:a16="http://schemas.microsoft.com/office/drawing/2014/main" id="{6DAD7E2D-8A42-4509-A8FC-B800BE6F387E}"/>
              </a:ext>
            </a:extLst>
          </p:cNvPr>
          <p:cNvSpPr>
            <a:spLocks xmlns:a="http://schemas.openxmlformats.org/drawingml/2006/main" noGrp="1"/>
          </p:cNvSpPr>
          <p:nvPr/>
        </p:nvSpPr>
        <p:spPr>
          <a:xfrm xmlns:a="http://schemas.openxmlformats.org/drawingml/2006/main">
            <a:off x="457200" y="4286250"/>
            <a:ext cx="1432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D97B0A"/>
                </a:solidFill>
                <a:latin typeface="Liberation Sans"/>
                <a:ea typeface="Liberation Sans"/>
                <a:cs typeface="Liberation Sans"/>
              </a:defRPr>
            </a:defPPr>
          </a:lstStyle>
          <a:p xmlns:a="http://schemas.openxmlformats.org/drawingml/2006/main">
            <a:pPr algn="l">
              <a:defRPr sz="2025" b="1">
                <a:solidFill>
                  <a:srgbClr val="D97B0A"/>
                </a:solidFill>
                <a:latin typeface="Liberation Sans"/>
                <a:ea typeface="Liberation Sans"/>
                <a:cs typeface="Liberation Sans"/>
              </a:defRPr>
            </a:pPr>
            <a:r>
              <a:rPr sz="2025" b="1">
                <a:solidFill>
                  <a:srgbClr val="D97B0A"/>
                </a:solidFill>
                <a:latin typeface="Liberation Sans"/>
                <a:ea typeface="Liberation Sans"/>
                <a:cs typeface="Liberation Sans"/>
              </a:rPr>
              <a:t>Müşteri Portalı: 50 bin TL bütçe aşımı bekleniyor.</a:t>
            </a:r>
          </a:p>
        </p:txBody>
      </p:sp>
      <p:sp>
        <p:nvSpPr>
          <p:cNvPr id="18" name="risk-work-heading">
            <a:extLst xmlns:a="http://schemas.openxmlformats.org/drawingml/2006/main">
              <a:ext uri="{FF2B5EF4-FFF2-40B4-BE49-F238E27FC236}">
                <a16:creationId xmlns:a16="http://schemas.microsoft.com/office/drawing/2014/main" id="{90C697C3-E4A1-4671-B679-118C042750A0}"/>
              </a:ext>
            </a:extLst>
          </p:cNvPr>
          <p:cNvSpPr>
            <a:spLocks xmlns:a="http://schemas.openxmlformats.org/drawingml/2006/main" noGrp="1"/>
          </p:cNvSpPr>
          <p:nvPr/>
        </p:nvSpPr>
        <p:spPr>
          <a:xfrm xmlns:a="http://schemas.openxmlformats.org/drawingml/2006/main">
            <a:off x="457200" y="4686300"/>
            <a:ext cx="14325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14344B"/>
                </a:solidFill>
                <a:latin typeface="Liberation Sans"/>
                <a:ea typeface="Liberation Sans"/>
                <a:cs typeface="Liberation Sans"/>
              </a:defRPr>
            </a:defPPr>
          </a:lstStyle>
          <a:p xmlns:a="http://schemas.openxmlformats.org/drawingml/2006/main">
            <a:pPr algn="l">
              <a:defRPr sz="2025" b="1">
                <a:solidFill>
                  <a:srgbClr val="14344B"/>
                </a:solidFill>
                <a:latin typeface="Liberation Sans"/>
                <a:ea typeface="Liberation Sans"/>
                <a:cs typeface="Liberation Sans"/>
              </a:defRPr>
            </a:pPr>
            <a:r>
              <a:rPr sz="2025" b="1">
                <a:solidFill>
                  <a:srgbClr val="14344B"/>
                </a:solidFill>
                <a:latin typeface="Liberation Sans"/>
                <a:ea typeface="Liberation Sans"/>
                <a:cs typeface="Liberation Sans"/>
              </a:rPr>
              <a:t>Riskler, yapılanlar ve sıradaki işler</a:t>
            </a:r>
          </a:p>
        </p:txBody>
      </p:sp>
      <p:graphicFrame>
        <p:nvGraphicFramePr>
          <p:cNvPr id="19" name="">
            <a:extLst xmlns:a="http://schemas.openxmlformats.org/drawingml/2006/main">
              <a:ext uri="{FF2B5EF4-FFF2-40B4-BE49-F238E27FC236}">
                <a16:creationId xmlns:a16="http://schemas.microsoft.com/office/drawing/2014/main" id="{22EDBDEF-8F89-4B73-8474-B1B580BAD769}"/>
              </a:ext>
            </a:extLst>
          </p:cNvPr>
          <p:cNvGraphicFramePr/>
          <p:nvPr/>
        </p:nvGraphicFramePr>
        <p:xfrm>
          <a:off xmlns:a="http://schemas.openxmlformats.org/drawingml/2006/main" x="457200" y="5086350"/>
          <a:ext xmlns:a="http://schemas.openxmlformats.org/drawingml/2006/main" cx="14325600" cy="3314700"/>
        </p:xfrm>
        <a:graphic xmlns:a="http://schemas.openxmlformats.org/drawingml/2006/main">
          <a:graphicData uri="http://schemas.openxmlformats.org/drawingml/2006/table">
            <a:tbl>
              <a:tblPr firstRow="0" bandRow="0"/>
              <a:tblGrid>
                <a:gridCol w="2000250"/>
                <a:gridCol w="4333875"/>
                <a:gridCol w="3333750"/>
                <a:gridCol w="4657725"/>
              </a:tblGrid>
              <a:tr h="457200">
                <a:tc>
                  <a:txBody>
                    <a:bodyPr wrap="square" anchor="ctr">
                      <a:noAutofit/>
                    </a:bodyPr>
                    <a:lstStyle/>
                    <a:p>
                      <a:pPr algn="l"/>
                      <a:r>
                        <a:rPr sz="1650" b="1">
                          <a:solidFill>
                            <a:srgbClr val="FFFFFF"/>
                          </a:solidFill>
                          <a:latin typeface="Liberation Sans"/>
                          <a:ea typeface="Liberation Sans"/>
                          <a:cs typeface="Liberation Sans"/>
                        </a:rPr>
                        <a:t>Proje</a:t>
                      </a:r>
                    </a:p>
                  </a:txBody>
                  <a:tcPr marL="76200" marR="76200" marT="28575" marB="28575">
                    <a:solidFill>
                      <a:srgbClr val="14344B"/>
                    </a:solidFill>
                  </a:tcPr>
                </a:tc>
                <a:tc>
                  <a:txBody>
                    <a:bodyPr wrap="square" anchor="ctr">
                      <a:noAutofit/>
                    </a:bodyPr>
                    <a:lstStyle/>
                    <a:p>
                      <a:pPr algn="l"/>
                      <a:r>
                        <a:rPr sz="1650" b="1">
                          <a:solidFill>
                            <a:srgbClr val="FFFFFF"/>
                          </a:solidFill>
                          <a:latin typeface="Liberation Sans"/>
                          <a:ea typeface="Liberation Sans"/>
                          <a:cs typeface="Liberation Sans"/>
                        </a:rPr>
                        <a:t>Risk / etki / önlem</a:t>
                      </a:r>
                    </a:p>
                  </a:txBody>
                  <a:tcPr marL="76200" marR="76200" marT="28575" marB="28575">
                    <a:solidFill>
                      <a:srgbClr val="14344B"/>
                    </a:solidFill>
                  </a:tcPr>
                </a:tc>
                <a:tc>
                  <a:txBody>
                    <a:bodyPr wrap="square" anchor="ctr">
                      <a:noAutofit/>
                    </a:bodyPr>
                    <a:lstStyle/>
                    <a:p>
                      <a:pPr algn="l"/>
                      <a:r>
                        <a:rPr sz="1650" b="1">
                          <a:solidFill>
                            <a:srgbClr val="FFFFFF"/>
                          </a:solidFill>
                          <a:latin typeface="Liberation Sans"/>
                          <a:ea typeface="Liberation Sans"/>
                          <a:cs typeface="Liberation Sans"/>
                        </a:rPr>
                        <a:t>Yapılanlar</a:t>
                      </a:r>
                    </a:p>
                  </a:txBody>
                  <a:tcPr marL="76200" marR="76200" marT="28575" marB="28575">
                    <a:solidFill>
                      <a:srgbClr val="14344B"/>
                    </a:solidFill>
                  </a:tcPr>
                </a:tc>
                <a:tc>
                  <a:txBody>
                    <a:bodyPr wrap="square" anchor="ctr">
                      <a:noAutofit/>
                    </a:bodyPr>
                    <a:lstStyle/>
                    <a:p>
                      <a:pPr algn="l"/>
                      <a:r>
                        <a:rPr sz="1650" b="1">
                          <a:solidFill>
                            <a:srgbClr val="FFFFFF"/>
                          </a:solidFill>
                          <a:latin typeface="Liberation Sans"/>
                          <a:ea typeface="Liberation Sans"/>
                          <a:cs typeface="Liberation Sans"/>
                        </a:rPr>
                        <a:t>Sıradaki iş / sorumlu / tarih</a:t>
                      </a:r>
                    </a:p>
                  </a:txBody>
                  <a:tcPr marL="76200" marR="76200" marT="28575" marB="28575">
                    <a:solidFill>
                      <a:srgbClr val="14344B"/>
                    </a:solidFill>
                  </a:tcPr>
                </a:tc>
              </a:tr>
              <a:tr h="952500">
                <a:tc>
                  <a:txBody>
                    <a:bodyPr wrap="square" anchor="ctr">
                      <a:noAutofit/>
                    </a:bodyPr>
                    <a:lstStyle/>
                    <a:p>
                      <a:pPr algn="l"/>
                      <a:r>
                        <a:rPr sz="1650" b="1">
                          <a:solidFill>
                            <a:srgbClr val="273F50"/>
                          </a:solidFill>
                          <a:latin typeface="Liberation Sans"/>
                          <a:ea typeface="Liberation Sans"/>
                          <a:cs typeface="Liberation Sans"/>
                        </a:rPr>
                        <a:t>Üretim Hattı</a:t>
                      </a:r>
                    </a:p>
                  </a:txBody>
                  <a:tcPr marL="76200" marR="76200" marT="28575" marB="28575">
                    <a:solidFill>
                      <a:srgbClr val="FFFFFF"/>
                    </a:solidFill>
                  </a:tcPr>
                </a:tc>
                <a:tc>
                  <a:txBody>
                    <a:bodyPr wrap="square" anchor="ctr">
                      <a:noAutofit/>
                    </a:bodyPr>
                    <a:lstStyle/>
                    <a:p>
                      <a:pPr algn="l"/>
                      <a:r>
                        <a:rPr sz="1725" b="0">
                          <a:solidFill>
                            <a:srgbClr val="B43D3A"/>
                          </a:solidFill>
                          <a:latin typeface="Liberation Sans"/>
                          <a:ea typeface="Liberation Sans"/>
                          <a:cs typeface="Liberation Sans"/>
                        </a:rPr>
                        <a:t>Yüksek: motor teslimi +7 gün.</a:t>
                      </a:r>
                    </a:p>
                    <a:p>
                      <a:pPr algn="l"/>
                      <a:r>
                        <a:rPr sz="1725" b="0">
                          <a:solidFill>
                            <a:srgbClr val="B43D3A"/>
                          </a:solidFill>
                          <a:latin typeface="Liberation Sans"/>
                          <a:ea typeface="Liberation Sans"/>
                          <a:cs typeface="Liberation Sans"/>
                        </a:rPr>
                        <a:t>Önlem: alternatif teklif.</a:t>
                      </a:r>
                    </a:p>
                    <a:p>
                      <a:pPr algn="l"/>
                      <a:r>
                        <a:rPr sz="1725" b="0">
                          <a:solidFill>
                            <a:srgbClr val="B43D3A"/>
                          </a:solidFill>
                          <a:latin typeface="Liberation Sans"/>
                          <a:ea typeface="Liberation Sans"/>
                          <a:cs typeface="Liberation Sans"/>
                        </a:rPr>
                        <a:t>Satın alma, 16.10</a:t>
                      </a:r>
                    </a:p>
                  </a:txBody>
                  <a:tcPr marL="76200" marR="76200" marT="28575" marB="28575">
                    <a:solidFill>
                      <a:srgbClr val="FBE7E6"/>
                    </a:solidFill>
                  </a:tcPr>
                </a:tc>
                <a:tc>
                  <a:txBody>
                    <a:bodyPr wrap="square" anchor="ctr">
                      <a:noAutofit/>
                    </a:bodyPr>
                    <a:lstStyle/>
                    <a:p>
                      <a:pPr algn="l"/>
                      <a:r>
                        <a:rPr sz="1725" b="0">
                          <a:solidFill>
                            <a:srgbClr val="273F50"/>
                          </a:solidFill>
                          <a:latin typeface="Liberation Sans"/>
                          <a:ea typeface="Liberation Sans"/>
                          <a:cs typeface="Liberation Sans"/>
                        </a:rPr>
                        <a:t>Motor teknik onayı alındı.</a:t>
                      </a:r>
                    </a:p>
                    <a:p>
                      <a:pPr algn="l"/>
                      <a:r>
                        <a:rPr sz="1725" b="0">
                          <a:solidFill>
                            <a:srgbClr val="273F50"/>
                          </a:solidFill>
                          <a:latin typeface="Liberation Sans"/>
                          <a:ea typeface="Liberation Sans"/>
                          <a:cs typeface="Liberation Sans"/>
                        </a:rPr>
                        <a:t>14.10, Mühendislik</a:t>
                      </a:r>
                    </a:p>
                  </a:txBody>
                  <a:tcPr marL="76200" marR="76200" marT="28575" marB="28575">
                    <a:solidFill>
                      <a:srgbClr val="FFFFFF"/>
                    </a:solidFill>
                  </a:tcPr>
                </a:tc>
                <a:tc>
                  <a:txBody>
                    <a:bodyPr wrap="square" anchor="ctr">
                      <a:noAutofit/>
                    </a:bodyPr>
                    <a:lstStyle/>
                    <a:p>
                      <a:pPr algn="l"/>
                      <a:r>
                        <a:rPr sz="1725" b="0">
                          <a:solidFill>
                            <a:srgbClr val="273F50"/>
                          </a:solidFill>
                          <a:latin typeface="Liberation Sans"/>
                          <a:ea typeface="Liberation Sans"/>
                          <a:cs typeface="Liberation Sans"/>
                        </a:rPr>
                        <a:t>Motor siparişini kesinleştir.</a:t>
                      </a:r>
                    </a:p>
                    <a:p>
                      <a:pPr algn="l"/>
                      <a:r>
                        <a:rPr sz="1725" b="0">
                          <a:solidFill>
                            <a:srgbClr val="273F50"/>
                          </a:solidFill>
                          <a:latin typeface="Liberation Sans"/>
                          <a:ea typeface="Liberation Sans"/>
                          <a:cs typeface="Liberation Sans"/>
                        </a:rPr>
                        <a:t>Satın alma, 16.10</a:t>
                      </a:r>
                    </a:p>
                  </a:txBody>
                  <a:tcPr marL="76200" marR="76200" marT="28575" marB="28575">
                    <a:solidFill>
                      <a:srgbClr val="FFFFFF"/>
                    </a:solidFill>
                  </a:tcPr>
                </a:tc>
              </a:tr>
              <a:tr h="952500">
                <a:tc>
                  <a:txBody>
                    <a:bodyPr wrap="square" anchor="ctr">
                      <a:noAutofit/>
                    </a:bodyPr>
                    <a:lstStyle/>
                    <a:p>
                      <a:pPr algn="l"/>
                      <a:r>
                        <a:rPr sz="1650" b="1">
                          <a:solidFill>
                            <a:srgbClr val="273F50"/>
                          </a:solidFill>
                          <a:latin typeface="Liberation Sans"/>
                          <a:ea typeface="Liberation Sans"/>
                          <a:cs typeface="Liberation Sans"/>
                        </a:rPr>
                        <a:t>Müşteri Portalı</a:t>
                      </a:r>
                    </a:p>
                  </a:txBody>
                  <a:tcPr marL="76200" marR="76200" marT="28575" marB="28575">
                    <a:solidFill>
                      <a:srgbClr val="F1F6FA"/>
                    </a:solidFill>
                  </a:tcPr>
                </a:tc>
                <a:tc>
                  <a:txBody>
                    <a:bodyPr wrap="square" anchor="ctr">
                      <a:noAutofit/>
                    </a:bodyPr>
                    <a:lstStyle/>
                    <a:p>
                      <a:pPr algn="l"/>
                      <a:r>
                        <a:rPr sz="1725" b="0">
                          <a:solidFill>
                            <a:srgbClr val="D97B0A"/>
                          </a:solidFill>
                          <a:latin typeface="Liberation Sans"/>
                          <a:ea typeface="Liberation Sans"/>
                          <a:cs typeface="Liberation Sans"/>
                        </a:rPr>
                        <a:t>Orta: güvenlik testinde +2 gün.</a:t>
                      </a:r>
                    </a:p>
                    <a:p>
                      <a:pPr algn="l"/>
                      <a:r>
                        <a:rPr sz="1725" b="0">
                          <a:solidFill>
                            <a:srgbClr val="D97B0A"/>
                          </a:solidFill>
                          <a:latin typeface="Liberation Sans"/>
                          <a:ea typeface="Liberation Sans"/>
                          <a:cs typeface="Liberation Sans"/>
                        </a:rPr>
                        <a:t>Önlem: test ortamını aç.</a:t>
                      </a:r>
                    </a:p>
                    <a:p>
                      <a:pPr algn="l"/>
                      <a:r>
                        <a:rPr sz="1725" b="0">
                          <a:solidFill>
                            <a:srgbClr val="D97B0A"/>
                          </a:solidFill>
                          <a:latin typeface="Liberation Sans"/>
                          <a:ea typeface="Liberation Sans"/>
                          <a:cs typeface="Liberation Sans"/>
                        </a:rPr>
                        <a:t>BT, 19.10</a:t>
                      </a:r>
                    </a:p>
                  </a:txBody>
                  <a:tcPr marL="76200" marR="76200" marT="28575" marB="28575">
                    <a:solidFill>
                      <a:srgbClr val="FFF0D6"/>
                    </a:solidFill>
                  </a:tcPr>
                </a:tc>
                <a:tc>
                  <a:txBody>
                    <a:bodyPr wrap="square" anchor="ctr">
                      <a:noAutofit/>
                    </a:bodyPr>
                    <a:lstStyle/>
                    <a:p>
                      <a:pPr algn="l"/>
                      <a:r>
                        <a:rPr sz="1725" b="0">
                          <a:solidFill>
                            <a:srgbClr val="273F50"/>
                          </a:solidFill>
                          <a:latin typeface="Liberation Sans"/>
                          <a:ea typeface="Liberation Sans"/>
                          <a:cs typeface="Liberation Sans"/>
                        </a:rPr>
                        <a:t>Arayüz testleri tamamlandı.</a:t>
                      </a:r>
                    </a:p>
                    <a:p>
                      <a:pPr algn="l"/>
                      <a:r>
                        <a:rPr sz="1725" b="0">
                          <a:solidFill>
                            <a:srgbClr val="273F50"/>
                          </a:solidFill>
                          <a:latin typeface="Liberation Sans"/>
                          <a:ea typeface="Liberation Sans"/>
                          <a:cs typeface="Liberation Sans"/>
                        </a:rPr>
                        <a:t>14.10, BT</a:t>
                      </a:r>
                    </a:p>
                  </a:txBody>
                  <a:tcPr marL="76200" marR="76200" marT="28575" marB="28575">
                    <a:solidFill>
                      <a:srgbClr val="F1F6FA"/>
                    </a:solidFill>
                  </a:tcPr>
                </a:tc>
                <a:tc>
                  <a:txBody>
                    <a:bodyPr wrap="square" anchor="ctr">
                      <a:noAutofit/>
                    </a:bodyPr>
                    <a:lstStyle/>
                    <a:p>
                      <a:pPr algn="l"/>
                      <a:r>
                        <a:rPr sz="1725" b="0">
                          <a:solidFill>
                            <a:srgbClr val="273F50"/>
                          </a:solidFill>
                          <a:latin typeface="Liberation Sans"/>
                          <a:ea typeface="Liberation Sans"/>
                          <a:cs typeface="Liberation Sans"/>
                        </a:rPr>
                        <a:t>Güvenlik testini başlat.</a:t>
                      </a:r>
                    </a:p>
                    <a:p>
                      <a:pPr algn="l"/>
                      <a:r>
                        <a:rPr sz="1725" b="0">
                          <a:solidFill>
                            <a:srgbClr val="273F50"/>
                          </a:solidFill>
                          <a:latin typeface="Liberation Sans"/>
                          <a:ea typeface="Liberation Sans"/>
                          <a:cs typeface="Liberation Sans"/>
                        </a:rPr>
                        <a:t>BT, 19.10</a:t>
                      </a:r>
                    </a:p>
                  </a:txBody>
                  <a:tcPr marL="76200" marR="76200" marT="28575" marB="28575">
                    <a:solidFill>
                      <a:srgbClr val="F1F6FA"/>
                    </a:solidFill>
                  </a:tcPr>
                </a:tc>
              </a:tr>
              <a:tr h="952500">
                <a:tc>
                  <a:txBody>
                    <a:bodyPr wrap="square" anchor="ctr">
                      <a:noAutofit/>
                    </a:bodyPr>
                    <a:lstStyle/>
                    <a:p>
                      <a:pPr algn="l"/>
                      <a:r>
                        <a:rPr sz="1650" b="1">
                          <a:solidFill>
                            <a:srgbClr val="273F50"/>
                          </a:solidFill>
                          <a:latin typeface="Liberation Sans"/>
                          <a:ea typeface="Liberation Sans"/>
                          <a:cs typeface="Liberation Sans"/>
                        </a:rPr>
                        <a:t>Depo Otomasyonu</a:t>
                      </a:r>
                    </a:p>
                  </a:txBody>
                  <a:tcPr marL="76200" marR="76200" marT="28575" marB="28575">
                    <a:solidFill>
                      <a:srgbClr val="FFFFFF"/>
                    </a:solidFill>
                  </a:tcPr>
                </a:tc>
                <a:tc>
                  <a:txBody>
                    <a:bodyPr wrap="square" anchor="ctr">
                      <a:noAutofit/>
                    </a:bodyPr>
                    <a:lstStyle/>
                    <a:p>
                      <a:pPr algn="l"/>
                      <a:r>
                        <a:rPr sz="1725" b="0">
                          <a:solidFill>
                            <a:srgbClr val="B43D3A"/>
                          </a:solidFill>
                          <a:latin typeface="Liberation Sans"/>
                          <a:ea typeface="Liberation Sans"/>
                          <a:cs typeface="Liberation Sans"/>
                        </a:rPr>
                        <a:t>Yüksek: ağ erişimi kesilebilir.</a:t>
                      </a:r>
                    </a:p>
                    <a:p>
                      <a:pPr algn="l"/>
                      <a:r>
                        <a:rPr sz="1725" b="0">
                          <a:solidFill>
                            <a:srgbClr val="B43D3A"/>
                          </a:solidFill>
                          <a:latin typeface="Liberation Sans"/>
                          <a:ea typeface="Liberation Sans"/>
                          <a:cs typeface="Liberation Sans"/>
                        </a:rPr>
                        <a:t>Önlem: yedek bağlantı.</a:t>
                      </a:r>
                    </a:p>
                    <a:p>
                      <a:pPr algn="l"/>
                      <a:r>
                        <a:rPr sz="1725" b="0">
                          <a:solidFill>
                            <a:srgbClr val="B43D3A"/>
                          </a:solidFill>
                          <a:latin typeface="Liberation Sans"/>
                          <a:ea typeface="Liberation Sans"/>
                          <a:cs typeface="Liberation Sans"/>
                        </a:rPr>
                        <a:t>BT, 20.10</a:t>
                      </a:r>
                    </a:p>
                  </a:txBody>
                  <a:tcPr marL="76200" marR="76200" marT="28575" marB="28575">
                    <a:solidFill>
                      <a:srgbClr val="FBE7E6"/>
                    </a:solidFill>
                  </a:tcPr>
                </a:tc>
                <a:tc>
                  <a:txBody>
                    <a:bodyPr wrap="square" anchor="ctr">
                      <a:noAutofit/>
                    </a:bodyPr>
                    <a:lstStyle/>
                    <a:p>
                      <a:pPr algn="l"/>
                      <a:r>
                        <a:rPr sz="1725" b="0">
                          <a:solidFill>
                            <a:srgbClr val="273F50"/>
                          </a:solidFill>
                          <a:latin typeface="Liberation Sans"/>
                          <a:ea typeface="Liberation Sans"/>
                          <a:cs typeface="Liberation Sans"/>
                        </a:rPr>
                        <a:t>Saha keşfi tamamlandı.</a:t>
                      </a:r>
                    </a:p>
                    <a:p>
                      <a:pPr algn="l"/>
                      <a:r>
                        <a:rPr sz="1725" b="0">
                          <a:solidFill>
                            <a:srgbClr val="273F50"/>
                          </a:solidFill>
                          <a:latin typeface="Liberation Sans"/>
                          <a:ea typeface="Liberation Sans"/>
                          <a:cs typeface="Liberation Sans"/>
                        </a:rPr>
                        <a:t>13.10, Üretim</a:t>
                      </a:r>
                    </a:p>
                  </a:txBody>
                  <a:tcPr marL="76200" marR="76200" marT="28575" marB="28575">
                    <a:solidFill>
                      <a:srgbClr val="FFFFFF"/>
                    </a:solidFill>
                  </a:tcPr>
                </a:tc>
                <a:tc>
                  <a:txBody>
                    <a:bodyPr wrap="square" anchor="ctr">
                      <a:noAutofit/>
                    </a:bodyPr>
                    <a:lstStyle/>
                    <a:p>
                      <a:pPr algn="l"/>
                      <a:r>
                        <a:rPr sz="1725" b="0">
                          <a:solidFill>
                            <a:srgbClr val="273F50"/>
                          </a:solidFill>
                          <a:latin typeface="Liberation Sans"/>
                          <a:ea typeface="Liberation Sans"/>
                          <a:cs typeface="Liberation Sans"/>
                        </a:rPr>
                        <a:t>Yedek ağ bağlantısını kur.</a:t>
                      </a:r>
                    </a:p>
                    <a:p>
                      <a:pPr algn="l"/>
                      <a:r>
                        <a:rPr sz="1725" b="0">
                          <a:solidFill>
                            <a:srgbClr val="273F50"/>
                          </a:solidFill>
                          <a:latin typeface="Liberation Sans"/>
                          <a:ea typeface="Liberation Sans"/>
                          <a:cs typeface="Liberation Sans"/>
                        </a:rPr>
                        <a:t>BT, 20.10</a:t>
                      </a:r>
                    </a:p>
                  </a:txBody>
                  <a:tcPr marL="76200" marR="76200" marT="28575" marB="28575">
                    <a:solidFill>
                      <a:srgbClr val="FFFFFF"/>
                    </a:solidFill>
                  </a:tcPr>
                </a:tc>
              </a:tr>
            </a:tbl>
          </a:graphicData>
        </a:graphic>
      </p:graphicFrame>
    </p:spTree>
    <p:extLst>
      <p:ext uri="{BB962C8B-B14F-4D97-AF65-F5344CB8AC3E}">
        <p14:creationId xmlns:p14="http://schemas.microsoft.com/office/powerpoint/2010/main" val="16798740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2026-10-15T12:43:50.4540000Z</dcterms:created>
  <dcterms:modified xsi:type="dcterms:W3CDTF">2026-10-15T12:43:50.4540000Z</dcterms:modified>
</coreProperties>
</file>
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f42756e9b545fd" /><Relationship Type="http://schemas.openxmlformats.org/officeDocument/2006/relationships/extended-properties" Target="/docProps/app.xml" Id="R65d4d61b5e3046eb" /><Relationship Type="http://schemas.openxmlformats.org/officeDocument/2006/relationships/officeDocument" Target="/ppt/presentation.xml" Id="Rd243d1e1503f46c4" /></Relationships>
</file>

<file path=ppt/presentation.xml><?xml version="1.0" encoding="utf-8"?>
<p:presentation xmlns:p="http://schemas.openxmlformats.org/presentationml/2006/main">
  <p:sldMasterIdLst>
    <p:sldMasterId xmlns:r="http://schemas.openxmlformats.org/officeDocument/2006/relationships" id="2147483648" r:id="R1c86afdf67e843da"/>
  </p:sldMasterIdLst>
  <p:notesMasterIdLst>
    <p:notesMasterId xmlns:r="http://schemas.openxmlformats.org/officeDocument/2006/relationships" r:id="R76d2483fd7bc4970"/>
  </p:notesMasterIdLst>
  <p:sldIdLst>
    <p:sldId xmlns:r="http://schemas.openxmlformats.org/officeDocument/2006/relationships" id="256" r:id="R1b5e7b6de87249b0"/>
    <p:sldId xmlns:r="http://schemas.openxmlformats.org/officeDocument/2006/relationships" id="257" r:id="R4581683affed402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05b408d3f04c37" /><Relationship Type="http://schemas.openxmlformats.org/officeDocument/2006/relationships/slideMaster" Target="/ppt/slideMasters/slideMaster1.xml" Id="R1c86afdf67e843da" /><Relationship Type="http://schemas.openxmlformats.org/officeDocument/2006/relationships/notesMaster" Target="/ppt/notesMasters/notesMaster1.xml" Id="R76d2483fd7bc4970" /><Relationship Type="http://schemas.openxmlformats.org/officeDocument/2006/relationships/presProps" Target="/ppt/presProps.xml" Id="Rfbb5465406ec4ddb" /><Relationship Type="http://schemas.openxmlformats.org/officeDocument/2006/relationships/tableStyles" Target="/ppt/tableStyles.xml" Id="Ree0878d7a1644399" /><Relationship Type="http://schemas.openxmlformats.org/officeDocument/2006/relationships/slide" Target="/ppt/slides/slide1.xml" Id="R1b5e7b6de87249b0" /><Relationship Type="http://schemas.openxmlformats.org/officeDocument/2006/relationships/slide" Target="/ppt/slides/slide2.xml" Id="R4581683affed40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1880eb2b834f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8557f06a17426f" /><Relationship Type="http://schemas.openxmlformats.org/officeDocument/2006/relationships/notesMaster" Target="/ppt/notesMasters/notesMaster1.xml" Id="R76275f44051940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02018fe77a4319" /><Relationship Type="http://schemas.openxmlformats.org/officeDocument/2006/relationships/notesMaster" Target="/ppt/notesMasters/notesMaster1.xml" Id="R31936397436047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Kurgusal örnekler, önceki proje takvimi çalışma kitabındaki sayısal özetlerden alınmıştır. Üç projenin proje yöneticisi bu sade örnekte Ayşe Yılmaz olarak birleştirilmiştir. Finans satırlarında tahmini toplam gerçek efor, gerçek alım, kalan efor ve kalan alım toplamıdır. Bütçe farkı bütçe eksi tahmini toplamdır. Birim bazındaki saatler önceki Efor kayıtlarından toplanmıştır. Kişi sayıları projelere özeldir ve projeler arasında toplanarak benzersiz kişi sayısı elde edilemez.</a:t>
            </a:r>
          </a:p>
          <a:p xmlns:a="http://schemas.openxmlformats.org/drawingml/2006/main">
            <a:r>
              <a:t>Bu sürümde kullanıcı isteğiyle Üretim Hattı tamamlanma oranı yüzde 30 olarak güncellenmiştir. Diğer proje verileri örnektir. Karşılaştırma grafiği düzenlenebilir yerel PowerPoint grafiğidir. Verileri Düzenle penceresinde değerler 0–100 ölçeğindedir. 30 yazmak yüzde 30 anlamına gelir. Grafik değerleri değiştirilince tablolar otomatik eşitlenmez; tablo yüzdesi ayrıca güncellenmelidir.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Yapılanlar, sıradaki işler ve üst yönetimden BEKLENTİ alanları örnek olarak yazılmıştır. Müşteri Portalı için 121 bin TL ek bütçe talebi, 120.550 TL tahmini bütçe aşımının yukarı yuvarlanmış örnek talebidir. Yönetici toplantıdan önce metinleri, karar mercilerini, tarihleri ve etkileri kendi projelerine göre düzenlemelidir. PowerPoint ve Excel arasında otomatik veri bağlantısı yoktur. Tablolar PowerPoint içinde ayrı ayrı düzenlenebilir.</a:t>
            </a:r>
          </a:p>
          <a:p xmlns:a="http://schemas.openxmlformats.org/drawingml/2006/main">
            <a:r>
              <a:t>Haftalık üretim grafiğinin yalnızca ilk haftası kullanıcı tarafından belirtilen yüzde 30 değeridir. Geçmiş haftalar için oran verilmediğinden değer uydurulmamıştır. Artış veya azalışı izlemek için önceki haftayı koruyup veri tablosuna sonraki hafta ve oranı ekleyin. Mavi kaynak aralığını yeni satırları kapsayacak şekilde genişletin. İki grafiğin gömülü veri tabloları ayrıdır; güncel oran grafiği ve haftalık kayıt ayrı ayrı güncellenir. Yüzde işareti olmadan 0–100 arasında sayı girin.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ed5f53801b40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ee6c9a35e341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7b5b540ca841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b04676fd1343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6705286ae741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f6a261f2fa44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390723-6C47-4F39-A06C-3F6124FFB69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0B5272-A8AB-45BD-9B91-F8DC938A075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D40EC9-5815-4C8B-AE2C-571FFC6EEAF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313941-D774-48A3-B668-93856096310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22A7D8-9474-477B-AC40-4301870BEEA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87543B-A8A1-4E93-BC22-2839080E883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472253-1B59-4991-BF66-BEDB447E3AC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E4E49A-88CE-435C-BFB7-C5AA91E948C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7285FD-9236-4E9B-8FDC-FA5963FBA3F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8A78CC-A918-4403-8FD1-B1C21A67E9E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c8eedb90a74ece" /><Relationship Type="http://schemas.openxmlformats.org/officeDocument/2006/relationships/slideLayout" Target="/ppt/slideLayouts/slideLayout1.xml" Id="R091122e75aa948ac" /><Relationship Type="http://schemas.openxmlformats.org/officeDocument/2006/relationships/slideLayout" Target="/ppt/slideLayouts/slideLayout2.xml" Id="Rd8dabf942a2c4b3e" /><Relationship Type="http://schemas.openxmlformats.org/officeDocument/2006/relationships/slideLayout" Target="/ppt/slideLayouts/slideLayout3.xml" Id="R9cdcf14d686f44d7" /><Relationship Type="http://schemas.openxmlformats.org/officeDocument/2006/relationships/slideLayout" Target="/ppt/slideLayouts/slideLayout4.xml" Id="R46e1ee4befd94780" /><Relationship Type="http://schemas.openxmlformats.org/officeDocument/2006/relationships/slideLayout" Target="/ppt/slideLayouts/slideLayout5.xml" Id="R1d4afca77db047cd" /><Relationship Type="http://schemas.openxmlformats.org/officeDocument/2006/relationships/slideLayout" Target="/ppt/slideLayouts/slideLayout6.xml" Id="R25ccfae4c0cf48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122e75aa948ac"/>
    <p:sldLayoutId xmlns:r="http://schemas.openxmlformats.org/officeDocument/2006/relationships" id="2147483650" r:id="Rd8dabf942a2c4b3e"/>
    <p:sldLayoutId xmlns:r="http://schemas.openxmlformats.org/officeDocument/2006/relationships" id="2147483651" r:id="R9cdcf14d686f44d7"/>
    <p:sldLayoutId xmlns:r="http://schemas.openxmlformats.org/officeDocument/2006/relationships" id="2147483652" r:id="R46e1ee4befd94780"/>
    <p:sldLayoutId xmlns:r="http://schemas.openxmlformats.org/officeDocument/2006/relationships" id="2147483653" r:id="R1d4afca77db047cd"/>
    <p:sldLayoutId xmlns:r="http://schemas.openxmlformats.org/officeDocument/2006/relationships" id="2147483654" r:id="R25ccfae4c0cf48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716223ea3345b3" /><Relationship Type="http://schemas.openxmlformats.org/officeDocument/2006/relationships/chart" Target="/ppt/slides/charts/chart1.xml" Id="R77b36aa89cc648a5" /><Relationship Type="http://schemas.openxmlformats.org/officeDocument/2006/relationships/notesSlide" Target="/ppt/notesSlides/notesSlide1.xml" Id="Rb225778c793f45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31dc3203414e13" /><Relationship Type="http://schemas.openxmlformats.org/officeDocument/2006/relationships/chart" Target="/ppt/slides/charts/chart2.xml" Id="R43517a525cab4fa2" /><Relationship Type="http://schemas.openxmlformats.org/officeDocument/2006/relationships/notesSlide" Target="/ppt/notesSlides/notesSlide2.xml" Id="R38d1bc1a3d424c4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324F"/>
                </a:solidFill>
                <a:latin typeface="Liberation Sans"/>
                <a:ea typeface="Liberation Sans"/>
                <a:cs typeface="Liberation Sans"/>
              </a:rPr>
              <a:t>Tamamlanma oranı: gerçek ve plan</a:t>
            </a:r>
          </a:p>
        </c:rich>
      </c:tx>
      <c:overlay val="0"/>
      <c:txPr>
        <a:bodyPr xmlns:a="http://schemas.openxmlformats.org/drawingml/2006/main" anchorCtr="1"/>
        <a:lstStyle xmlns:a="http://schemas.openxmlformats.org/drawingml/2006/main"/>
        <a:p xmlns:a="http://schemas.openxmlformats.org/drawingml/2006/main">
          <a:pPr>
            <a:defRPr sz="1875" b="1">
              <a:solidFill>
                <a:srgbClr val="18324F"/>
              </a:solidFill>
              <a:latin typeface="Liberation Sans"/>
              <a:ea typeface="Liberation Sans"/>
              <a:cs typeface="Liberation Sans"/>
            </a:defRPr>
          </a:pPr>
        </a:p>
      </c:txPr>
    </c:title>
    <c:plotArea>
      <c:barChart>
        <c:barDir val="bar"/>
        <c:grouping val="clustered"/>
        <c:varyColors val="0"/>
        <c:ser>
          <c:idx val="0"/>
          <c:order val="0"/>
          <c:tx>
            <c:v>Gerçek (%)</c:v>
          </c:tx>
          <c:spPr>
            <a:solidFill xmlns:a="http://schemas.openxmlformats.org/drawingml/2006/main">
              <a:srgbClr val="2563EB"/>
            </a:solidFill>
          </c:spPr>
          <c:cat>
            <c:strRef>
              <c:f>'Chart Data'!$A$2:$A$4</c:f>
              <c:strCache>
                <c:ptCount val="3"/>
                <c:pt idx="0">
                  <c:v>Üretim Hattı</c:v>
                </c:pt>
                <c:pt idx="1">
                  <c:v>Müşteri Portalı</c:v>
                </c:pt>
                <c:pt idx="2">
                  <c:v>Depo Otomasyonu</c:v>
                </c:pt>
              </c:strCache>
            </c:strRef>
          </c:cat>
          <c:val>
            <c:numRef>
              <c:f>'Chart Data'!$B$2:$B$4</c:f>
              <c:numCache>
                <c:formatCode>0"%"</c:formatCode>
                <c:ptCount val="3"/>
                <c:pt idx="0">
                  <c:v>30</c:v>
                </c:pt>
                <c:pt idx="1">
                  <c:v>47.5</c:v>
                </c:pt>
                <c:pt idx="2">
                  <c:v>52</c:v>
                </c:pt>
              </c:numCache>
            </c:numRef>
          </c:val>
        </c:ser>
        <c:ser>
          <c:idx val="1"/>
          <c:order val="1"/>
          <c:tx>
            <c:v>Plan (%)</c:v>
          </c:tx>
          <c:spPr>
            <a:solidFill xmlns:a="http://schemas.openxmlformats.org/drawingml/2006/main">
              <a:srgbClr val="B8D0EF"/>
            </a:solidFill>
          </c:spPr>
          <c:cat>
            <c:strRef>
              <c:f>'Chart Data'!$C$2:$C$4</c:f>
              <c:strCache>
                <c:ptCount val="3"/>
                <c:pt idx="0">
                  <c:v>Üretim Hattı</c:v>
                </c:pt>
                <c:pt idx="1">
                  <c:v>Müşteri Portalı</c:v>
                </c:pt>
                <c:pt idx="2">
                  <c:v>Depo Otomasyonu</c:v>
                </c:pt>
              </c:strCache>
            </c:strRef>
          </c:cat>
          <c:val>
            <c:numRef>
              <c:f>'Chart Data'!$D$2:$D$4</c:f>
              <c:numCache>
                <c:formatCode>0"%"</c:formatCode>
                <c:ptCount val="3"/>
                <c:pt idx="0">
                  <c:v>57.6</c:v>
                </c:pt>
                <c:pt idx="1">
                  <c:v>44.8</c:v>
                </c:pt>
                <c:pt idx="2">
                  <c:v>63.8</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650" b="1">
                  <a:solidFill>
                    <a:srgbClr val="26394D"/>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E"/>
            </a:solidFill>
          </a:ln>
        </c:spPr>
        <c:txPr>
          <a:bodyPr xmlns:a="http://schemas.openxmlformats.org/drawingml/2006/main" anchorCtr="1"/>
          <a:lstStyle xmlns:a="http://schemas.openxmlformats.org/drawingml/2006/main"/>
          <a:p xmlns:a="http://schemas.openxmlformats.org/drawingml/2006/main">
            <a:pPr>
              <a:defRPr sz="1500">
                <a:solidFill>
                  <a:srgbClr val="26394D"/>
                </a:solidFill>
                <a:latin typeface="Liberation Sans"/>
                <a:ea typeface="Liberation Sans"/>
                <a:cs typeface="Liberation Sans"/>
              </a:defRPr>
            </a:pPr>
          </a:p>
        </c:txPr>
        <c:crossAx val="48672768"/>
      </c:catAx>
      <c:valAx>
        <c:axId val="48672768"/>
        <c:scaling>
          <c:orientation val="minMax"/>
          <c:max val="100"/>
          <c:min val="0"/>
        </c:scaling>
        <c:delete val="0"/>
        <c:axPos val="b"/>
        <c:majorGridlines>
          <c:spPr>
            <a:ln xmlns:a="http://schemas.openxmlformats.org/drawingml/2006/main" w="9525">
              <a:solidFill>
                <a:srgbClr val="DCE5EE"/>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58A"/>
                </a:solidFill>
                <a:latin typeface="Liberation Sans"/>
                <a:ea typeface="Liberation Sans"/>
                <a:cs typeface="Liberation Sans"/>
              </a:defRPr>
            </a:pPr>
          </a:p>
        </c:txPr>
        <c:crossAx val="48650112"/>
        <c:crossBetween val="between"/>
        <c:majorUnit val="25"/>
      </c:valAx>
      <c:spPr>
        <a:solidFill xmlns:a="http://schemas.openxmlformats.org/drawingml/2006/main">
          <a:srgbClr val="FFFFFF"/>
        </a:solidFill>
      </c:spPr>
    </c:plotArea>
    <c:legend>
      <c:legendPos val="r"/>
      <c:overlay val="0"/>
      <c:txPr>
        <a:bodyPr xmlns:a="http://schemas.openxmlformats.org/drawingml/2006/main" anchorCtr="1"/>
        <a:lstStyle xmlns:a="http://schemas.openxmlformats.org/drawingml/2006/main"/>
        <a:p xmlns:a="http://schemas.openxmlformats.org/drawingml/2006/main">
          <a:pPr>
            <a:defRPr sz="1500">
              <a:solidFill>
                <a:srgbClr val="61758A"/>
              </a:solidFill>
              <a:latin typeface="Liberation Sans"/>
              <a:ea typeface="Liberation Sans"/>
              <a:cs typeface="Liberation San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8324F"/>
                </a:solidFill>
                <a:latin typeface="Liberation Sans"/>
                <a:ea typeface="Liberation Sans"/>
                <a:cs typeface="Liberation Sans"/>
              </a:rPr>
              <a:t>Üretim: haftalık ilerleme</a:t>
            </a:r>
          </a:p>
        </c:rich>
      </c:tx>
      <c:overlay val="0"/>
      <c:txPr>
        <a:bodyPr xmlns:a="http://schemas.openxmlformats.org/drawingml/2006/main" anchorCtr="1"/>
        <a:lstStyle xmlns:a="http://schemas.openxmlformats.org/drawingml/2006/main"/>
        <a:p xmlns:a="http://schemas.openxmlformats.org/drawingml/2006/main">
          <a:pPr>
            <a:defRPr sz="1725" b="1">
              <a:solidFill>
                <a:srgbClr val="18324F"/>
              </a:solidFill>
              <a:latin typeface="Liberation Sans"/>
              <a:ea typeface="Liberation Sans"/>
              <a:cs typeface="Liberation Sans"/>
            </a:defRPr>
          </a:pPr>
        </a:p>
      </c:txPr>
    </c:title>
    <c:plotArea>
      <c:lineChart>
        <c:grouping val="standard"/>
        <c:varyColors val="0"/>
        <c:ser>
          <c:idx val="0"/>
          <c:order val="0"/>
          <c:tx>
            <c:v>Üretim Hattı (%)</c:v>
          </c:tx>
          <c:spPr>
            <a:ln xmlns:a="http://schemas.openxmlformats.org/drawingml/2006/main" w="28575">
              <a:solidFill>
                <a:srgbClr val="0D9488"/>
              </a:solidFill>
              <a:prstDash val="solid"/>
            </a:ln>
          </c:spPr>
          <c:marker>
            <c:symbol val="circle"/>
            <c:size val="11"/>
            <c:spPr>
              <a:solidFill xmlns:a="http://schemas.openxmlformats.org/drawingml/2006/main">
                <a:srgbClr val="0D9488"/>
              </a:solidFill>
            </c:spPr>
          </c:marker>
          <c:cat>
            <c:strRef>
              <c:f>'Chart Data'!$A$2:$A$2</c:f>
              <c:strCache>
                <c:ptCount val="1"/>
                <c:pt idx="0">
                  <c:v>1. Hafta</c:v>
                </c:pt>
              </c:strCache>
            </c:strRef>
          </c:cat>
          <c:val>
            <c:numRef>
              <c:f>'Chart Data'!$B$2:$B$2</c:f>
              <c:numCache>
                <c:formatCode>0"%"</c:formatCode>
                <c:ptCount val="1"/>
                <c:pt idx="0">
                  <c:v>30</c:v>
                </c:pt>
              </c:numCache>
            </c:numRef>
          </c:val>
          <c:smooth val="0"/>
        </c:ser>
        <c:dLbls>
          <c:numFmt formatCode="0&quot;%&quot;" sourceLinked="0"/>
          <c:txPr>
            <a:bodyPr xmlns:a="http://schemas.openxmlformats.org/drawingml/2006/main" anchorCtr="1"/>
            <a:lstStyle xmlns:a="http://schemas.openxmlformats.org/drawingml/2006/main"/>
            <a:p xmlns:a="http://schemas.openxmlformats.org/drawingml/2006/main">
              <a:pPr>
                <a:defRPr sz="1875" b="1">
                  <a:solidFill>
                    <a:srgbClr val="0D9488"/>
                  </a:solidFill>
                  <a:latin typeface="Liberation Sans"/>
                  <a:ea typeface="Liberation Sans"/>
                  <a:cs typeface="Liberation San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E"/>
            </a:solidFill>
          </a:ln>
        </c:spPr>
        <c:txPr>
          <a:bodyPr xmlns:a="http://schemas.openxmlformats.org/drawingml/2006/main" anchorCtr="1"/>
          <a:lstStyle xmlns:a="http://schemas.openxmlformats.org/drawingml/2006/main"/>
          <a:p xmlns:a="http://schemas.openxmlformats.org/drawingml/2006/main">
            <a:pPr>
              <a:defRPr sz="1350">
                <a:solidFill>
                  <a:srgbClr val="61758A"/>
                </a:solidFill>
                <a:latin typeface="Liberation Sans"/>
                <a:ea typeface="Liberation Sans"/>
                <a:cs typeface="Liberation Sans"/>
              </a:defRPr>
            </a:pPr>
          </a:p>
        </c:txPr>
        <c:crossAx val="48672768"/>
      </c:catAx>
      <c:valAx>
        <c:axId val="48672768"/>
        <c:scaling>
          <c:orientation val="minMax"/>
          <c:max val="100"/>
          <c:min val="0"/>
        </c:scaling>
        <c:delete val="0"/>
        <c:axPos val="l"/>
        <c:majorGridlines>
          <c:spPr>
            <a:ln xmlns:a="http://schemas.openxmlformats.org/drawingml/2006/main" w="9525">
              <a:solidFill>
                <a:srgbClr val="DCE5EE"/>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58A"/>
                </a:solidFill>
                <a:latin typeface="Liberation Sans"/>
                <a:ea typeface="Liberation Sans"/>
                <a:cs typeface="Liberation Sans"/>
              </a:defRPr>
            </a:pPr>
          </a:p>
        </c:txPr>
        <c:crossAx val="48650112"/>
        <c:crossBetween val="between"/>
        <c:majorUnit val="25"/>
      </c:valAx>
      <c:spPr>
        <a:solidFill xmlns:a="http://schemas.openxmlformats.org/drawingml/2006/main">
          <a:srgbClr val="FFFFFF"/>
        </a:solidFill>
      </c:spPr>
    </c:plotArea>
    <c:plotVisOnly val="1"/>
    <c:dispBlanksAs val="gap"/>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6EC8DF7-083D-4AF0-A283-ED69F45C11B0}"/>
              </a:ext>
            </a:extLst>
          </p:cNvPr>
          <p:cNvSpPr>
            <a:spLocks xmlns:a="http://schemas.openxmlformats.org/drawingml/2006/main" noGrp="1"/>
          </p:cNvSpPr>
          <p:nvPr/>
        </p:nvSpPr>
        <p:spPr>
          <a:xfrm xmlns:a="http://schemas.openxmlformats.org/drawingml/2006/main">
            <a:off x="457200" y="323850"/>
            <a:ext cx="1432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324F"/>
                </a:solidFill>
                <a:latin typeface="Liberation Sans"/>
                <a:ea typeface="Liberation Sans"/>
                <a:cs typeface="Liberation Sans"/>
              </a:defRPr>
            </a:defPPr>
          </a:lstStyle>
          <a:p xmlns:a="http://schemas.openxmlformats.org/drawingml/2006/main">
            <a:pPr algn="l">
              <a:buNone/>
              <a:defRPr sz="3225" b="1">
                <a:solidFill>
                  <a:srgbClr val="18324F"/>
                </a:solidFill>
                <a:latin typeface="Liberation Sans"/>
                <a:ea typeface="Liberation Sans"/>
                <a:cs typeface="Liberation Sans"/>
              </a:defRPr>
            </a:pPr>
            <a:r>
              <a:rPr sz="3225" b="1">
                <a:solidFill>
                  <a:srgbClr val="18324F"/>
                </a:solidFill>
                <a:latin typeface="Liberation Sans"/>
                <a:ea typeface="Liberation Sans"/>
                <a:cs typeface="Liberation Sans"/>
              </a:rPr>
              <a:t>Projelerimin haftalık özeti</a:t>
            </a:r>
          </a:p>
        </p:txBody>
      </p:sp>
      <p:sp>
        <p:nvSpPr>
          <p:cNvPr id="2" name="manager-report">
            <a:extLst xmlns:a="http://schemas.openxmlformats.org/drawingml/2006/main">
              <a:ext uri="{FF2B5EF4-FFF2-40B4-BE49-F238E27FC236}">
                <a16:creationId xmlns:a16="http://schemas.microsoft.com/office/drawing/2014/main" id="{8ECC98E4-042F-4B60-ACA0-75CDF95A4D03}"/>
              </a:ext>
            </a:extLst>
          </p:cNvPr>
          <p:cNvSpPr>
            <a:spLocks xmlns:a="http://schemas.openxmlformats.org/drawingml/2006/main" noGrp="1"/>
          </p:cNvSpPr>
          <p:nvPr/>
        </p:nvSpPr>
        <p:spPr>
          <a:xfrm xmlns:a="http://schemas.openxmlformats.org/drawingml/2006/main">
            <a:off x="457200" y="952500"/>
            <a:ext cx="1143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61758A"/>
                </a:solidFill>
                <a:latin typeface="Liberation Sans"/>
                <a:ea typeface="Liberation Sans"/>
                <a:cs typeface="Liberation Sans"/>
              </a:defRPr>
            </a:defPPr>
          </a:lstStyle>
          <a:p xmlns:a="http://schemas.openxmlformats.org/drawingml/2006/main">
            <a:pPr algn="l">
              <a:buNone/>
              <a:defRPr sz="1875" b="0">
                <a:solidFill>
                  <a:srgbClr val="61758A"/>
                </a:solidFill>
                <a:latin typeface="Liberation Sans"/>
                <a:ea typeface="Liberation Sans"/>
                <a:cs typeface="Liberation Sans"/>
              </a:defRPr>
            </a:pPr>
            <a:r>
              <a:rPr sz="1875" b="0">
                <a:solidFill>
                  <a:srgbClr val="61758A"/>
                </a:solidFill>
                <a:latin typeface="Liberation Sans"/>
                <a:ea typeface="Liberation Sans"/>
                <a:cs typeface="Liberation Sans"/>
              </a:rPr>
              <a:t>Ayşe Yılmaz   /   15 Ekim 2026   /   Örnek portföy</a:t>
            </a:r>
          </a:p>
        </p:txBody>
      </p:sp>
      <p:sp>
        <p:nvSpPr>
          <p:cNvPr id="3" name="page">
            <a:extLst xmlns:a="http://schemas.openxmlformats.org/drawingml/2006/main">
              <a:ext uri="{FF2B5EF4-FFF2-40B4-BE49-F238E27FC236}">
                <a16:creationId xmlns:a16="http://schemas.microsoft.com/office/drawing/2014/main" id="{4DF1B1E1-9F01-4470-AE81-2AAC9200FD64}"/>
              </a:ext>
            </a:extLst>
          </p:cNvPr>
          <p:cNvSpPr>
            <a:spLocks xmlns:a="http://schemas.openxmlformats.org/drawingml/2006/main" noGrp="1"/>
          </p:cNvSpPr>
          <p:nvPr/>
        </p:nvSpPr>
        <p:spPr>
          <a:xfrm xmlns:a="http://schemas.openxmlformats.org/drawingml/2006/main">
            <a:off x="13811250" y="952500"/>
            <a:ext cx="971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58A"/>
                </a:solidFill>
                <a:latin typeface="Liberation Sans"/>
                <a:ea typeface="Liberation Sans"/>
                <a:cs typeface="Liberation Sans"/>
              </a:defRPr>
            </a:defPPr>
          </a:lstStyle>
          <a:p xmlns:a="http://schemas.openxmlformats.org/drawingml/2006/main">
            <a:pPr algn="l">
              <a:buNone/>
              <a:defRPr sz="1725" b="0">
                <a:solidFill>
                  <a:srgbClr val="61758A"/>
                </a:solidFill>
                <a:latin typeface="Liberation Sans"/>
                <a:ea typeface="Liberation Sans"/>
                <a:cs typeface="Liberation Sans"/>
              </a:defRPr>
            </a:pPr>
            <a:r>
              <a:rPr sz="1725" b="0">
                <a:solidFill>
                  <a:srgbClr val="61758A"/>
                </a:solidFill>
                <a:latin typeface="Liberation Sans"/>
                <a:ea typeface="Liberation Sans"/>
                <a:cs typeface="Liberation Sans"/>
              </a:rPr>
              <a:t>1 / 2</a:t>
            </a:r>
          </a:p>
        </p:txBody>
      </p:sp>
      <p:graphicFrame>
        <p:nvGraphicFramePr>
          <p:cNvPr id="5" name="">
            <a:extLst xmlns:a="http://schemas.openxmlformats.org/drawingml/2006/main">
              <a:ext uri="{FF2B5EF4-FFF2-40B4-BE49-F238E27FC236}">
                <a16:creationId xmlns:a16="http://schemas.microsoft.com/office/drawing/2014/main" id="{7C7AAB2F-39CF-4A26-B230-80F435EB0952}"/>
              </a:ext>
            </a:extLst>
          </p:cNvPr>
          <p:cNvGraphicFramePr/>
          <p:nvPr/>
        </p:nvGraphicFramePr>
        <p:xfrm>
          <a:off xmlns:a="http://schemas.openxmlformats.org/drawingml/2006/main" x="457200" y="3524250"/>
          <a:ext xmlns:a="http://schemas.openxmlformats.org/drawingml/2006/main" cx="14325600" cy="2628900"/>
        </p:xfrm>
        <a:graphic xmlns:a="http://schemas.openxmlformats.org/drawingml/2006/main">
          <a:graphicData uri="http://schemas.openxmlformats.org/drawingml/2006/table">
            <a:tbl>
              <a:tblPr firstRow="0" bandRow="0"/>
              <a:tblGrid>
                <a:gridCol w="2667000"/>
                <a:gridCol w="1809750"/>
                <a:gridCol w="2190750"/>
                <a:gridCol w="1714500"/>
                <a:gridCol w="3714750"/>
                <a:gridCol w="2228850"/>
              </a:tblGrid>
              <a:tr h="571500">
                <a:tc>
                  <a:txBody>
                    <a:bodyPr wrap="square" anchor="ctr">
                      <a:noAutofit/>
                    </a:bodyPr>
                    <a:lstStyle/>
                    <a:p>
                      <a:pPr algn="l">
                        <a:buNone/>
                      </a:pPr>
                      <a:r>
                        <a:rPr sz="1650" b="1">
                          <a:solidFill>
                            <a:srgbClr val="FFFFFF"/>
                          </a:solidFill>
                          <a:latin typeface="Liberation Sans"/>
                          <a:ea typeface="Liberation Sans"/>
                          <a:cs typeface="Liberation Sans"/>
                        </a:rPr>
                        <a:t>Proje / aşama</a:t>
                      </a:r>
                    </a:p>
                  </a:txBody>
                  <a:tcPr marL="114300" marR="95250" marT="47625" marB="4762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İlerleme</a:t>
                      </a:r>
                    </a:p>
                    <a:p>
                      <a:pPr algn="l">
                        <a:buNone/>
                      </a:pPr>
                      <a:r>
                        <a:rPr sz="1650" b="1">
                          <a:solidFill>
                            <a:srgbClr val="FFFFFF"/>
                          </a:solidFill>
                          <a:latin typeface="Liberation Sans"/>
                          <a:ea typeface="Liberation Sans"/>
                          <a:cs typeface="Liberation Sans"/>
                        </a:rPr>
                        <a:t>gerçek / plan</a:t>
                      </a:r>
                    </a:p>
                  </a:txBody>
                  <a:tcPr marL="114300" marR="95250" marT="47625" marB="4762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Takvim</a:t>
                      </a:r>
                    </a:p>
                    <a:p>
                      <a:pPr algn="l">
                        <a:buNone/>
                      </a:pPr>
                      <a:r>
                        <a:rPr sz="1650" b="1">
                          <a:solidFill>
                            <a:srgbClr val="FFFFFF"/>
                          </a:solidFill>
                          <a:latin typeface="Liberation Sans"/>
                          <a:ea typeface="Liberation Sans"/>
                          <a:cs typeface="Liberation Sans"/>
                        </a:rPr>
                        <a:t>plan / güncel</a:t>
                      </a:r>
                    </a:p>
                  </a:txBody>
                  <a:tcPr marL="114300" marR="95250" marT="47625" marB="4762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Efor</a:t>
                      </a:r>
                    </a:p>
                    <a:p>
                      <a:pPr algn="l">
                        <a:buNone/>
                      </a:pPr>
                      <a:r>
                        <a:rPr sz="1650" b="1">
                          <a:solidFill>
                            <a:srgbClr val="FFFFFF"/>
                          </a:solidFill>
                          <a:latin typeface="Liberation Sans"/>
                          <a:ea typeface="Liberation Sans"/>
                          <a:cs typeface="Liberation Sans"/>
                        </a:rPr>
                        <a:t>kişi / saat</a:t>
                      </a:r>
                    </a:p>
                  </a:txBody>
                  <a:tcPr marL="114300" marR="95250" marT="47625" marB="4762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Birimlere göre efor</a:t>
                      </a:r>
                    </a:p>
                    <a:p>
                      <a:pPr algn="l">
                        <a:buNone/>
                      </a:pPr>
                      <a:r>
                        <a:rPr sz="1650" b="1">
                          <a:solidFill>
                            <a:srgbClr val="FFFFFF"/>
                          </a:solidFill>
                          <a:latin typeface="Liberation Sans"/>
                          <a:ea typeface="Liberation Sans"/>
                          <a:cs typeface="Liberation Sans"/>
                        </a:rPr>
                        <a:t>(saat)</a:t>
                      </a:r>
                    </a:p>
                  </a:txBody>
                  <a:tcPr marL="114300" marR="95250" marT="47625" marB="4762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Risk</a:t>
                      </a:r>
                    </a:p>
                  </a:txBody>
                  <a:tcPr marL="114300" marR="95250" marT="47625" marB="47625" anchor="ctr">
                    <a:solidFill>
                      <a:srgbClr val="18324F"/>
                    </a:solidFill>
                  </a:tcPr>
                </a:tc>
              </a:tr>
              <a:tr h="685800">
                <a:tc>
                  <a:txBody>
                    <a:bodyPr wrap="square" anchor="ctr">
                      <a:noAutofit/>
                    </a:bodyPr>
                    <a:lstStyle/>
                    <a:p>
                      <a:pPr algn="l">
                        <a:buNone/>
                      </a:pPr>
                      <a:r>
                        <a:rPr sz="1875" b="1">
                          <a:solidFill>
                            <a:srgbClr val="26394D"/>
                          </a:solidFill>
                          <a:latin typeface="Liberation Sans"/>
                          <a:ea typeface="Liberation Sans"/>
                          <a:cs typeface="Liberation Sans"/>
                        </a:rPr>
                        <a:t>Üretim Hattı</a:t>
                      </a:r>
                    </a:p>
                    <a:p>
                      <a:pPr algn="l">
                        <a:buNone/>
                      </a:pPr>
                      <a:r>
                        <a:rPr sz="1875" b="1">
                          <a:solidFill>
                            <a:srgbClr val="26394D"/>
                          </a:solidFill>
                          <a:latin typeface="Liberation Sans"/>
                          <a:ea typeface="Liberation Sans"/>
                          <a:cs typeface="Liberation Sans"/>
                        </a:rPr>
                        <a:t>Tedarik / saha</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30,0%</a:t>
                      </a:r>
                    </a:p>
                    <a:p>
                      <a:pPr algn="l">
                        <a:buNone/>
                      </a:pPr>
                      <a:r>
                        <a:rPr sz="1875" b="0">
                          <a:solidFill>
                            <a:srgbClr val="26394D"/>
                          </a:solidFill>
                          <a:latin typeface="Liberation Sans"/>
                          <a:ea typeface="Liberation Sans"/>
                          <a:cs typeface="Liberation Sans"/>
                        </a:rPr>
                        <a:t>Plan 57,6%</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Plan 04.12</a:t>
                      </a:r>
                    </a:p>
                    <a:p>
                      <a:pPr algn="l">
                        <a:buNone/>
                      </a:pPr>
                      <a:r>
                        <a:rPr sz="1875" b="0">
                          <a:solidFill>
                            <a:srgbClr val="26394D"/>
                          </a:solidFill>
                          <a:latin typeface="Liberation Sans"/>
                          <a:ea typeface="Liberation Sans"/>
                          <a:cs typeface="Liberation Sans"/>
                        </a:rPr>
                        <a:t>11.12 (+7 gün)</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5 kişi</a:t>
                      </a:r>
                    </a:p>
                    <a:p>
                      <a:pPr algn="l">
                        <a:buNone/>
                      </a:pPr>
                      <a:r>
                        <a:rPr sz="1875" b="0">
                          <a:solidFill>
                            <a:srgbClr val="26394D"/>
                          </a:solidFill>
                          <a:latin typeface="Liberation Sans"/>
                          <a:ea typeface="Liberation Sans"/>
                          <a:cs typeface="Liberation Sans"/>
                        </a:rPr>
                        <a:t>648 saat</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Müh. 110 / Ürt. 127 / SA 144</a:t>
                      </a:r>
                    </a:p>
                    <a:p>
                      <a:pPr algn="l">
                        <a:buNone/>
                      </a:pPr>
                      <a:r>
                        <a:rPr sz="1875" b="0">
                          <a:solidFill>
                            <a:srgbClr val="26394D"/>
                          </a:solidFill>
                          <a:latin typeface="Liberation Sans"/>
                          <a:ea typeface="Liberation Sans"/>
                          <a:cs typeface="Liberation Sans"/>
                        </a:rPr>
                        <a:t>Klt. 155 / PY 112</a:t>
                      </a:r>
                    </a:p>
                  </a:txBody>
                  <a:tcPr marL="114300" marR="95250" marT="47625" marB="47625" anchor="ctr">
                    <a:solidFill>
                      <a:srgbClr val="FFFFFF"/>
                    </a:solidFill>
                  </a:tcPr>
                </a:tc>
                <a:tc>
                  <a:txBody>
                    <a:bodyPr wrap="square" anchor="ctr">
                      <a:noAutofit/>
                    </a:bodyPr>
                    <a:lstStyle/>
                    <a:p>
                      <a:pPr algn="l">
                        <a:buNone/>
                      </a:pPr>
                      <a:r>
                        <a:rPr sz="1950" b="1">
                          <a:solidFill>
                            <a:srgbClr val="C23C4B"/>
                          </a:solidFill>
                          <a:latin typeface="Liberation Sans"/>
                          <a:ea typeface="Liberation Sans"/>
                          <a:cs typeface="Liberation Sans"/>
                        </a:rPr>
                        <a:t>Yüksek</a:t>
                      </a:r>
                    </a:p>
                  </a:txBody>
                  <a:tcPr marL="114300" marR="95250" marT="47625" marB="47625" anchor="ctr">
                    <a:solidFill>
                      <a:srgbClr val="FCE8EC"/>
                    </a:solidFill>
                  </a:tcPr>
                </a:tc>
              </a:tr>
              <a:tr h="685800">
                <a:tc>
                  <a:txBody>
                    <a:bodyPr wrap="square" anchor="ctr">
                      <a:noAutofit/>
                    </a:bodyPr>
                    <a:lstStyle/>
                    <a:p>
                      <a:pPr algn="l">
                        <a:buNone/>
                      </a:pPr>
                      <a:r>
                        <a:rPr sz="1875" b="1">
                          <a:solidFill>
                            <a:srgbClr val="26394D"/>
                          </a:solidFill>
                          <a:latin typeface="Liberation Sans"/>
                          <a:ea typeface="Liberation Sans"/>
                          <a:cs typeface="Liberation Sans"/>
                        </a:rPr>
                        <a:t>Müşteri Portalı</a:t>
                      </a:r>
                    </a:p>
                    <a:p>
                      <a:pPr algn="l">
                        <a:buNone/>
                      </a:pPr>
                      <a:r>
                        <a:rPr sz="1875" b="1">
                          <a:solidFill>
                            <a:srgbClr val="26394D"/>
                          </a:solidFill>
                          <a:latin typeface="Liberation Sans"/>
                          <a:ea typeface="Liberation Sans"/>
                          <a:cs typeface="Liberation Sans"/>
                        </a:rPr>
                        <a:t>Geliştirme</a:t>
                      </a:r>
                    </a:p>
                  </a:txBody>
                  <a:tcPr marL="114300" marR="95250" marT="47625" marB="47625"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47,5%</a:t>
                      </a:r>
                    </a:p>
                    <a:p>
                      <a:pPr algn="l">
                        <a:buNone/>
                      </a:pPr>
                      <a:r>
                        <a:rPr sz="1875" b="0">
                          <a:solidFill>
                            <a:srgbClr val="26394D"/>
                          </a:solidFill>
                          <a:latin typeface="Liberation Sans"/>
                          <a:ea typeface="Liberation Sans"/>
                          <a:cs typeface="Liberation Sans"/>
                        </a:rPr>
                        <a:t>Plan 44,8%</a:t>
                      </a:r>
                    </a:p>
                  </a:txBody>
                  <a:tcPr marL="114300" marR="95250" marT="47625" marB="47625"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Plan 27.11</a:t>
                      </a:r>
                    </a:p>
                    <a:p>
                      <a:pPr algn="l">
                        <a:buNone/>
                      </a:pPr>
                      <a:r>
                        <a:rPr sz="1875" b="0">
                          <a:solidFill>
                            <a:srgbClr val="26394D"/>
                          </a:solidFill>
                          <a:latin typeface="Liberation Sans"/>
                          <a:ea typeface="Liberation Sans"/>
                          <a:cs typeface="Liberation Sans"/>
                        </a:rPr>
                        <a:t>27.11 (planında)</a:t>
                      </a:r>
                    </a:p>
                  </a:txBody>
                  <a:tcPr marL="114300" marR="95250" marT="47625" marB="47625"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4 kişi</a:t>
                      </a:r>
                    </a:p>
                    <a:p>
                      <a:pPr algn="l">
                        <a:buNone/>
                      </a:pPr>
                      <a:r>
                        <a:rPr sz="1875" b="0">
                          <a:solidFill>
                            <a:srgbClr val="26394D"/>
                          </a:solidFill>
                          <a:latin typeface="Liberation Sans"/>
                          <a:ea typeface="Liberation Sans"/>
                          <a:cs typeface="Liberation Sans"/>
                        </a:rPr>
                        <a:t>536 saat</a:t>
                      </a:r>
                    </a:p>
                  </a:txBody>
                  <a:tcPr marL="114300" marR="95250" marT="47625" marB="47625"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BT 269 / Klt. 155 / PY 112</a:t>
                      </a:r>
                    </a:p>
                  </a:txBody>
                  <a:tcPr marL="114300" marR="95250" marT="47625" marB="47625" anchor="ctr">
                    <a:solidFill>
                      <a:srgbClr val="F2F6FB"/>
                    </a:solidFill>
                  </a:tcPr>
                </a:tc>
                <a:tc>
                  <a:txBody>
                    <a:bodyPr wrap="square" anchor="ctr">
                      <a:noAutofit/>
                    </a:bodyPr>
                    <a:lstStyle/>
                    <a:p>
                      <a:pPr algn="l">
                        <a:buNone/>
                      </a:pPr>
                      <a:r>
                        <a:rPr sz="1950" b="1">
                          <a:solidFill>
                            <a:srgbClr val="D97706"/>
                          </a:solidFill>
                          <a:latin typeface="Liberation Sans"/>
                          <a:ea typeface="Liberation Sans"/>
                          <a:cs typeface="Liberation Sans"/>
                        </a:rPr>
                        <a:t>Orta</a:t>
                      </a:r>
                    </a:p>
                  </a:txBody>
                  <a:tcPr marL="114300" marR="95250" marT="47625" marB="47625" anchor="ctr">
                    <a:solidFill>
                      <a:srgbClr val="FFF0CD"/>
                    </a:solidFill>
                  </a:tcPr>
                </a:tc>
              </a:tr>
              <a:tr h="685800">
                <a:tc>
                  <a:txBody>
                    <a:bodyPr wrap="square" anchor="ctr">
                      <a:noAutofit/>
                    </a:bodyPr>
                    <a:lstStyle/>
                    <a:p>
                      <a:pPr algn="l">
                        <a:buNone/>
                      </a:pPr>
                      <a:r>
                        <a:rPr sz="1875" b="1">
                          <a:solidFill>
                            <a:srgbClr val="26394D"/>
                          </a:solidFill>
                          <a:latin typeface="Liberation Sans"/>
                          <a:ea typeface="Liberation Sans"/>
                          <a:cs typeface="Liberation Sans"/>
                        </a:rPr>
                        <a:t>Depo Otomasyonu</a:t>
                      </a:r>
                    </a:p>
                    <a:p>
                      <a:pPr algn="l">
                        <a:buNone/>
                      </a:pPr>
                      <a:r>
                        <a:rPr sz="1875" b="1">
                          <a:solidFill>
                            <a:srgbClr val="26394D"/>
                          </a:solidFill>
                          <a:latin typeface="Liberation Sans"/>
                          <a:ea typeface="Liberation Sans"/>
                          <a:cs typeface="Liberation Sans"/>
                        </a:rPr>
                        <a:t>Donanım / yazılım</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52,0%</a:t>
                      </a:r>
                    </a:p>
                    <a:p>
                      <a:pPr algn="l">
                        <a:buNone/>
                      </a:pPr>
                      <a:r>
                        <a:rPr sz="1875" b="0">
                          <a:solidFill>
                            <a:srgbClr val="26394D"/>
                          </a:solidFill>
                          <a:latin typeface="Liberation Sans"/>
                          <a:ea typeface="Liberation Sans"/>
                          <a:cs typeface="Liberation Sans"/>
                        </a:rPr>
                        <a:t>Plan 63,8%</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Plan 20.11</a:t>
                      </a:r>
                    </a:p>
                    <a:p>
                      <a:pPr algn="l">
                        <a:buNone/>
                      </a:pPr>
                      <a:r>
                        <a:rPr sz="1875" b="0">
                          <a:solidFill>
                            <a:srgbClr val="26394D"/>
                          </a:solidFill>
                          <a:latin typeface="Liberation Sans"/>
                          <a:ea typeface="Liberation Sans"/>
                          <a:cs typeface="Liberation Sans"/>
                        </a:rPr>
                        <a:t>04.12 (+14 gün)</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6 kişi</a:t>
                      </a:r>
                    </a:p>
                    <a:p>
                      <a:pPr algn="l">
                        <a:buNone/>
                      </a:pPr>
                      <a:r>
                        <a:rPr sz="1875" b="0">
                          <a:solidFill>
                            <a:srgbClr val="26394D"/>
                          </a:solidFill>
                          <a:latin typeface="Liberation Sans"/>
                          <a:ea typeface="Liberation Sans"/>
                          <a:cs typeface="Liberation Sans"/>
                        </a:rPr>
                        <a:t>811 saat</a:t>
                      </a:r>
                    </a:p>
                  </a:txBody>
                  <a:tcPr marL="114300" marR="95250" marT="47625" marB="47625"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Müh. 157 / Ürt. 114 / SA 144</a:t>
                      </a:r>
                    </a:p>
                    <a:p>
                      <a:pPr algn="l">
                        <a:buNone/>
                      </a:pPr>
                      <a:r>
                        <a:rPr sz="1875" b="0">
                          <a:solidFill>
                            <a:srgbClr val="26394D"/>
                          </a:solidFill>
                          <a:latin typeface="Liberation Sans"/>
                          <a:ea typeface="Liberation Sans"/>
                          <a:cs typeface="Liberation Sans"/>
                        </a:rPr>
                        <a:t>Klt. 155 / PY 112 / BT 129</a:t>
                      </a:r>
                    </a:p>
                  </a:txBody>
                  <a:tcPr marL="114300" marR="95250" marT="47625" marB="47625" anchor="ctr">
                    <a:solidFill>
                      <a:srgbClr val="FFFFFF"/>
                    </a:solidFill>
                  </a:tcPr>
                </a:tc>
                <a:tc>
                  <a:txBody>
                    <a:bodyPr wrap="square" anchor="ctr">
                      <a:noAutofit/>
                    </a:bodyPr>
                    <a:lstStyle/>
                    <a:p>
                      <a:pPr algn="l">
                        <a:buNone/>
                      </a:pPr>
                      <a:r>
                        <a:rPr sz="1950" b="1">
                          <a:solidFill>
                            <a:srgbClr val="C23C4B"/>
                          </a:solidFill>
                          <a:latin typeface="Liberation Sans"/>
                          <a:ea typeface="Liberation Sans"/>
                          <a:cs typeface="Liberation Sans"/>
                        </a:rPr>
                        <a:t>Yüksek</a:t>
                      </a:r>
                    </a:p>
                  </a:txBody>
                  <a:tcPr marL="114300" marR="95250" marT="47625" marB="47625" anchor="ctr">
                    <a:solidFill>
                      <a:srgbClr val="FCE8EC"/>
                    </a:solidFill>
                  </a:tcPr>
                </a:tc>
              </a:tr>
            </a:tbl>
          </a:graphicData>
        </a:graphic>
      </p:graphicFrame>
      <p:sp>
        <p:nvSpPr>
          <p:cNvPr id="6" name="finance-heading">
            <a:extLst xmlns:a="http://schemas.openxmlformats.org/drawingml/2006/main">
              <a:ext uri="{FF2B5EF4-FFF2-40B4-BE49-F238E27FC236}">
                <a16:creationId xmlns:a16="http://schemas.microsoft.com/office/drawing/2014/main" id="{0DEFC2CB-DCBF-4924-897C-121E83990E34}"/>
              </a:ext>
            </a:extLst>
          </p:cNvPr>
          <p:cNvSpPr>
            <a:spLocks xmlns:a="http://schemas.openxmlformats.org/drawingml/2006/main" noGrp="1"/>
          </p:cNvSpPr>
          <p:nvPr/>
        </p:nvSpPr>
        <p:spPr>
          <a:xfrm xmlns:a="http://schemas.openxmlformats.org/drawingml/2006/main">
            <a:off x="457200" y="6191250"/>
            <a:ext cx="1432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0D9488"/>
                </a:solidFill>
                <a:latin typeface="Liberation Sans"/>
                <a:ea typeface="Liberation Sans"/>
                <a:cs typeface="Liberation Sans"/>
              </a:defRPr>
            </a:defPPr>
          </a:lstStyle>
          <a:p xmlns:a="http://schemas.openxmlformats.org/drawingml/2006/main">
            <a:pPr algn="l">
              <a:buNone/>
              <a:defRPr sz="1875" b="1">
                <a:solidFill>
                  <a:srgbClr val="0D9488"/>
                </a:solidFill>
                <a:latin typeface="Liberation Sans"/>
                <a:ea typeface="Liberation Sans"/>
                <a:cs typeface="Liberation Sans"/>
              </a:defRPr>
            </a:pPr>
            <a:r>
              <a:rPr sz="1875" b="1">
                <a:solidFill>
                  <a:srgbClr val="0D9488"/>
                </a:solidFill>
                <a:latin typeface="Liberation Sans"/>
                <a:ea typeface="Liberation Sans"/>
                <a:cs typeface="Liberation Sans"/>
              </a:rPr>
              <a:t>Maliyet ve bütçe (bin TL, KDV hariç)</a:t>
            </a:r>
          </a:p>
        </p:txBody>
      </p:sp>
      <p:graphicFrame>
        <p:nvGraphicFramePr>
          <p:cNvPr id="7" name="">
            <a:extLst xmlns:a="http://schemas.openxmlformats.org/drawingml/2006/main">
              <a:ext uri="{FF2B5EF4-FFF2-40B4-BE49-F238E27FC236}">
                <a16:creationId xmlns:a16="http://schemas.microsoft.com/office/drawing/2014/main" id="{1F95B819-B4D1-42C6-A402-E8EADDF2091B}"/>
              </a:ext>
            </a:extLst>
          </p:cNvPr>
          <p:cNvGraphicFramePr/>
          <p:nvPr/>
        </p:nvGraphicFramePr>
        <p:xfrm>
          <a:off xmlns:a="http://schemas.openxmlformats.org/drawingml/2006/main" x="457200" y="6572250"/>
          <a:ext xmlns:a="http://schemas.openxmlformats.org/drawingml/2006/main" cx="14325600" cy="1714500"/>
        </p:xfrm>
        <a:graphic xmlns:a="http://schemas.openxmlformats.org/drawingml/2006/main">
          <a:graphicData uri="http://schemas.openxmlformats.org/drawingml/2006/table">
            <a:tbl>
              <a:tblPr firstRow="0" bandRow="0"/>
              <a:tblGrid>
                <a:gridCol w="2667000"/>
                <a:gridCol w="1619250"/>
                <a:gridCol w="1619250"/>
                <a:gridCol w="1619250"/>
                <a:gridCol w="1619250"/>
                <a:gridCol w="1714500"/>
                <a:gridCol w="1524000"/>
                <a:gridCol w="1943100"/>
              </a:tblGrid>
              <a:tr h="571500">
                <a:tc>
                  <a:txBody>
                    <a:bodyPr wrap="square" anchor="ctr">
                      <a:noAutofit/>
                    </a:bodyPr>
                    <a:lstStyle/>
                    <a:p>
                      <a:pPr algn="l">
                        <a:buNone/>
                      </a:pPr>
                      <a:r>
                        <a:rPr sz="1650" b="1">
                          <a:solidFill>
                            <a:srgbClr val="FFFFFF"/>
                          </a:solidFill>
                          <a:latin typeface="Liberation Sans"/>
                          <a:ea typeface="Liberation Sans"/>
                          <a:cs typeface="Liberation Sans"/>
                        </a:rPr>
                        <a:t>Proje</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Gerçek</a:t>
                      </a:r>
                    </a:p>
                    <a:p>
                      <a:pPr algn="l">
                        <a:buNone/>
                      </a:pPr>
                      <a:r>
                        <a:rPr sz="1650" b="1">
                          <a:solidFill>
                            <a:srgbClr val="FFFFFF"/>
                          </a:solidFill>
                          <a:latin typeface="Liberation Sans"/>
                          <a:ea typeface="Liberation Sans"/>
                          <a:cs typeface="Liberation Sans"/>
                        </a:rPr>
                        <a:t>efor</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Gerçek</a:t>
                      </a:r>
                    </a:p>
                    <a:p>
                      <a:pPr algn="l">
                        <a:buNone/>
                      </a:pPr>
                      <a:r>
                        <a:rPr sz="1650" b="1">
                          <a:solidFill>
                            <a:srgbClr val="FFFFFF"/>
                          </a:solidFill>
                          <a:latin typeface="Liberation Sans"/>
                          <a:ea typeface="Liberation Sans"/>
                          <a:cs typeface="Liberation Sans"/>
                        </a:rPr>
                        <a:t>alım</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Kalan</a:t>
                      </a:r>
                    </a:p>
                    <a:p>
                      <a:pPr algn="l">
                        <a:buNone/>
                      </a:pPr>
                      <a:r>
                        <a:rPr sz="1650" b="1">
                          <a:solidFill>
                            <a:srgbClr val="FFFFFF"/>
                          </a:solidFill>
                          <a:latin typeface="Liberation Sans"/>
                          <a:ea typeface="Liberation Sans"/>
                          <a:cs typeface="Liberation Sans"/>
                        </a:rPr>
                        <a:t>efor</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Kalan</a:t>
                      </a:r>
                    </a:p>
                    <a:p>
                      <a:pPr algn="l">
                        <a:buNone/>
                      </a:pPr>
                      <a:r>
                        <a:rPr sz="1650" b="1">
                          <a:solidFill>
                            <a:srgbClr val="FFFFFF"/>
                          </a:solidFill>
                          <a:latin typeface="Liberation Sans"/>
                          <a:ea typeface="Liberation Sans"/>
                          <a:cs typeface="Liberation Sans"/>
                        </a:rPr>
                        <a:t>alım</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Tahmini</a:t>
                      </a:r>
                    </a:p>
                    <a:p>
                      <a:pPr algn="l">
                        <a:buNone/>
                      </a:pPr>
                      <a:r>
                        <a:rPr sz="1650" b="1">
                          <a:solidFill>
                            <a:srgbClr val="FFFFFF"/>
                          </a:solidFill>
                          <a:latin typeface="Liberation Sans"/>
                          <a:ea typeface="Liberation Sans"/>
                          <a:cs typeface="Liberation Sans"/>
                        </a:rPr>
                        <a:t>toplam</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Bütçe</a:t>
                      </a:r>
                    </a:p>
                  </a:txBody>
                  <a:tcPr marL="114300" marR="95250" marT="47625" marB="47625" anchor="ctr">
                    <a:solidFill>
                      <a:srgbClr val="0D9488"/>
                    </a:solidFill>
                  </a:tcPr>
                </a:tc>
                <a:tc>
                  <a:txBody>
                    <a:bodyPr wrap="square" anchor="ctr">
                      <a:noAutofit/>
                    </a:bodyPr>
                    <a:lstStyle/>
                    <a:p>
                      <a:pPr algn="l">
                        <a:buNone/>
                      </a:pPr>
                      <a:r>
                        <a:rPr sz="1650" b="1">
                          <a:solidFill>
                            <a:srgbClr val="FFFFFF"/>
                          </a:solidFill>
                          <a:latin typeface="Liberation Sans"/>
                          <a:ea typeface="Liberation Sans"/>
                          <a:cs typeface="Liberation Sans"/>
                        </a:rPr>
                        <a:t>Bütçe</a:t>
                      </a:r>
                    </a:p>
                    <a:p>
                      <a:pPr algn="l">
                        <a:buNone/>
                      </a:pPr>
                      <a:r>
                        <a:rPr sz="1650" b="1">
                          <a:solidFill>
                            <a:srgbClr val="FFFFFF"/>
                          </a:solidFill>
                          <a:latin typeface="Liberation Sans"/>
                          <a:ea typeface="Liberation Sans"/>
                          <a:cs typeface="Liberation Sans"/>
                        </a:rPr>
                        <a:t>farkı</a:t>
                      </a:r>
                    </a:p>
                  </a:txBody>
                  <a:tcPr marL="114300" marR="95250" marT="47625" marB="47625" anchor="ctr">
                    <a:solidFill>
                      <a:srgbClr val="0D9488"/>
                    </a:solidFill>
                  </a:tcPr>
                </a:tc>
              </a:tr>
              <a:tr h="381000">
                <a:tc>
                  <a:txBody>
                    <a:bodyPr wrap="square" anchor="ctr">
                      <a:noAutofit/>
                    </a:bodyPr>
                    <a:lstStyle/>
                    <a:p>
                      <a:pPr algn="l">
                        <a:buNone/>
                      </a:pPr>
                      <a:r>
                        <a:rPr sz="1725" b="1">
                          <a:solidFill>
                            <a:srgbClr val="26394D"/>
                          </a:solidFill>
                          <a:latin typeface="Liberation Sans"/>
                          <a:ea typeface="Liberation Sans"/>
                          <a:cs typeface="Liberation Sans"/>
                        </a:rPr>
                        <a:t>Üretim Hattı</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526,4</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400,0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527,0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540,0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1.993,4</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2.200,0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206,6</a:t>
                      </a:r>
                    </a:p>
                  </a:txBody>
                  <a:tcPr marL="114300" marR="95250" marT="47625" marB="47625" anchor="ctr">
                    <a:solidFill>
                      <a:srgbClr val="FFFFFF"/>
                    </a:solidFill>
                  </a:tcPr>
                </a:tc>
              </a:tr>
              <a:tr h="381000">
                <a:tc>
                  <a:txBody>
                    <a:bodyPr wrap="square" anchor="ctr">
                      <a:noAutofit/>
                    </a:bodyPr>
                    <a:lstStyle/>
                    <a:p>
                      <a:pPr algn="l">
                        <a:buNone/>
                      </a:pPr>
                      <a:r>
                        <a:rPr sz="1725" b="1">
                          <a:solidFill>
                            <a:srgbClr val="26394D"/>
                          </a:solidFill>
                          <a:latin typeface="Liberation Sans"/>
                          <a:ea typeface="Liberation Sans"/>
                          <a:cs typeface="Liberation Sans"/>
                        </a:rPr>
                        <a:t>Müşteri Portalı</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484,6</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125,0</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396,0</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65,0</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1.070,6</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950,0</a:t>
                      </a:r>
                    </a:p>
                  </a:txBody>
                  <a:tcPr marL="114300" marR="95250" marT="47625" marB="47625" anchor="ctr">
                    <a:solidFill>
                      <a:srgbClr val="F2F6FB"/>
                    </a:solidFill>
                  </a:tcPr>
                </a:tc>
                <a:tc>
                  <a:txBody>
                    <a:bodyPr wrap="square" anchor="ctr">
                      <a:noAutofit/>
                    </a:bodyPr>
                    <a:lstStyle/>
                    <a:p>
                      <a:pPr algn="l">
                        <a:buNone/>
                      </a:pPr>
                      <a:r>
                        <a:rPr sz="1725" b="0">
                          <a:solidFill>
                            <a:srgbClr val="26394D"/>
                          </a:solidFill>
                          <a:latin typeface="Liberation Sans"/>
                          <a:ea typeface="Liberation Sans"/>
                          <a:cs typeface="Liberation Sans"/>
                        </a:rPr>
                        <a:t>-120,6</a:t>
                      </a:r>
                    </a:p>
                  </a:txBody>
                  <a:tcPr marL="114300" marR="95250" marT="47625" marB="47625" anchor="ctr">
                    <a:solidFill>
                      <a:srgbClr val="FCE8EC"/>
                    </a:solidFill>
                  </a:tcPr>
                </a:tc>
              </a:tr>
              <a:tr h="381000">
                <a:tc>
                  <a:txBody>
                    <a:bodyPr wrap="square" anchor="ctr">
                      <a:noAutofit/>
                    </a:bodyPr>
                    <a:lstStyle/>
                    <a:p>
                      <a:pPr algn="l">
                        <a:buNone/>
                      </a:pPr>
                      <a:r>
                        <a:rPr sz="1725" b="1">
                          <a:solidFill>
                            <a:srgbClr val="26394D"/>
                          </a:solidFill>
                          <a:latin typeface="Liberation Sans"/>
                          <a:ea typeface="Liberation Sans"/>
                          <a:cs typeface="Liberation Sans"/>
                        </a:rPr>
                        <a:t>Depo Otomasyonu</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679,8</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260,0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288,0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185,0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1.412,8</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1.450,0</a:t>
                      </a:r>
                    </a:p>
                  </a:txBody>
                  <a:tcPr marL="114300" marR="95250" marT="47625" marB="47625" anchor="ctr">
                    <a:solidFill>
                      <a:srgbClr val="FFFFFF"/>
                    </a:solidFill>
                  </a:tcPr>
                </a:tc>
                <a:tc>
                  <a:txBody>
                    <a:bodyPr wrap="square" anchor="ctr">
                      <a:noAutofit/>
                    </a:bodyPr>
                    <a:lstStyle/>
                    <a:p>
                      <a:pPr algn="l">
                        <a:buNone/>
                      </a:pPr>
                      <a:r>
                        <a:rPr sz="1725" b="0">
                          <a:solidFill>
                            <a:srgbClr val="26394D"/>
                          </a:solidFill>
                          <a:latin typeface="Liberation Sans"/>
                          <a:ea typeface="Liberation Sans"/>
                          <a:cs typeface="Liberation Sans"/>
                        </a:rPr>
                        <a:t>37,2</a:t>
                      </a:r>
                    </a:p>
                  </a:txBody>
                  <a:tcPr marL="114300" marR="95250" marT="47625" marB="47625" anchor="ctr">
                    <a:solidFill>
                      <a:srgbClr val="FFFFFF"/>
                    </a:solidFill>
                  </a:tcPr>
                </a:tc>
              </a:tr>
            </a:tbl>
          </a:graphicData>
        </a:graphic>
      </p:graphicFrame>
      <p:graphicFrame>
        <p:nvGraphicFramePr>
          <p:cNvPr id="9" name="Chart">
            <a:extLst xmlns:a="http://schemas.openxmlformats.org/drawingml/2006/main">
              <a:ext uri="{FF2B5EF4-FFF2-40B4-BE49-F238E27FC236}">
                <a16:creationId xmlns:a16="http://schemas.microsoft.com/office/drawing/2014/main" id="{9D84B420-4BFD-4DAE-93DC-AC8B1042F90D}"/>
              </a:ext>
            </a:extLst>
          </p:cNvPr>
          <p:cNvGraphicFramePr/>
          <p:nvPr/>
        </p:nvGraphicFramePr>
        <p:xfrm>
          <a:off xmlns:a="http://schemas.openxmlformats.org/drawingml/2006/main" x="457200" y="1409700"/>
          <a:ext xmlns:a="http://schemas.openxmlformats.org/drawingml/2006/main" cx="14325600" cy="2019300"/>
        </p:xfrm>
        <a:graphic xmlns:a="http://schemas.openxmlformats.org/drawingml/2006/main">
          <a:graphicData uri="http://schemas.openxmlformats.org/drawingml/2006/chart">
            <c:chart xmlns:r="http://schemas.openxmlformats.org/officeDocument/2006/relationships" xmlns:c="http://schemas.openxmlformats.org/drawingml/2006/chart" r:id="R77b36aa89cc648a5"/>
          </a:graphicData>
        </a:graphic>
      </p:graphicFrame>
    </p:spTree>
    <p:extLst>
      <p:ext uri="{BB962C8B-B14F-4D97-AF65-F5344CB8AC3E}">
        <p14:creationId xmlns:p14="http://schemas.microsoft.com/office/powerpoint/2010/main" val="6767011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8F82437-7439-46CF-BBC4-92DD0203EF3D}"/>
              </a:ext>
            </a:extLst>
          </p:cNvPr>
          <p:cNvSpPr>
            <a:spLocks xmlns:a="http://schemas.openxmlformats.org/drawingml/2006/main" noGrp="1"/>
          </p:cNvSpPr>
          <p:nvPr/>
        </p:nvSpPr>
        <p:spPr>
          <a:xfrm xmlns:a="http://schemas.openxmlformats.org/drawingml/2006/main">
            <a:off x="457200" y="323850"/>
            <a:ext cx="1432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324F"/>
                </a:solidFill>
                <a:latin typeface="Liberation Sans"/>
                <a:ea typeface="Liberation Sans"/>
                <a:cs typeface="Liberation Sans"/>
              </a:defRPr>
            </a:defPPr>
          </a:lstStyle>
          <a:p xmlns:a="http://schemas.openxmlformats.org/drawingml/2006/main">
            <a:pPr algn="l">
              <a:buNone/>
              <a:defRPr sz="3225" b="1">
                <a:solidFill>
                  <a:srgbClr val="18324F"/>
                </a:solidFill>
                <a:latin typeface="Liberation Sans"/>
                <a:ea typeface="Liberation Sans"/>
                <a:cs typeface="Liberation Sans"/>
              </a:defRPr>
            </a:pPr>
            <a:r>
              <a:rPr sz="3225" b="1">
                <a:solidFill>
                  <a:srgbClr val="18324F"/>
                </a:solidFill>
                <a:latin typeface="Liberation Sans"/>
                <a:ea typeface="Liberation Sans"/>
                <a:cs typeface="Liberation Sans"/>
              </a:rPr>
              <a:t>Haftalık işler ve yönetimden beklenti</a:t>
            </a:r>
          </a:p>
        </p:txBody>
      </p:sp>
      <p:sp>
        <p:nvSpPr>
          <p:cNvPr id="2" name="manager-report">
            <a:extLst xmlns:a="http://schemas.openxmlformats.org/drawingml/2006/main">
              <a:ext uri="{FF2B5EF4-FFF2-40B4-BE49-F238E27FC236}">
                <a16:creationId xmlns:a16="http://schemas.microsoft.com/office/drawing/2014/main" id="{6F2F01CA-8BB5-4597-B209-17C92409B157}"/>
              </a:ext>
            </a:extLst>
          </p:cNvPr>
          <p:cNvSpPr>
            <a:spLocks xmlns:a="http://schemas.openxmlformats.org/drawingml/2006/main" noGrp="1"/>
          </p:cNvSpPr>
          <p:nvPr/>
        </p:nvSpPr>
        <p:spPr>
          <a:xfrm xmlns:a="http://schemas.openxmlformats.org/drawingml/2006/main">
            <a:off x="457200" y="952500"/>
            <a:ext cx="1143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61758A"/>
                </a:solidFill>
                <a:latin typeface="Liberation Sans"/>
                <a:ea typeface="Liberation Sans"/>
                <a:cs typeface="Liberation Sans"/>
              </a:defRPr>
            </a:defPPr>
          </a:lstStyle>
          <a:p xmlns:a="http://schemas.openxmlformats.org/drawingml/2006/main">
            <a:pPr algn="l">
              <a:buNone/>
              <a:defRPr sz="1875" b="0">
                <a:solidFill>
                  <a:srgbClr val="61758A"/>
                </a:solidFill>
                <a:latin typeface="Liberation Sans"/>
                <a:ea typeface="Liberation Sans"/>
                <a:cs typeface="Liberation Sans"/>
              </a:defRPr>
            </a:pPr>
            <a:r>
              <a:rPr sz="1875" b="0">
                <a:solidFill>
                  <a:srgbClr val="61758A"/>
                </a:solidFill>
                <a:latin typeface="Liberation Sans"/>
                <a:ea typeface="Liberation Sans"/>
                <a:cs typeface="Liberation Sans"/>
              </a:rPr>
              <a:t>Ayşe Yılmaz   /   15 Ekim 2026   /   Örnek portföy</a:t>
            </a:r>
          </a:p>
        </p:txBody>
      </p:sp>
      <p:sp>
        <p:nvSpPr>
          <p:cNvPr id="3" name="page">
            <a:extLst xmlns:a="http://schemas.openxmlformats.org/drawingml/2006/main">
              <a:ext uri="{FF2B5EF4-FFF2-40B4-BE49-F238E27FC236}">
                <a16:creationId xmlns:a16="http://schemas.microsoft.com/office/drawing/2014/main" id="{F52BBD1A-AFB7-42D5-8A0C-CAF4AEFF1EDF}"/>
              </a:ext>
            </a:extLst>
          </p:cNvPr>
          <p:cNvSpPr>
            <a:spLocks xmlns:a="http://schemas.openxmlformats.org/drawingml/2006/main" noGrp="1"/>
          </p:cNvSpPr>
          <p:nvPr/>
        </p:nvSpPr>
        <p:spPr>
          <a:xfrm xmlns:a="http://schemas.openxmlformats.org/drawingml/2006/main">
            <a:off x="13811250" y="952500"/>
            <a:ext cx="971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58A"/>
                </a:solidFill>
                <a:latin typeface="Liberation Sans"/>
                <a:ea typeface="Liberation Sans"/>
                <a:cs typeface="Liberation Sans"/>
              </a:defRPr>
            </a:defPPr>
          </a:lstStyle>
          <a:p xmlns:a="http://schemas.openxmlformats.org/drawingml/2006/main">
            <a:pPr algn="l">
              <a:buNone/>
              <a:defRPr sz="1725" b="0">
                <a:solidFill>
                  <a:srgbClr val="61758A"/>
                </a:solidFill>
                <a:latin typeface="Liberation Sans"/>
                <a:ea typeface="Liberation Sans"/>
                <a:cs typeface="Liberation Sans"/>
              </a:defRPr>
            </a:pPr>
            <a:r>
              <a:rPr sz="1725" b="0">
                <a:solidFill>
                  <a:srgbClr val="61758A"/>
                </a:solidFill>
                <a:latin typeface="Liberation Sans"/>
                <a:ea typeface="Liberation Sans"/>
                <a:cs typeface="Liberation Sans"/>
              </a:rPr>
              <a:t>2 / 2</a:t>
            </a:r>
          </a:p>
        </p:txBody>
      </p:sp>
      <p:sp>
        <p:nvSpPr>
          <p:cNvPr id="4" name="work-heading">
            <a:extLst xmlns:a="http://schemas.openxmlformats.org/drawingml/2006/main">
              <a:ext uri="{FF2B5EF4-FFF2-40B4-BE49-F238E27FC236}">
                <a16:creationId xmlns:a16="http://schemas.microsoft.com/office/drawing/2014/main" id="{2CA2312E-3423-46A9-92BD-D6279B4A5C1E}"/>
              </a:ext>
            </a:extLst>
          </p:cNvPr>
          <p:cNvSpPr>
            <a:spLocks xmlns:a="http://schemas.openxmlformats.org/drawingml/2006/main" noGrp="1"/>
          </p:cNvSpPr>
          <p:nvPr/>
        </p:nvSpPr>
        <p:spPr>
          <a:xfrm xmlns:a="http://schemas.openxmlformats.org/drawingml/2006/main">
            <a:off x="457200" y="142875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Liberation Sans"/>
                <a:ea typeface="Liberation Sans"/>
                <a:cs typeface="Liberation Sans"/>
              </a:defRPr>
            </a:defPPr>
          </a:lstStyle>
          <a:p xmlns:a="http://schemas.openxmlformats.org/drawingml/2006/main">
            <a:pPr algn="l">
              <a:buNone/>
              <a:defRPr sz="2100" b="1">
                <a:solidFill>
                  <a:srgbClr val="2563EB"/>
                </a:solidFill>
                <a:latin typeface="Liberation Sans"/>
                <a:ea typeface="Liberation Sans"/>
                <a:cs typeface="Liberation Sans"/>
              </a:defRPr>
            </a:pPr>
            <a:r>
              <a:rPr sz="2100" b="1">
                <a:solidFill>
                  <a:srgbClr val="2563EB"/>
                </a:solidFill>
                <a:latin typeface="Liberation Sans"/>
                <a:ea typeface="Liberation Sans"/>
                <a:cs typeface="Liberation Sans"/>
              </a:rPr>
              <a:t>Bu hafta yapılanlar ve sıradaki işler</a:t>
            </a:r>
          </a:p>
        </p:txBody>
      </p:sp>
      <p:graphicFrame>
        <p:nvGraphicFramePr>
          <p:cNvPr id="5" name="">
            <a:extLst xmlns:a="http://schemas.openxmlformats.org/drawingml/2006/main">
              <a:ext uri="{FF2B5EF4-FFF2-40B4-BE49-F238E27FC236}">
                <a16:creationId xmlns:a16="http://schemas.microsoft.com/office/drawing/2014/main" id="{6885AD23-0A87-4404-B77F-8577E5923281}"/>
              </a:ext>
            </a:extLst>
          </p:cNvPr>
          <p:cNvGraphicFramePr/>
          <p:nvPr/>
        </p:nvGraphicFramePr>
        <p:xfrm>
          <a:off xmlns:a="http://schemas.openxmlformats.org/drawingml/2006/main" x="457200" y="1943100"/>
          <a:ext xmlns:a="http://schemas.openxmlformats.org/drawingml/2006/main" cx="9525000" cy="2724150"/>
        </p:xfrm>
        <a:graphic xmlns:a="http://schemas.openxmlformats.org/drawingml/2006/main">
          <a:graphicData uri="http://schemas.openxmlformats.org/drawingml/2006/table">
            <a:tbl>
              <a:tblPr firstRow="0" bandRow="0"/>
              <a:tblGrid>
                <a:gridCol w="2095500"/>
                <a:gridCol w="3619500"/>
                <a:gridCol w="3810000"/>
              </a:tblGrid>
              <a:tr h="495300">
                <a:tc>
                  <a:txBody>
                    <a:bodyPr wrap="square" anchor="ctr">
                      <a:noAutofit/>
                    </a:bodyPr>
                    <a:lstStyle/>
                    <a:p>
                      <a:pPr algn="l">
                        <a:buNone/>
                      </a:pPr>
                      <a:r>
                        <a:rPr sz="1650" b="1">
                          <a:solidFill>
                            <a:srgbClr val="FFFFFF"/>
                          </a:solidFill>
                          <a:latin typeface="Liberation Sans"/>
                          <a:ea typeface="Liberation Sans"/>
                          <a:cs typeface="Liberation Sans"/>
                        </a:rPr>
                        <a:t>Proje</a:t>
                      </a:r>
                    </a:p>
                  </a:txBody>
                  <a:tcPr marL="114300" marR="95250" marT="66675" marB="6667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Yapılanlar</a:t>
                      </a:r>
                    </a:p>
                  </a:txBody>
                  <a:tcPr marL="114300" marR="95250" marT="66675" marB="66675" anchor="ctr">
                    <a:solidFill>
                      <a:srgbClr val="18324F"/>
                    </a:solidFill>
                  </a:tcPr>
                </a:tc>
                <a:tc>
                  <a:txBody>
                    <a:bodyPr wrap="square" anchor="ctr">
                      <a:noAutofit/>
                    </a:bodyPr>
                    <a:lstStyle/>
                    <a:p>
                      <a:pPr algn="l">
                        <a:buNone/>
                      </a:pPr>
                      <a:r>
                        <a:rPr sz="1650" b="1">
                          <a:solidFill>
                            <a:srgbClr val="FFFFFF"/>
                          </a:solidFill>
                          <a:latin typeface="Liberation Sans"/>
                          <a:ea typeface="Liberation Sans"/>
                          <a:cs typeface="Liberation Sans"/>
                        </a:rPr>
                        <a:t>Sıradaki iş</a:t>
                      </a:r>
                    </a:p>
                  </a:txBody>
                  <a:tcPr marL="114300" marR="95250" marT="66675" marB="66675" anchor="ctr">
                    <a:solidFill>
                      <a:srgbClr val="18324F"/>
                    </a:solidFill>
                  </a:tcPr>
                </a:tc>
              </a:tr>
              <a:tr h="742950">
                <a:tc>
                  <a:txBody>
                    <a:bodyPr wrap="square" anchor="ctr">
                      <a:noAutofit/>
                    </a:bodyPr>
                    <a:lstStyle/>
                    <a:p>
                      <a:pPr algn="l">
                        <a:buNone/>
                      </a:pPr>
                      <a:r>
                        <a:rPr sz="2025" b="1">
                          <a:solidFill>
                            <a:srgbClr val="26394D"/>
                          </a:solidFill>
                          <a:latin typeface="Liberation Sans"/>
                          <a:ea typeface="Liberation Sans"/>
                          <a:cs typeface="Liberation Sans"/>
                        </a:rPr>
                        <a:t>Üretim Hattı</a:t>
                      </a:r>
                    </a:p>
                  </a:txBody>
                  <a:tcPr marL="114300" marR="95250" marT="66675" marB="66675" anchor="ctr">
                    <a:solidFill>
                      <a:srgbClr val="FFFFFF"/>
                    </a:solidFill>
                  </a:tcPr>
                </a:tc>
                <a:tc>
                  <a:txBody>
                    <a:bodyPr wrap="square" anchor="ctr">
                      <a:noAutofit/>
                    </a:bodyPr>
                    <a:lstStyle/>
                    <a:p>
                      <a:pPr algn="l">
                        <a:buNone/>
                      </a:pPr>
                      <a:r>
                        <a:rPr sz="2025" b="0">
                          <a:solidFill>
                            <a:srgbClr val="26394D"/>
                          </a:solidFill>
                          <a:latin typeface="Liberation Sans"/>
                          <a:ea typeface="Liberation Sans"/>
                          <a:cs typeface="Liberation Sans"/>
                        </a:rPr>
                        <a:t>Kabul test listesi tamamlandı.</a:t>
                      </a:r>
                    </a:p>
                  </a:txBody>
                  <a:tcPr marL="114300" marR="95250" marT="66675" marB="66675" anchor="ctr">
                    <a:solidFill>
                      <a:srgbClr val="FFFFFF"/>
                    </a:solidFill>
                  </a:tcPr>
                </a:tc>
                <a:tc>
                  <a:txBody>
                    <a:bodyPr wrap="square" anchor="ctr">
                      <a:noAutofit/>
                    </a:bodyPr>
                    <a:lstStyle/>
                    <a:p>
                      <a:pPr algn="l">
                        <a:buNone/>
                      </a:pPr>
                      <a:r>
                        <a:rPr sz="2025" b="0">
                          <a:solidFill>
                            <a:srgbClr val="26394D"/>
                          </a:solidFill>
                          <a:latin typeface="Liberation Sans"/>
                          <a:ea typeface="Liberation Sans"/>
                          <a:cs typeface="Liberation Sans"/>
                        </a:rPr>
                        <a:t>Alternatif motor teklifini netleştir.</a:t>
                      </a:r>
                    </a:p>
                  </a:txBody>
                  <a:tcPr marL="114300" marR="95250" marT="66675" marB="66675" anchor="ctr">
                    <a:solidFill>
                      <a:srgbClr val="FFFFFF"/>
                    </a:solidFill>
                  </a:tcPr>
                </a:tc>
              </a:tr>
              <a:tr h="742950">
                <a:tc>
                  <a:txBody>
                    <a:bodyPr wrap="square" anchor="ctr">
                      <a:noAutofit/>
                    </a:bodyPr>
                    <a:lstStyle/>
                    <a:p>
                      <a:pPr algn="l">
                        <a:buNone/>
                      </a:pPr>
                      <a:r>
                        <a:rPr sz="2025" b="1">
                          <a:solidFill>
                            <a:srgbClr val="26394D"/>
                          </a:solidFill>
                          <a:latin typeface="Liberation Sans"/>
                          <a:ea typeface="Liberation Sans"/>
                          <a:cs typeface="Liberation Sans"/>
                        </a:rPr>
                        <a:t>Müşteri Portalı</a:t>
                      </a:r>
                    </a:p>
                  </a:txBody>
                  <a:tcPr marL="114300" marR="95250" marT="66675" marB="66675" anchor="ctr">
                    <a:solidFill>
                      <a:srgbClr val="F2F6FB"/>
                    </a:solidFill>
                  </a:tcPr>
                </a:tc>
                <a:tc>
                  <a:txBody>
                    <a:bodyPr wrap="square" anchor="ctr">
                      <a:noAutofit/>
                    </a:bodyPr>
                    <a:lstStyle/>
                    <a:p>
                      <a:pPr algn="l">
                        <a:buNone/>
                      </a:pPr>
                      <a:r>
                        <a:rPr sz="2025" b="0">
                          <a:solidFill>
                            <a:srgbClr val="26394D"/>
                          </a:solidFill>
                          <a:latin typeface="Liberation Sans"/>
                          <a:ea typeface="Liberation Sans"/>
                          <a:cs typeface="Liberation Sans"/>
                        </a:rPr>
                        <a:t>Tasarım onayı alındı.</a:t>
                      </a:r>
                    </a:p>
                  </a:txBody>
                  <a:tcPr marL="114300" marR="95250" marT="66675" marB="66675" anchor="ctr">
                    <a:solidFill>
                      <a:srgbClr val="F2F6FB"/>
                    </a:solidFill>
                  </a:tcPr>
                </a:tc>
                <a:tc>
                  <a:txBody>
                    <a:bodyPr wrap="square" anchor="ctr">
                      <a:noAutofit/>
                    </a:bodyPr>
                    <a:lstStyle/>
                    <a:p>
                      <a:pPr algn="l">
                        <a:buNone/>
                      </a:pPr>
                      <a:r>
                        <a:rPr sz="2025" b="0">
                          <a:solidFill>
                            <a:srgbClr val="26394D"/>
                          </a:solidFill>
                          <a:latin typeface="Liberation Sans"/>
                          <a:ea typeface="Liberation Sans"/>
                          <a:cs typeface="Liberation Sans"/>
                        </a:rPr>
                        <a:t>Entegrasyon test hesabını aç.</a:t>
                      </a:r>
                    </a:p>
                  </a:txBody>
                  <a:tcPr marL="114300" marR="95250" marT="66675" marB="66675" anchor="ctr">
                    <a:solidFill>
                      <a:srgbClr val="F2F6FB"/>
                    </a:solidFill>
                  </a:tcPr>
                </a:tc>
              </a:tr>
              <a:tr h="742950">
                <a:tc>
                  <a:txBody>
                    <a:bodyPr wrap="square" anchor="ctr">
                      <a:noAutofit/>
                    </a:bodyPr>
                    <a:lstStyle/>
                    <a:p>
                      <a:pPr algn="l">
                        <a:buNone/>
                      </a:pPr>
                      <a:r>
                        <a:rPr sz="2025" b="1">
                          <a:solidFill>
                            <a:srgbClr val="26394D"/>
                          </a:solidFill>
                          <a:latin typeface="Liberation Sans"/>
                          <a:ea typeface="Liberation Sans"/>
                          <a:cs typeface="Liberation Sans"/>
                        </a:rPr>
                        <a:t>Depo Otomasyonu</a:t>
                      </a:r>
                    </a:p>
                  </a:txBody>
                  <a:tcPr marL="114300" marR="95250" marT="66675" marB="66675" anchor="ctr">
                    <a:solidFill>
                      <a:srgbClr val="FFFFFF"/>
                    </a:solidFill>
                  </a:tcPr>
                </a:tc>
                <a:tc>
                  <a:txBody>
                    <a:bodyPr wrap="square" anchor="ctr">
                      <a:noAutofit/>
                    </a:bodyPr>
                    <a:lstStyle/>
                    <a:p>
                      <a:pPr algn="l">
                        <a:buNone/>
                      </a:pPr>
                      <a:r>
                        <a:rPr sz="2025" b="0">
                          <a:solidFill>
                            <a:srgbClr val="26394D"/>
                          </a:solidFill>
                          <a:latin typeface="Liberation Sans"/>
                          <a:ea typeface="Liberation Sans"/>
                          <a:cs typeface="Liberation Sans"/>
                        </a:rPr>
                        <a:t>Pilot süreç analizi tamamlandı.</a:t>
                      </a:r>
                    </a:p>
                  </a:txBody>
                  <a:tcPr marL="114300" marR="95250" marT="66675" marB="66675" anchor="ctr">
                    <a:solidFill>
                      <a:srgbClr val="FFFFFF"/>
                    </a:solidFill>
                  </a:tcPr>
                </a:tc>
                <a:tc>
                  <a:txBody>
                    <a:bodyPr wrap="square" anchor="ctr">
                      <a:noAutofit/>
                    </a:bodyPr>
                    <a:lstStyle/>
                    <a:p>
                      <a:pPr algn="l">
                        <a:buNone/>
                      </a:pPr>
                      <a:r>
                        <a:rPr sz="2025" b="0">
                          <a:solidFill>
                            <a:srgbClr val="26394D"/>
                          </a:solidFill>
                          <a:latin typeface="Liberation Sans"/>
                          <a:ea typeface="Liberation Sans"/>
                          <a:cs typeface="Liberation Sans"/>
                        </a:rPr>
                        <a:t>Kısmi sevkiyatı ve sayımı planla.</a:t>
                      </a:r>
                    </a:p>
                  </a:txBody>
                  <a:tcPr marL="114300" marR="95250" marT="66675" marB="66675" anchor="ctr">
                    <a:solidFill>
                      <a:srgbClr val="FFFFFF"/>
                    </a:solidFill>
                  </a:tcPr>
                </a:tc>
              </a:tr>
            </a:tbl>
          </a:graphicData>
        </a:graphic>
      </p:graphicFrame>
      <p:sp>
        <p:nvSpPr>
          <p:cNvPr id="6" name="expectation-heading">
            <a:extLst xmlns:a="http://schemas.openxmlformats.org/drawingml/2006/main">
              <a:ext uri="{FF2B5EF4-FFF2-40B4-BE49-F238E27FC236}">
                <a16:creationId xmlns:a16="http://schemas.microsoft.com/office/drawing/2014/main" id="{758E887B-D542-473F-AFCA-E3B7119D1706}"/>
              </a:ext>
            </a:extLst>
          </p:cNvPr>
          <p:cNvSpPr>
            <a:spLocks xmlns:a="http://schemas.openxmlformats.org/drawingml/2006/main" noGrp="1"/>
          </p:cNvSpPr>
          <p:nvPr/>
        </p:nvSpPr>
        <p:spPr>
          <a:xfrm xmlns:a="http://schemas.openxmlformats.org/drawingml/2006/main">
            <a:off x="457200" y="481965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D97706"/>
                </a:solidFill>
                <a:latin typeface="Liberation Sans"/>
                <a:ea typeface="Liberation Sans"/>
                <a:cs typeface="Liberation Sans"/>
              </a:defRPr>
            </a:defPPr>
          </a:lstStyle>
          <a:p xmlns:a="http://schemas.openxmlformats.org/drawingml/2006/main">
            <a:pPr algn="l">
              <a:buNone/>
              <a:defRPr sz="2700" b="1">
                <a:solidFill>
                  <a:srgbClr val="D97706"/>
                </a:solidFill>
                <a:latin typeface="Liberation Sans"/>
                <a:ea typeface="Liberation Sans"/>
                <a:cs typeface="Liberation Sans"/>
              </a:defRPr>
            </a:pPr>
            <a:r>
              <a:rPr sz="2700" b="1">
                <a:solidFill>
                  <a:srgbClr val="D97706"/>
                </a:solidFill>
                <a:latin typeface="Liberation Sans"/>
                <a:ea typeface="Liberation Sans"/>
                <a:cs typeface="Liberation Sans"/>
              </a:rPr>
              <a:t>BEKLENTİ</a:t>
            </a:r>
          </a:p>
        </p:txBody>
      </p:sp>
      <p:graphicFrame>
        <p:nvGraphicFramePr>
          <p:cNvPr id="7" name="">
            <a:extLst xmlns:a="http://schemas.openxmlformats.org/drawingml/2006/main">
              <a:ext uri="{FF2B5EF4-FFF2-40B4-BE49-F238E27FC236}">
                <a16:creationId xmlns:a16="http://schemas.microsoft.com/office/drawing/2014/main" id="{E2A18D66-0CB9-4832-AF97-37EF507763B2}"/>
              </a:ext>
            </a:extLst>
          </p:cNvPr>
          <p:cNvGraphicFramePr/>
          <p:nvPr/>
        </p:nvGraphicFramePr>
        <p:xfrm>
          <a:off xmlns:a="http://schemas.openxmlformats.org/drawingml/2006/main" x="457200" y="5314950"/>
          <a:ext xmlns:a="http://schemas.openxmlformats.org/drawingml/2006/main" cx="14325600" cy="2838450"/>
        </p:xfrm>
        <a:graphic xmlns:a="http://schemas.openxmlformats.org/drawingml/2006/main">
          <a:graphicData uri="http://schemas.openxmlformats.org/drawingml/2006/table">
            <a:tbl>
              <a:tblPr firstRow="0" bandRow="0"/>
              <a:tblGrid>
                <a:gridCol w="2667000"/>
                <a:gridCol w="4476750"/>
                <a:gridCol w="2571750"/>
                <a:gridCol w="1524000"/>
                <a:gridCol w="3086100"/>
              </a:tblGrid>
              <a:tr h="552450">
                <a:tc>
                  <a:txBody>
                    <a:bodyPr wrap="square" anchor="ctr">
                      <a:noAutofit/>
                    </a:bodyPr>
                    <a:lstStyle/>
                    <a:p>
                      <a:pPr algn="l">
                        <a:buNone/>
                      </a:pPr>
                      <a:r>
                        <a:rPr sz="1650" b="1">
                          <a:solidFill>
                            <a:srgbClr val="FFFFFF"/>
                          </a:solidFill>
                          <a:latin typeface="Liberation Sans"/>
                          <a:ea typeface="Liberation Sans"/>
                          <a:cs typeface="Liberation Sans"/>
                        </a:rPr>
                        <a:t>Proje</a:t>
                      </a:r>
                    </a:p>
                  </a:txBody>
                  <a:tcPr marL="133350" marR="114300" marT="57150" marB="57150" anchor="ctr">
                    <a:solidFill>
                      <a:srgbClr val="D97706"/>
                    </a:solidFill>
                  </a:tcPr>
                </a:tc>
                <a:tc>
                  <a:txBody>
                    <a:bodyPr wrap="square" anchor="ctr">
                      <a:noAutofit/>
                    </a:bodyPr>
                    <a:lstStyle/>
                    <a:p>
                      <a:pPr algn="l">
                        <a:buNone/>
                      </a:pPr>
                      <a:r>
                        <a:rPr sz="1650" b="1">
                          <a:solidFill>
                            <a:srgbClr val="FFFFFF"/>
                          </a:solidFill>
                          <a:latin typeface="Liberation Sans"/>
                          <a:ea typeface="Liberation Sans"/>
                          <a:cs typeface="Liberation Sans"/>
                        </a:rPr>
                        <a:t>İstenen karar / destek</a:t>
                      </a:r>
                    </a:p>
                  </a:txBody>
                  <a:tcPr marL="133350" marR="114300" marT="57150" marB="57150" anchor="ctr">
                    <a:solidFill>
                      <a:srgbClr val="D97706"/>
                    </a:solidFill>
                  </a:tcPr>
                </a:tc>
                <a:tc>
                  <a:txBody>
                    <a:bodyPr wrap="square" anchor="ctr">
                      <a:noAutofit/>
                    </a:bodyPr>
                    <a:lstStyle/>
                    <a:p>
                      <a:pPr algn="l">
                        <a:buNone/>
                      </a:pPr>
                      <a:r>
                        <a:rPr sz="1650" b="1">
                          <a:solidFill>
                            <a:srgbClr val="FFFFFF"/>
                          </a:solidFill>
                          <a:latin typeface="Liberation Sans"/>
                          <a:ea typeface="Liberation Sans"/>
                          <a:cs typeface="Liberation Sans"/>
                        </a:rPr>
                        <a:t>Karar mercii</a:t>
                      </a:r>
                    </a:p>
                  </a:txBody>
                  <a:tcPr marL="133350" marR="114300" marT="57150" marB="57150" anchor="ctr">
                    <a:solidFill>
                      <a:srgbClr val="D97706"/>
                    </a:solidFill>
                  </a:tcPr>
                </a:tc>
                <a:tc>
                  <a:txBody>
                    <a:bodyPr wrap="square" anchor="ctr">
                      <a:noAutofit/>
                    </a:bodyPr>
                    <a:lstStyle/>
                    <a:p>
                      <a:pPr algn="l">
                        <a:buNone/>
                      </a:pPr>
                      <a:r>
                        <a:rPr sz="1650" b="1">
                          <a:solidFill>
                            <a:srgbClr val="FFFFFF"/>
                          </a:solidFill>
                          <a:latin typeface="Liberation Sans"/>
                          <a:ea typeface="Liberation Sans"/>
                          <a:cs typeface="Liberation Sans"/>
                        </a:rPr>
                        <a:t>Son tarih</a:t>
                      </a:r>
                    </a:p>
                  </a:txBody>
                  <a:tcPr marL="133350" marR="114300" marT="57150" marB="57150" anchor="ctr">
                    <a:solidFill>
                      <a:srgbClr val="D97706"/>
                    </a:solidFill>
                  </a:tcPr>
                </a:tc>
                <a:tc>
                  <a:txBody>
                    <a:bodyPr wrap="square" anchor="ctr">
                      <a:noAutofit/>
                    </a:bodyPr>
                    <a:lstStyle/>
                    <a:p>
                      <a:pPr algn="l">
                        <a:buNone/>
                      </a:pPr>
                      <a:r>
                        <a:rPr sz="1650" b="1">
                          <a:solidFill>
                            <a:srgbClr val="FFFFFF"/>
                          </a:solidFill>
                          <a:latin typeface="Liberation Sans"/>
                          <a:ea typeface="Liberation Sans"/>
                          <a:cs typeface="Liberation Sans"/>
                        </a:rPr>
                        <a:t>Gecikirse etkisi</a:t>
                      </a:r>
                    </a:p>
                  </a:txBody>
                  <a:tcPr marL="133350" marR="114300" marT="57150" marB="57150" anchor="ctr">
                    <a:solidFill>
                      <a:srgbClr val="D97706"/>
                    </a:solidFill>
                  </a:tcPr>
                </a:tc>
              </a:tr>
              <a:tr h="762000">
                <a:tc>
                  <a:txBody>
                    <a:bodyPr wrap="square" anchor="ctr">
                      <a:noAutofit/>
                    </a:bodyPr>
                    <a:lstStyle/>
                    <a:p>
                      <a:pPr algn="l">
                        <a:buNone/>
                      </a:pPr>
                      <a:r>
                        <a:rPr sz="1875" b="1">
                          <a:solidFill>
                            <a:srgbClr val="26394D"/>
                          </a:solidFill>
                          <a:latin typeface="Liberation Sans"/>
                          <a:ea typeface="Liberation Sans"/>
                          <a:cs typeface="Liberation Sans"/>
                        </a:rPr>
                        <a:t>Üretim Hattı</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Alternatif motor tedarikçisini onaylayın.</a:t>
                      </a:r>
                    </a:p>
                  </a:txBody>
                  <a:tcPr marL="133350" marR="114300" marT="95250" marB="95250" anchor="ctr">
                    <a:solidFill>
                      <a:srgbClr val="FFF6E7"/>
                    </a:solidFill>
                  </a:tcPr>
                </a:tc>
                <a:tc>
                  <a:txBody>
                    <a:bodyPr wrap="square" anchor="ctr">
                      <a:noAutofit/>
                    </a:bodyPr>
                    <a:lstStyle/>
                    <a:p>
                      <a:pPr algn="l">
                        <a:buNone/>
                      </a:pPr>
                      <a:r>
                        <a:rPr sz="1875" b="0">
                          <a:solidFill>
                            <a:srgbClr val="26394D"/>
                          </a:solidFill>
                          <a:latin typeface="Liberation Sans"/>
                          <a:ea typeface="Liberation Sans"/>
                          <a:cs typeface="Liberation Sans"/>
                        </a:rPr>
                        <a:t>Operasyon Direktörü</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20.10</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Kurulum 7 gün ötelenebilir.</a:t>
                      </a:r>
                    </a:p>
                  </a:txBody>
                  <a:tcPr marL="133350" marR="114300" marT="95250" marB="95250" anchor="ctr">
                    <a:solidFill>
                      <a:srgbClr val="FFFFFF"/>
                    </a:solidFill>
                  </a:tcPr>
                </a:tc>
              </a:tr>
              <a:tr h="762000">
                <a:tc>
                  <a:txBody>
                    <a:bodyPr wrap="square" anchor="ctr">
                      <a:noAutofit/>
                    </a:bodyPr>
                    <a:lstStyle/>
                    <a:p>
                      <a:pPr algn="l">
                        <a:buNone/>
                      </a:pPr>
                      <a:r>
                        <a:rPr sz="1875" b="1">
                          <a:solidFill>
                            <a:srgbClr val="26394D"/>
                          </a:solidFill>
                          <a:latin typeface="Liberation Sans"/>
                          <a:ea typeface="Liberation Sans"/>
                          <a:cs typeface="Liberation Sans"/>
                        </a:rPr>
                        <a:t>Müşteri Portalı</a:t>
                      </a:r>
                    </a:p>
                  </a:txBody>
                  <a:tcPr marL="133350" marR="114300" marT="95250" marB="95250"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121 bin TL ek bütçe onayı.</a:t>
                      </a:r>
                    </a:p>
                  </a:txBody>
                  <a:tcPr marL="133350" marR="114300" marT="95250" marB="95250" anchor="ctr">
                    <a:solidFill>
                      <a:srgbClr val="FFF6E7"/>
                    </a:solidFill>
                  </a:tcPr>
                </a:tc>
                <a:tc>
                  <a:txBody>
                    <a:bodyPr wrap="square" anchor="ctr">
                      <a:noAutofit/>
                    </a:bodyPr>
                    <a:lstStyle/>
                    <a:p>
                      <a:pPr algn="l">
                        <a:buNone/>
                      </a:pPr>
                      <a:r>
                        <a:rPr sz="1875" b="0">
                          <a:solidFill>
                            <a:srgbClr val="26394D"/>
                          </a:solidFill>
                          <a:latin typeface="Liberation Sans"/>
                          <a:ea typeface="Liberation Sans"/>
                          <a:cs typeface="Liberation Sans"/>
                        </a:rPr>
                        <a:t>Genel Müdür / Finans</a:t>
                      </a:r>
                    </a:p>
                  </a:txBody>
                  <a:tcPr marL="133350" marR="114300" marT="95250" marB="95250"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19.10</a:t>
                      </a:r>
                    </a:p>
                  </a:txBody>
                  <a:tcPr marL="133350" marR="114300" marT="95250" marB="95250" anchor="ctr">
                    <a:solidFill>
                      <a:srgbClr val="F2F6FB"/>
                    </a:solidFill>
                  </a:tcPr>
                </a:tc>
                <a:tc>
                  <a:txBody>
                    <a:bodyPr wrap="square" anchor="ctr">
                      <a:noAutofit/>
                    </a:bodyPr>
                    <a:lstStyle/>
                    <a:p>
                      <a:pPr algn="l">
                        <a:buNone/>
                      </a:pPr>
                      <a:r>
                        <a:rPr sz="1875" b="0">
                          <a:solidFill>
                            <a:srgbClr val="26394D"/>
                          </a:solidFill>
                          <a:latin typeface="Liberation Sans"/>
                          <a:ea typeface="Liberation Sans"/>
                          <a:cs typeface="Liberation Sans"/>
                        </a:rPr>
                        <a:t>Güvenlik testleri gecikebilir.</a:t>
                      </a:r>
                    </a:p>
                  </a:txBody>
                  <a:tcPr marL="133350" marR="114300" marT="95250" marB="95250" anchor="ctr">
                    <a:solidFill>
                      <a:srgbClr val="F2F6FB"/>
                    </a:solidFill>
                  </a:tcPr>
                </a:tc>
              </a:tr>
              <a:tr h="762000">
                <a:tc>
                  <a:txBody>
                    <a:bodyPr wrap="square" anchor="ctr">
                      <a:noAutofit/>
                    </a:bodyPr>
                    <a:lstStyle/>
                    <a:p>
                      <a:pPr algn="l">
                        <a:buNone/>
                      </a:pPr>
                      <a:r>
                        <a:rPr sz="1875" b="1">
                          <a:solidFill>
                            <a:srgbClr val="26394D"/>
                          </a:solidFill>
                          <a:latin typeface="Liberation Sans"/>
                          <a:ea typeface="Liberation Sans"/>
                          <a:cs typeface="Liberation Sans"/>
                        </a:rPr>
                        <a:t>Depo Otomasyonu</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Pilot kurulum için 2 günlük saha desteği.</a:t>
                      </a:r>
                    </a:p>
                  </a:txBody>
                  <a:tcPr marL="133350" marR="114300" marT="95250" marB="95250" anchor="ctr">
                    <a:solidFill>
                      <a:srgbClr val="FFF6E7"/>
                    </a:solidFill>
                  </a:tcPr>
                </a:tc>
                <a:tc>
                  <a:txBody>
                    <a:bodyPr wrap="square" anchor="ctr">
                      <a:noAutofit/>
                    </a:bodyPr>
                    <a:lstStyle/>
                    <a:p>
                      <a:pPr algn="l">
                        <a:buNone/>
                      </a:pPr>
                      <a:r>
                        <a:rPr sz="1875" b="0">
                          <a:solidFill>
                            <a:srgbClr val="26394D"/>
                          </a:solidFill>
                          <a:latin typeface="Liberation Sans"/>
                          <a:ea typeface="Liberation Sans"/>
                          <a:cs typeface="Liberation Sans"/>
                        </a:rPr>
                        <a:t>Üretim Direktörü</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16.10</a:t>
                      </a:r>
                    </a:p>
                  </a:txBody>
                  <a:tcPr marL="133350" marR="114300" marT="95250" marB="95250" anchor="ctr">
                    <a:solidFill>
                      <a:srgbClr val="FFFFFF"/>
                    </a:solidFill>
                  </a:tcPr>
                </a:tc>
                <a:tc>
                  <a:txBody>
                    <a:bodyPr wrap="square" anchor="ctr">
                      <a:noAutofit/>
                    </a:bodyPr>
                    <a:lstStyle/>
                    <a:p>
                      <a:pPr algn="l">
                        <a:buNone/>
                      </a:pPr>
                      <a:r>
                        <a:rPr sz="1875" b="0">
                          <a:solidFill>
                            <a:srgbClr val="26394D"/>
                          </a:solidFill>
                          <a:latin typeface="Liberation Sans"/>
                          <a:ea typeface="Liberation Sans"/>
                          <a:cs typeface="Liberation Sans"/>
                        </a:rPr>
                        <a:t>Kabul takvimi 14 gün sarkabilir.</a:t>
                      </a:r>
                    </a:p>
                  </a:txBody>
                  <a:tcPr marL="133350" marR="114300" marT="95250" marB="95250" anchor="ctr">
                    <a:solidFill>
                      <a:srgbClr val="FFFFFF"/>
                    </a:solidFill>
                  </a:tcPr>
                </a:tc>
              </a:tr>
            </a:tbl>
          </a:graphicData>
        </a:graphic>
      </p:graphicFrame>
      <p:graphicFrame>
        <p:nvGraphicFramePr>
          <p:cNvPr id="9" name="Chart">
            <a:extLst xmlns:a="http://schemas.openxmlformats.org/drawingml/2006/main">
              <a:ext uri="{FF2B5EF4-FFF2-40B4-BE49-F238E27FC236}">
                <a16:creationId xmlns:a16="http://schemas.microsoft.com/office/drawing/2014/main" id="{6FE23D59-AE16-4C32-9BE7-6858694F3016}"/>
              </a:ext>
            </a:extLst>
          </p:cNvPr>
          <p:cNvGraphicFramePr/>
          <p:nvPr/>
        </p:nvGraphicFramePr>
        <p:xfrm>
          <a:off xmlns:a="http://schemas.openxmlformats.org/drawingml/2006/main" x="10287000" y="1619250"/>
          <a:ext xmlns:a="http://schemas.openxmlformats.org/drawingml/2006/main" cx="4495800" cy="3048000"/>
        </p:xfrm>
        <a:graphic xmlns:a="http://schemas.openxmlformats.org/drawingml/2006/main">
          <a:graphicData uri="http://schemas.openxmlformats.org/drawingml/2006/chart">
            <c:chart xmlns:r="http://schemas.openxmlformats.org/officeDocument/2006/relationships" xmlns:c="http://schemas.openxmlformats.org/drawingml/2006/chart" r:id="R43517a525cab4fa2"/>
          </a:graphicData>
        </a:graphic>
      </p:graphicFrame>
      <p:sp>
        <p:nvSpPr>
          <p:cNvPr id="10" name="history-entry-note">
            <a:extLst xmlns:a="http://schemas.openxmlformats.org/drawingml/2006/main">
              <a:ext uri="{FF2B5EF4-FFF2-40B4-BE49-F238E27FC236}">
                <a16:creationId xmlns:a16="http://schemas.microsoft.com/office/drawing/2014/main" id="{3D1F87B9-6C8F-486F-A93A-E1093ADEE7FF}"/>
              </a:ext>
            </a:extLst>
          </p:cNvPr>
          <p:cNvSpPr>
            <a:spLocks xmlns:a="http://schemas.openxmlformats.org/drawingml/2006/main" noGrp="1"/>
          </p:cNvSpPr>
          <p:nvPr/>
        </p:nvSpPr>
        <p:spPr>
          <a:xfrm xmlns:a="http://schemas.openxmlformats.org/drawingml/2006/main">
            <a:off x="10287000" y="4762500"/>
            <a:ext cx="449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350" b="0">
                <a:solidFill>
                  <a:srgbClr val="61758A"/>
                </a:solidFill>
                <a:latin typeface="Liberation Sans"/>
                <a:ea typeface="Liberation Sans"/>
                <a:cs typeface="Liberation Sans"/>
              </a:defRPr>
            </a:defPPr>
          </a:lstStyle>
          <a:p xmlns:a="http://schemas.openxmlformats.org/drawingml/2006/main">
            <a:pPr>
              <a:defRPr sz="1350" b="0">
                <a:solidFill>
                  <a:srgbClr val="61758A"/>
                </a:solidFill>
                <a:latin typeface="Liberation Sans"/>
                <a:ea typeface="Liberation Sans"/>
                <a:cs typeface="Liberation Sans"/>
              </a:defRPr>
            </a:pPr>
            <a:r>
              <a:rPr sz="1350" b="0">
                <a:solidFill>
                  <a:srgbClr val="61758A"/>
                </a:solidFill>
                <a:latin typeface="Liberation Sans"/>
                <a:ea typeface="Liberation Sans"/>
                <a:cs typeface="Liberation Sans"/>
              </a:rPr>
              <a:t>Yeni hafta ve oranı, grafiğin veri tablosuna ekleyin.</a:t>
            </a:r>
          </a:p>
        </p:txBody>
      </p:sp>
    </p:spTree>
    <p:extLst>
      <p:ext uri="{BB962C8B-B14F-4D97-AF65-F5344CB8AC3E}">
        <p14:creationId xmlns:p14="http://schemas.microsoft.com/office/powerpoint/2010/main" val="230135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2026-10-15T10:59:58.5510000Z</dcterms:created>
  <dcterms:modified xsi:type="dcterms:W3CDTF">2026-10-15T10:59:58.5510000Z</dcterms:modified>
</coreProperties>
</file>